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61" r:id="rId4"/>
    <p:sldId id="263" r:id="rId5"/>
    <p:sldId id="265" r:id="rId6"/>
    <p:sldId id="264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6858000" type="screen4x3"/>
  <p:notesSz cx="6858000" cy="9144000"/>
  <p:custDataLst>
    <p:tags r:id="rId30"/>
  </p:custDataLst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noProof="0" smtClean="0"/>
              <a:t>Cliquez pour modifier les styles du texte du masque</a:t>
            </a:r>
          </a:p>
          <a:p>
            <a:pPr lvl="1"/>
            <a:r>
              <a:rPr lang="fr-FR" altLang="fr-FR" noProof="0" smtClean="0"/>
              <a:t>Deuxième niveau</a:t>
            </a:r>
          </a:p>
          <a:p>
            <a:pPr lvl="2"/>
            <a:r>
              <a:rPr lang="fr-FR" altLang="fr-FR" noProof="0" smtClean="0"/>
              <a:t>Troisième niveau</a:t>
            </a:r>
          </a:p>
          <a:p>
            <a:pPr lvl="3"/>
            <a:r>
              <a:rPr lang="fr-FR" altLang="fr-FR" noProof="0" smtClean="0"/>
              <a:t>Quatrième niveau</a:t>
            </a:r>
          </a:p>
          <a:p>
            <a:pPr lvl="4"/>
            <a:r>
              <a:rPr lang="fr-FR" altLang="fr-FR" noProof="0" smtClean="0"/>
              <a:t>Cinquième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20D278-ADC7-4CA6-B6B6-76BE6F340E9B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991D8B5-0D7D-4716-8FCB-14A815BD79F8}" type="slidenum">
              <a:rPr lang="fr-FR" altLang="fr-FR"/>
              <a:pPr eaLnBrk="1" hangingPunct="1"/>
              <a:t>2</a:t>
            </a:fld>
            <a:endParaRPr lang="fr-FR" altLang="fr-FR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BABD30-8F5D-485E-BDE6-17C51CA9621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2020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262E6-74EC-4726-ACE3-D0C7681093E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25950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1CE16-C0CA-4956-B666-EEF93799064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13629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258FCF-846B-416D-9945-CD6109C8FF9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363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5FAD1B-EAD2-416C-BA2C-8B35EA17CF6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7950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982B1-DA39-423A-9BAE-5C152C05E3D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6563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7F451-5630-4D00-9BCA-52C11021E5C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8560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296C5-9970-4CFB-AB1C-FB36C0115DB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89149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C21A-3F5B-4BE7-B825-B56AA0B20D9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7633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8BDD46-EC16-48CF-99B1-F4D2CD234C6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0239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8A8241-FC7D-46BD-A3EF-3342F52A812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2837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fr-FR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C2DD069-47B0-43AA-9960-5FD4D89FB543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fr-FR" altLang="fr-FR" smtClean="0"/>
              <a:t>INITIATION AU LOGICIEL SAS cours n°3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508500"/>
            <a:ext cx="6400800" cy="5540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mtClean="0"/>
              <a:t>MASTER MQME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187450" y="5897563"/>
            <a:ext cx="6840538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fr-FR" altLang="fr-FR" sz="1800"/>
              <a:t>Nicolas Cabaj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8738"/>
            <a:ext cx="8229600" cy="633412"/>
          </a:xfrm>
        </p:spPr>
        <p:txBody>
          <a:bodyPr/>
          <a:lstStyle/>
          <a:p>
            <a:pPr eaLnBrk="1" hangingPunct="1"/>
            <a:r>
              <a:rPr lang="fr-FR" altLang="fr-FR" sz="3600" smtClean="0"/>
              <a:t>SOMMAIRE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0" y="765175"/>
            <a:ext cx="9144000" cy="542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Présentation du logiciel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Importation des données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L’étape Data et les proc print et contents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Les opérateurs arithmétiques et les fonctions SAS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Les fonctions conditionnelles et logiques 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La proc sort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Les fusions de tables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La proc Format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La proc freq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 La proc means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 La proc univariate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fr-FR" altLang="fr-FR" sz="2000"/>
              <a:t> Les Dates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SORT (1/2)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781050"/>
            <a:ext cx="9144000" cy="6103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But de la procédure:</a:t>
            </a:r>
          </a:p>
          <a:p>
            <a:pPr eaLnBrk="1" hangingPunct="1"/>
            <a:r>
              <a:rPr lang="fr-FR" altLang="fr-FR" sz="1600"/>
              <a:t>Trier des tables selon une ou plusieurs variables dans l’ordre croissant ou décroissant.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b="1" i="1"/>
              <a:t>Syntaxe</a:t>
            </a:r>
            <a:r>
              <a:rPr lang="fr-FR" altLang="fr-FR" sz="1600"/>
              <a:t>:</a:t>
            </a:r>
          </a:p>
          <a:p>
            <a:pPr eaLnBrk="1" hangingPunct="1"/>
            <a:r>
              <a:rPr lang="fr-FR" altLang="fr-FR" sz="1400" i="1"/>
              <a:t>			</a:t>
            </a:r>
            <a:r>
              <a:rPr lang="fr-FR" altLang="fr-FR" sz="1400" i="1">
                <a:solidFill>
                  <a:schemeClr val="accent2"/>
                </a:solidFill>
              </a:rPr>
              <a:t>Proc Sort data=table1 out=table2; 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By variable1;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Run;</a:t>
            </a:r>
          </a:p>
          <a:p>
            <a:pPr eaLnBrk="1" hangingPunct="1"/>
            <a:r>
              <a:rPr lang="fr-FR" altLang="fr-FR" sz="1600"/>
              <a:t>Ici, on crée la table </a:t>
            </a:r>
            <a:r>
              <a:rPr lang="fr-FR" altLang="fr-FR" sz="1600" i="1"/>
              <a:t>table2</a:t>
            </a:r>
            <a:r>
              <a:rPr lang="fr-FR" altLang="fr-FR" sz="1600"/>
              <a:t> qui correspond à la table </a:t>
            </a:r>
            <a:r>
              <a:rPr lang="fr-FR" altLang="fr-FR" sz="1600" i="1"/>
              <a:t>table1</a:t>
            </a:r>
            <a:r>
              <a:rPr lang="fr-FR" altLang="fr-FR" sz="1600"/>
              <a:t> triée dans l’ordre croissant de la variable </a:t>
            </a:r>
            <a:r>
              <a:rPr lang="fr-FR" altLang="fr-FR" sz="1600" i="1"/>
              <a:t>variable1</a:t>
            </a:r>
            <a:r>
              <a:rPr lang="fr-FR" altLang="fr-FR" sz="1600"/>
              <a:t>.</a:t>
            </a:r>
          </a:p>
          <a:p>
            <a:pPr eaLnBrk="1" hangingPunct="1"/>
            <a:r>
              <a:rPr lang="fr-FR" altLang="fr-FR" sz="1600"/>
              <a:t>Par défaut, la proc sort trie les données dans l’ordre croissant.</a:t>
            </a:r>
          </a:p>
          <a:p>
            <a:pPr eaLnBrk="1" hangingPunct="1"/>
            <a:r>
              <a:rPr lang="fr-FR" altLang="fr-FR" sz="1600"/>
              <a:t>Pour trier dans l’ordre décroissant il faut rajouter l’option </a:t>
            </a:r>
            <a:r>
              <a:rPr lang="fr-FR" altLang="fr-FR" sz="1600" i="1"/>
              <a:t>descending </a:t>
            </a:r>
          </a:p>
          <a:p>
            <a:pPr eaLnBrk="1" hangingPunct="1"/>
            <a:r>
              <a:rPr lang="fr-FR" altLang="fr-FR" sz="1600" b="1" i="1"/>
              <a:t>Syntaxe</a:t>
            </a:r>
            <a:r>
              <a:rPr lang="fr-FR" altLang="fr-FR" sz="1600"/>
              <a:t>:</a:t>
            </a:r>
          </a:p>
          <a:p>
            <a:pPr eaLnBrk="1" hangingPunct="1"/>
            <a:r>
              <a:rPr lang="fr-FR" altLang="fr-FR" sz="1600" i="1"/>
              <a:t>			</a:t>
            </a:r>
            <a:r>
              <a:rPr lang="fr-FR" altLang="fr-FR" sz="1400" i="1">
                <a:solidFill>
                  <a:schemeClr val="accent2"/>
                </a:solidFill>
              </a:rPr>
              <a:t>Proc Sort data=table1 out=table2; 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By descending variable1;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Run;</a:t>
            </a:r>
          </a:p>
          <a:p>
            <a:pPr eaLnBrk="1" hangingPunct="1"/>
            <a:endParaRPr lang="fr-FR" altLang="fr-FR" sz="8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Il n’est pas nécessaire de mettre l’option </a:t>
            </a:r>
            <a:r>
              <a:rPr lang="fr-FR" altLang="fr-FR" sz="1600" i="1"/>
              <a:t>out=table2</a:t>
            </a:r>
            <a:r>
              <a:rPr lang="fr-FR" altLang="fr-FR" sz="1600"/>
              <a:t>, dans ce cas, la table </a:t>
            </a:r>
            <a:r>
              <a:rPr lang="fr-FR" altLang="fr-FR" sz="1600" i="1"/>
              <a:t>table1 </a:t>
            </a:r>
            <a:r>
              <a:rPr lang="fr-FR" altLang="fr-FR" sz="1600"/>
              <a:t>est écrasée par la nouvelle tablé triée.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/>
              <a:t>L’option </a:t>
            </a:r>
            <a:r>
              <a:rPr lang="fr-FR" altLang="fr-FR" sz="1600" i="1">
                <a:solidFill>
                  <a:schemeClr val="accent2"/>
                </a:solidFill>
              </a:rPr>
              <a:t>nodupkey</a:t>
            </a:r>
            <a:r>
              <a:rPr lang="fr-FR" altLang="fr-FR" sz="1600"/>
              <a:t> permet de supprimer les doublons dans une table (la première observation est conservée et les autres sont supprimées).</a:t>
            </a:r>
          </a:p>
          <a:p>
            <a:pPr eaLnBrk="1" hangingPunct="1"/>
            <a:r>
              <a:rPr lang="fr-FR" altLang="fr-FR" sz="1600" b="1" i="1"/>
              <a:t>Syntaxe</a:t>
            </a:r>
            <a:r>
              <a:rPr lang="fr-FR" altLang="fr-FR" sz="1600"/>
              <a:t>:</a:t>
            </a:r>
          </a:p>
          <a:p>
            <a:pPr eaLnBrk="1" hangingPunct="1"/>
            <a:r>
              <a:rPr lang="fr-FR" altLang="fr-FR" sz="1600" i="1"/>
              <a:t>			</a:t>
            </a:r>
            <a:r>
              <a:rPr lang="fr-FR" altLang="fr-FR" sz="1400" i="1">
                <a:solidFill>
                  <a:schemeClr val="accent2"/>
                </a:solidFill>
              </a:rPr>
              <a:t>Proc Sort nodupkey data=table1 out=table2; 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By descending variable1;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Run;</a:t>
            </a:r>
          </a:p>
          <a:p>
            <a:pPr eaLnBrk="1" hangingPunct="1"/>
            <a:r>
              <a:rPr lang="fr-FR" altLang="fr-FR" sz="1600"/>
              <a:t>Pour éviter de détruire les données initiales, il est préférable de toujours mettre un </a:t>
            </a:r>
            <a:r>
              <a:rPr lang="fr-FR" altLang="fr-FR" sz="1600" i="1"/>
              <a:t>out=</a:t>
            </a:r>
            <a:r>
              <a:rPr lang="fr-FR" altLang="fr-FR" sz="1600"/>
              <a:t> lorsque l’on utilise le </a:t>
            </a:r>
            <a:r>
              <a:rPr lang="fr-FR" altLang="fr-FR" sz="1600" i="1">
                <a:solidFill>
                  <a:schemeClr val="accent2"/>
                </a:solidFill>
              </a:rPr>
              <a:t>nodupkey</a:t>
            </a:r>
            <a:endParaRPr lang="fr-FR" altLang="fr-FR"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SORT (2/2)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781050"/>
            <a:ext cx="9144000" cy="609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/>
              <a:t>Il est également possible de trier selon plusieurs variables les données</a:t>
            </a:r>
          </a:p>
          <a:p>
            <a:pPr eaLnBrk="1" hangingPunct="1"/>
            <a:endParaRPr lang="fr-FR" altLang="fr-FR" sz="800" b="1"/>
          </a:p>
          <a:p>
            <a:pPr eaLnBrk="1" hangingPunct="1"/>
            <a:r>
              <a:rPr lang="fr-FR" altLang="fr-FR" sz="1600" b="1" i="1"/>
              <a:t>Syntaxe</a:t>
            </a:r>
            <a:r>
              <a:rPr lang="fr-FR" altLang="fr-FR" sz="1600"/>
              <a:t>:</a:t>
            </a:r>
          </a:p>
          <a:p>
            <a:pPr eaLnBrk="1" hangingPunct="1"/>
            <a:r>
              <a:rPr lang="fr-FR" altLang="fr-FR" sz="1400" i="1"/>
              <a:t>				</a:t>
            </a:r>
            <a:r>
              <a:rPr lang="fr-FR" altLang="fr-FR" sz="1400" i="1">
                <a:solidFill>
                  <a:schemeClr val="accent2"/>
                </a:solidFill>
              </a:rPr>
              <a:t>Proc Sort data=table1 out=table2; 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By variable1 variable2;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Run;</a:t>
            </a:r>
          </a:p>
          <a:p>
            <a:pPr eaLnBrk="1" hangingPunct="1"/>
            <a:endParaRPr lang="fr-FR" altLang="fr-FR" sz="800" b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Ceci est très utile lorsque la variable </a:t>
            </a:r>
            <a:r>
              <a:rPr lang="fr-FR" altLang="fr-FR" sz="1600" i="1"/>
              <a:t>variable1</a:t>
            </a:r>
            <a:r>
              <a:rPr lang="fr-FR" altLang="fr-FR" sz="1600"/>
              <a:t> prend plusieurs fois la même valeur, ainsi les données sont ensuite triées selon </a:t>
            </a:r>
            <a:r>
              <a:rPr lang="fr-FR" altLang="fr-FR" sz="1600" i="1"/>
              <a:t>variable2</a:t>
            </a:r>
            <a:r>
              <a:rPr lang="fr-FR" altLang="fr-FR" sz="1600"/>
              <a:t>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b="1"/>
              <a:t>Utilités de la Proc Sort: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Créer de nouvelles tables triées (avec ou sans doublons) selon une ou plusieurs variables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Etape préliminaire à la fusion de plusieurs tables SAS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Etape préliminaire à la création d’agrégats dans les procédures statistiques (</a:t>
            </a:r>
            <a:r>
              <a:rPr lang="fr-FR" altLang="fr-FR" sz="1600" i="1"/>
              <a:t>by)</a:t>
            </a:r>
          </a:p>
          <a:p>
            <a:pPr lvl="1" eaLnBrk="1" hangingPunct="1">
              <a:buFontTx/>
              <a:buChar char="•"/>
            </a:pPr>
            <a:r>
              <a:rPr lang="fr-FR" altLang="fr-FR" sz="1600" i="1"/>
              <a:t> </a:t>
            </a:r>
            <a:r>
              <a:rPr lang="fr-FR" altLang="fr-FR" sz="1600"/>
              <a:t>Etape préliminaire à l’utilisation des mots clés </a:t>
            </a:r>
            <a:r>
              <a:rPr lang="fr-FR" altLang="fr-FR" sz="1600" i="1"/>
              <a:t>first </a:t>
            </a:r>
            <a:r>
              <a:rPr lang="fr-FR" altLang="fr-FR" sz="1600"/>
              <a:t>et </a:t>
            </a:r>
            <a:r>
              <a:rPr lang="fr-FR" altLang="fr-FR" sz="1600" i="1"/>
              <a:t>last</a:t>
            </a:r>
            <a:r>
              <a:rPr lang="fr-FR" altLang="fr-FR" sz="1600"/>
              <a:t> dans les étapes data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 u="sng"/>
              <a:t>Exemple</a:t>
            </a:r>
            <a:r>
              <a:rPr lang="fr-FR" altLang="fr-FR" sz="1600"/>
              <a:t> : utilisation de </a:t>
            </a:r>
            <a:r>
              <a:rPr lang="fr-FR" altLang="fr-FR" sz="1600" i="1"/>
              <a:t>first</a:t>
            </a:r>
            <a:r>
              <a:rPr lang="fr-FR" altLang="fr-FR" sz="1600"/>
              <a:t> dans une étape Data.</a:t>
            </a:r>
            <a:br>
              <a:rPr lang="fr-FR" altLang="fr-FR" sz="1600"/>
            </a:br>
            <a:r>
              <a:rPr lang="fr-FR" altLang="fr-FR" sz="1600"/>
              <a:t>Le mot clé </a:t>
            </a:r>
            <a:r>
              <a:rPr lang="fr-FR" altLang="fr-FR" sz="1600" i="1"/>
              <a:t>First</a:t>
            </a:r>
            <a:r>
              <a:rPr lang="fr-FR" altLang="fr-FR" sz="1600"/>
              <a:t> permet d’identifier la première observation d’une variable. Il nécessite que la table soit triée selon cette variable. L’instruction </a:t>
            </a:r>
            <a:r>
              <a:rPr lang="fr-FR" altLang="fr-FR" sz="1600" i="1"/>
              <a:t>by variable</a:t>
            </a:r>
            <a:r>
              <a:rPr lang="fr-FR" altLang="fr-FR" sz="1600"/>
              <a:t>; doit être aussi présente dans l’étape data.</a:t>
            </a:r>
          </a:p>
          <a:p>
            <a:pPr eaLnBrk="1" hangingPunct="1"/>
            <a:r>
              <a:rPr lang="fr-FR" altLang="fr-FR" sz="1400"/>
              <a:t>				</a:t>
            </a:r>
            <a:r>
              <a:rPr lang="fr-FR" altLang="fr-FR" sz="1400" i="1">
                <a:solidFill>
                  <a:schemeClr val="accent2"/>
                </a:solidFill>
              </a:rPr>
              <a:t>Proc sort data commandes;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by num_client date_commande; run;</a:t>
            </a:r>
          </a:p>
          <a:p>
            <a:pPr eaLnBrk="1" hangingPunct="1"/>
            <a:endParaRPr lang="fr-FR" altLang="fr-FR" sz="800" i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Data commande1 autres_commandes;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Set commandes;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By num_client;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if First.num_client then output commande1; </a:t>
            </a:r>
          </a:p>
          <a:p>
            <a:pPr lvl="1" eaLnBrk="1" hangingPunct="1"/>
            <a:r>
              <a:rPr lang="fr-FR" altLang="fr-FR" sz="1400" i="1">
                <a:solidFill>
                  <a:schemeClr val="accent2"/>
                </a:solidFill>
              </a:rPr>
              <a:t>				else output autres_commandes;</a:t>
            </a:r>
          </a:p>
          <a:p>
            <a:pPr lvl="1" eaLnBrk="1" hangingPunct="1"/>
            <a:r>
              <a:rPr lang="fr-FR" altLang="fr-FR" sz="1400" i="1">
                <a:solidFill>
                  <a:schemeClr val="accent2"/>
                </a:solidFill>
              </a:rPr>
              <a:t>				run;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620713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Les fusions de tables (1/2)</a:t>
            </a:r>
          </a:p>
        </p:txBody>
      </p:sp>
      <p:grpSp>
        <p:nvGrpSpPr>
          <p:cNvPr id="6147" name="Group 3"/>
          <p:cNvGrpSpPr>
            <a:grpSpLocks/>
          </p:cNvGrpSpPr>
          <p:nvPr/>
        </p:nvGrpSpPr>
        <p:grpSpPr bwMode="auto">
          <a:xfrm>
            <a:off x="0" y="765175"/>
            <a:ext cx="9144000" cy="5976938"/>
            <a:chOff x="0" y="482"/>
            <a:chExt cx="5760" cy="3765"/>
          </a:xfrm>
        </p:grpSpPr>
        <p:sp>
          <p:nvSpPr>
            <p:cNvPr id="6148" name="Text Box 4"/>
            <p:cNvSpPr txBox="1">
              <a:spLocks noChangeArrowheads="1"/>
            </p:cNvSpPr>
            <p:nvPr/>
          </p:nvSpPr>
          <p:spPr bwMode="auto">
            <a:xfrm>
              <a:off x="0" y="482"/>
              <a:ext cx="5760" cy="3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indent="-11112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indent="-11112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indent="-11112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indent="-11112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indent="-11112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/>
                <a:t>Il est parfois nécessaire de regrouper des données présentes dans deux tables différentes et de les mettre dans une nouvelle table. On parle de fusion de tables.</a:t>
              </a:r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r>
                <a:rPr lang="fr-FR" altLang="fr-FR" sz="1600"/>
                <a:t>L’instruction </a:t>
              </a:r>
              <a:r>
                <a:rPr lang="fr-FR" altLang="fr-FR" sz="1600" i="1">
                  <a:solidFill>
                    <a:schemeClr val="accent2"/>
                  </a:solidFill>
                </a:rPr>
                <a:t>Merge</a:t>
              </a:r>
              <a:r>
                <a:rPr lang="fr-FR" altLang="fr-FR" sz="1600"/>
                <a:t> permet cette fusion.</a:t>
              </a:r>
            </a:p>
            <a:p>
              <a:pPr eaLnBrk="1" hangingPunct="1"/>
              <a:r>
                <a:rPr lang="fr-FR" altLang="fr-FR" sz="1600" i="1" u="sng"/>
                <a:t>Syntaxe:</a:t>
              </a:r>
            </a:p>
            <a:p>
              <a:pPr lvl="4" eaLnBrk="1" hangingPunct="1"/>
              <a:r>
                <a:rPr lang="fr-FR" altLang="fr-FR" sz="1400" i="1"/>
                <a:t>	</a:t>
              </a:r>
              <a:r>
                <a:rPr lang="fr-FR" altLang="fr-FR" sz="1400" i="1">
                  <a:solidFill>
                    <a:schemeClr val="accent2"/>
                  </a:solidFill>
                </a:rPr>
                <a:t>DATA nouvelle_table;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MERGE table1 (IN=a)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table2 (lN=b) ...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tableN (IN=n) ;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BY var_cle ;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if a and b and … and n ;</a:t>
              </a:r>
            </a:p>
            <a:p>
              <a:pPr lvl="4"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RUN;</a:t>
              </a:r>
            </a:p>
            <a:p>
              <a:pPr lvl="4" eaLnBrk="1" hangingPunct="1"/>
              <a:endParaRPr lang="fr-FR" altLang="fr-FR" sz="800" i="1">
                <a:solidFill>
                  <a:schemeClr val="accent2"/>
                </a:solidFill>
              </a:endParaRPr>
            </a:p>
            <a:p>
              <a:pPr eaLnBrk="1" hangingPunct="1"/>
              <a:r>
                <a:rPr lang="fr-FR" altLang="fr-FR" sz="1400"/>
                <a:t>On fusionne les tables table1 table2… tableN sur la clé </a:t>
              </a:r>
              <a:r>
                <a:rPr lang="fr-FR" altLang="fr-FR" sz="1400" i="1"/>
                <a:t>var_clé</a:t>
              </a:r>
              <a:r>
                <a:rPr lang="fr-FR" altLang="fr-FR" sz="1400"/>
                <a:t> en conservant les lignes présentes dans chacune des tables.</a:t>
              </a:r>
            </a:p>
            <a:p>
              <a:pPr eaLnBrk="1" hangingPunct="1"/>
              <a:r>
                <a:rPr lang="fr-FR" altLang="fr-FR" sz="1400"/>
                <a:t>L’option </a:t>
              </a:r>
              <a:r>
                <a:rPr lang="fr-FR" altLang="fr-FR" sz="1400" i="1"/>
                <a:t>(in=a)</a:t>
              </a:r>
              <a:r>
                <a:rPr lang="fr-FR" altLang="fr-FR" sz="1400"/>
                <a:t> permet de donner un nom raccourci à la table1 </a:t>
              </a:r>
              <a:r>
                <a:rPr lang="fr-FR" altLang="fr-FR" sz="1400">
                  <a:sym typeface="Wingdings" panose="05000000000000000000" pitchFamily="2" charset="2"/>
                </a:rPr>
                <a:t> l’instruction </a:t>
              </a:r>
              <a:r>
                <a:rPr lang="fr-FR" altLang="fr-FR" sz="1400" i="1">
                  <a:sym typeface="Wingdings" panose="05000000000000000000" pitchFamily="2" charset="2"/>
                </a:rPr>
                <a:t> if a and b</a:t>
              </a:r>
              <a:r>
                <a:rPr lang="fr-FR" altLang="fr-FR" sz="1400">
                  <a:sym typeface="Wingdings" panose="05000000000000000000" pitchFamily="2" charset="2"/>
                </a:rPr>
                <a:t> veut donc dire: si les même données de la variable </a:t>
              </a:r>
              <a:r>
                <a:rPr lang="fr-FR" altLang="fr-FR" sz="1400" i="1">
                  <a:sym typeface="Wingdings" panose="05000000000000000000" pitchFamily="2" charset="2"/>
                </a:rPr>
                <a:t>var_cle</a:t>
              </a:r>
              <a:r>
                <a:rPr lang="fr-FR" altLang="fr-FR" sz="1400">
                  <a:sym typeface="Wingdings" panose="05000000000000000000" pitchFamily="2" charset="2"/>
                </a:rPr>
                <a:t> sont dans la table </a:t>
              </a:r>
              <a:r>
                <a:rPr lang="fr-FR" altLang="fr-FR" sz="1400" i="1">
                  <a:sym typeface="Wingdings" panose="05000000000000000000" pitchFamily="2" charset="2"/>
                </a:rPr>
                <a:t>table1 et table2.</a:t>
              </a:r>
              <a:endParaRPr lang="fr-FR" altLang="fr-FR" sz="1400" i="1"/>
            </a:p>
          </p:txBody>
        </p:sp>
        <p:pic>
          <p:nvPicPr>
            <p:cNvPr id="614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" y="907"/>
              <a:ext cx="4193" cy="1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620713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Les fusions de tables (2/2)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765175"/>
            <a:ext cx="9144000" cy="47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58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1111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1111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1111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1111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Il est primordial d’effectuer un proc sort de toutes les tables que l’on fusionne selon la variable de clé de fusion avant de lancer le Merge.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/>
              <a:t>Il est possible de rajouter les mêmes instructions dans un </a:t>
            </a:r>
            <a:r>
              <a:rPr lang="fr-FR" altLang="fr-FR" sz="1600" i="1"/>
              <a:t>Merge </a:t>
            </a:r>
            <a:r>
              <a:rPr lang="fr-FR" altLang="fr-FR" sz="1600"/>
              <a:t>que dans une étape Data classique.</a:t>
            </a:r>
          </a:p>
          <a:p>
            <a:pPr lvl="4" eaLnBrk="1" hangingPunct="1"/>
            <a:r>
              <a:rPr lang="fr-FR" altLang="fr-FR" sz="1400" i="1"/>
              <a:t>			</a:t>
            </a:r>
            <a:r>
              <a:rPr lang="fr-FR" altLang="fr-FR" sz="1400" i="1">
                <a:solidFill>
                  <a:schemeClr val="accent2"/>
                </a:solidFill>
              </a:rPr>
              <a:t>DATA nouvelle_table;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MERGE table1 (IN=a)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table2 (IN=b) 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BY var_cle 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if a and b 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variable3 = max(variable1, variable2)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if variable3&gt;0;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drop variable3;</a:t>
            </a:r>
          </a:p>
          <a:p>
            <a:pPr lvl="4" eaLnBrk="1" hangingPunct="1"/>
            <a:r>
              <a:rPr lang="fr-FR" altLang="fr-FR" sz="1400" i="1">
                <a:solidFill>
                  <a:schemeClr val="accent2"/>
                </a:solidFill>
              </a:rPr>
              <a:t>			RUN;</a:t>
            </a:r>
          </a:p>
          <a:p>
            <a:pPr eaLnBrk="1" hangingPunct="1"/>
            <a:endParaRPr lang="fr-FR" altLang="fr-FR" sz="14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400"/>
              <a:t>Les différents types de fusions:</a:t>
            </a:r>
          </a:p>
          <a:p>
            <a:pPr lvl="2" eaLnBrk="1" hangingPunct="1">
              <a:buFontTx/>
              <a:buChar char="•"/>
            </a:pPr>
            <a:r>
              <a:rPr lang="fr-FR" altLang="fr-FR" sz="1400"/>
              <a:t> Jointure totale : </a:t>
            </a:r>
            <a:r>
              <a:rPr lang="fr-FR" altLang="fr-FR" sz="1400" i="1">
                <a:solidFill>
                  <a:schemeClr val="accent2"/>
                </a:solidFill>
              </a:rPr>
              <a:t>if a and b</a:t>
            </a:r>
            <a:r>
              <a:rPr lang="fr-FR" altLang="fr-FR" sz="1400" i="1"/>
              <a:t>;</a:t>
            </a:r>
            <a:r>
              <a:rPr lang="fr-FR" altLang="fr-FR" sz="1400"/>
              <a:t> on conserve les lignes présentes dans les 2 tables</a:t>
            </a:r>
          </a:p>
          <a:p>
            <a:pPr lvl="2" eaLnBrk="1" hangingPunct="1">
              <a:buFontTx/>
              <a:buChar char="•"/>
            </a:pPr>
            <a:r>
              <a:rPr lang="fr-FR" altLang="fr-FR" sz="1400"/>
              <a:t> Jointure partielle : </a:t>
            </a:r>
            <a:r>
              <a:rPr lang="fr-FR" altLang="fr-FR" sz="1400" i="1">
                <a:solidFill>
                  <a:schemeClr val="accent2"/>
                </a:solidFill>
              </a:rPr>
              <a:t>if a</a:t>
            </a:r>
            <a:r>
              <a:rPr lang="fr-FR" altLang="fr-FR" sz="1400" i="1"/>
              <a:t>;</a:t>
            </a:r>
            <a:r>
              <a:rPr lang="fr-FR" altLang="fr-FR" sz="1400"/>
              <a:t> on ne conserve que les lignes présentes dans la table a (quelles soient ou non dans la table b)</a:t>
            </a:r>
          </a:p>
          <a:p>
            <a:pPr lvl="2" eaLnBrk="1" hangingPunct="1">
              <a:buFontTx/>
              <a:buChar char="•"/>
            </a:pPr>
            <a:r>
              <a:rPr lang="fr-FR" altLang="fr-FR" sz="1400"/>
              <a:t> Jointure complète : </a:t>
            </a:r>
            <a:r>
              <a:rPr lang="fr-FR" altLang="fr-FR" sz="1400" i="1">
                <a:solidFill>
                  <a:schemeClr val="accent2"/>
                </a:solidFill>
              </a:rPr>
              <a:t>if a or b</a:t>
            </a:r>
            <a:r>
              <a:rPr lang="fr-FR" altLang="fr-FR" sz="1400" i="1"/>
              <a:t>;</a:t>
            </a:r>
            <a:r>
              <a:rPr lang="fr-FR" altLang="fr-FR" sz="1400"/>
              <a:t> on conserve tous les enregistrements de a et b qu’ils soient communs ou pas.</a:t>
            </a:r>
          </a:p>
          <a:p>
            <a:pPr eaLnBrk="1" hangingPunct="1"/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FORMAT (1/3)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765175"/>
            <a:ext cx="9144000" cy="536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Préalable:</a:t>
            </a:r>
          </a:p>
          <a:p>
            <a:pPr eaLnBrk="1" hangingPunct="1"/>
            <a:r>
              <a:rPr lang="fr-FR" altLang="fr-FR" sz="1600"/>
              <a:t>Les formats vont permettre d’indiquer à SAS la manière de lire ou d’écrire des données. Certains</a:t>
            </a:r>
          </a:p>
          <a:p>
            <a:pPr eaLnBrk="1" hangingPunct="1"/>
            <a:r>
              <a:rPr lang="fr-FR" altLang="fr-FR" sz="1600"/>
              <a:t>formats sont prédéfinis dans SAS. D’autres formats sont créés par l’utilisateur. Les formats ont</a:t>
            </a:r>
          </a:p>
          <a:p>
            <a:pPr eaLnBrk="1" hangingPunct="1"/>
            <a:r>
              <a:rPr lang="fr-FR" altLang="fr-FR" sz="1600"/>
              <a:t>des formes différentes selon qu’ils sont destinés à des variables numériques ou à des variables</a:t>
            </a:r>
          </a:p>
          <a:p>
            <a:pPr eaLnBrk="1" hangingPunct="1"/>
            <a:r>
              <a:rPr lang="fr-FR" altLang="fr-FR" sz="1600"/>
              <a:t>caractères.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Les formats prédéfinis dans SAS</a:t>
            </a:r>
          </a:p>
          <a:p>
            <a:pPr eaLnBrk="1" hangingPunct="1"/>
            <a:endParaRPr lang="fr-FR" altLang="fr-FR" sz="900" b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 b="1"/>
              <a:t>1 Les formats numériques : </a:t>
            </a:r>
            <a:r>
              <a:rPr lang="fr-FR" altLang="fr-FR" sz="1600"/>
              <a:t>Le format w.d</a:t>
            </a:r>
          </a:p>
          <a:p>
            <a:pPr eaLnBrk="1" hangingPunct="1"/>
            <a:r>
              <a:rPr lang="fr-FR" altLang="fr-FR" sz="1600"/>
              <a:t>Il est sous la forme W.D. où :</a:t>
            </a:r>
          </a:p>
          <a:p>
            <a:pPr eaLnBrk="1" hangingPunct="1">
              <a:buFontTx/>
              <a:buChar char="•"/>
            </a:pPr>
            <a:r>
              <a:rPr lang="fr-FR" altLang="fr-FR" sz="1600"/>
              <a:t> W (width) désigne la longueur totale en nombre de colonnes du champ contenant la valeur</a:t>
            </a:r>
          </a:p>
          <a:p>
            <a:pPr eaLnBrk="1" hangingPunct="1">
              <a:buFontTx/>
              <a:buChar char="•"/>
            </a:pPr>
            <a:r>
              <a:rPr lang="fr-FR" altLang="fr-FR" sz="1600"/>
              <a:t> D (décimal) désigne le nombre de décimales éventuelles</a:t>
            </a:r>
          </a:p>
          <a:p>
            <a:pPr eaLnBrk="1" hangingPunct="1">
              <a:buFontTx/>
              <a:buChar char="•"/>
            </a:pPr>
            <a:endParaRPr lang="fr-FR" altLang="fr-FR" sz="800"/>
          </a:p>
          <a:p>
            <a:pPr eaLnBrk="1" hangingPunct="1"/>
            <a:r>
              <a:rPr lang="fr-FR" altLang="fr-FR" sz="1600"/>
              <a:t>On va associer à une variable numérique un format qui précisera la manière de l’écrire : on pourra préciser l’espace que doit prendre la variable, et le nombre de décimales que l’on souhaite afficher.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600"/>
              <a:t> : </a:t>
            </a:r>
            <a:r>
              <a:rPr lang="fr-FR" altLang="fr-FR" sz="1600">
                <a:solidFill>
                  <a:schemeClr val="accent2"/>
                </a:solidFill>
              </a:rPr>
              <a:t>format salaire 7.2;</a:t>
            </a:r>
            <a:r>
              <a:rPr lang="fr-FR" altLang="fr-FR" sz="1600"/>
              <a:t>   salaire désigne le nom de la variable et 7.2 est le format associé.</a:t>
            </a:r>
          </a:p>
          <a:p>
            <a:pPr eaLnBrk="1" hangingPunct="1"/>
            <a:r>
              <a:rPr lang="fr-FR" altLang="fr-FR" sz="1600"/>
              <a:t>Le format 7.2 attribué à la variable "salaire" signifie que les valeurs du salaire seront affichées</a:t>
            </a:r>
          </a:p>
          <a:p>
            <a:pPr eaLnBrk="1" hangingPunct="1"/>
            <a:r>
              <a:rPr lang="fr-FR" altLang="fr-FR" sz="1600"/>
              <a:t>sur 7 colonnes, dont les deux dernières seront réservées aux décimales. La valeur entière du</a:t>
            </a:r>
          </a:p>
          <a:p>
            <a:pPr eaLnBrk="1" hangingPunct="1"/>
            <a:r>
              <a:rPr lang="fr-FR" altLang="fr-FR" sz="1600"/>
              <a:t>salaire s’affichera sur 4 colonnes, la 5ème colonne contiendra le point décimal et les deux dernières contiendront les décimales. Ainsi si la valeur du salaire était de 1234,5678 , lorsque le</a:t>
            </a:r>
          </a:p>
          <a:p>
            <a:pPr eaLnBrk="1" hangingPunct="1"/>
            <a:r>
              <a:rPr lang="fr-FR" altLang="fr-FR" sz="1600"/>
              <a:t>format 7.2 sera appliqué la valeur affichée sera 1234,56</a:t>
            </a:r>
          </a:p>
          <a:p>
            <a:pPr eaLnBrk="1" hangingPunct="1"/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FORMAT (2/3)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765175"/>
            <a:ext cx="9144000" cy="615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2_ Les formats caractère : </a:t>
            </a:r>
            <a:r>
              <a:rPr lang="fr-FR" altLang="fr-FR" sz="1600"/>
              <a:t>Le format $w.</a:t>
            </a:r>
          </a:p>
          <a:p>
            <a:pPr eaLnBrk="1" hangingPunct="1"/>
            <a:r>
              <a:rPr lang="fr-FR" altLang="fr-FR" sz="1600"/>
              <a:t>Il est sous la forme $w. où W (width) désigne la longueur totale en nombre de colonnes du champ</a:t>
            </a:r>
          </a:p>
          <a:p>
            <a:pPr eaLnBrk="1" hangingPunct="1"/>
            <a:r>
              <a:rPr lang="fr-FR" altLang="fr-FR" sz="1600"/>
              <a:t>contenant la valeur.</a:t>
            </a:r>
          </a:p>
          <a:p>
            <a:pPr eaLnBrk="1" hangingPunct="1"/>
            <a:r>
              <a:rPr lang="fr-FR" altLang="fr-FR" sz="1600"/>
              <a:t>Le signe $ (dollar) est </a:t>
            </a:r>
            <a:r>
              <a:rPr lang="fr-FR" altLang="fr-FR" sz="1600" b="1"/>
              <a:t>indispensable</a:t>
            </a:r>
            <a:r>
              <a:rPr lang="fr-FR" altLang="fr-FR" sz="1600"/>
              <a:t>, sinon il s’agit d’un format numérique.</a:t>
            </a:r>
          </a:p>
          <a:p>
            <a:pPr eaLnBrk="1" hangingPunct="1"/>
            <a:r>
              <a:rPr lang="fr-FR" altLang="fr-FR" sz="1600"/>
              <a:t>La chaîne de caractères est justifiée à gauche, sans espace ou blanc devant.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/>
              <a:t>On va associer à une variable caractère un format qui précisera la manière de lire la variable ou</a:t>
            </a:r>
          </a:p>
          <a:p>
            <a:pPr eaLnBrk="1" hangingPunct="1"/>
            <a:r>
              <a:rPr lang="fr-FR" altLang="fr-FR" sz="1600"/>
              <a:t>de l’écrire : on pourra indiquer à SAS de ne lire que les 4 premières lettres des valeurs d’une</a:t>
            </a:r>
          </a:p>
          <a:p>
            <a:pPr eaLnBrk="1" hangingPunct="1"/>
            <a:r>
              <a:rPr lang="fr-FR" altLang="fr-FR" sz="1600"/>
              <a:t>variable, ou encore d’afficher des prénoms sur 12 colonnes (au lieu de 8 par défaut sous SAS)</a:t>
            </a:r>
          </a:p>
          <a:p>
            <a:pPr eaLnBrk="1" hangingPunct="1"/>
            <a:r>
              <a:rPr lang="fr-FR" altLang="fr-FR" sz="1600"/>
              <a:t>afin qu’ils ne soient pas tronqués par exemple.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Exemple</a:t>
            </a:r>
          </a:p>
          <a:p>
            <a:pPr eaLnBrk="1" hangingPunct="1"/>
            <a:r>
              <a:rPr lang="fr-FR" altLang="fr-FR" sz="1600">
                <a:solidFill>
                  <a:schemeClr val="accent2"/>
                </a:solidFill>
              </a:rPr>
              <a:t>format</a:t>
            </a:r>
            <a:r>
              <a:rPr lang="fr-FR" altLang="fr-FR"/>
              <a:t>  </a:t>
            </a:r>
            <a:r>
              <a:rPr lang="fr-FR" altLang="fr-FR" sz="1600">
                <a:solidFill>
                  <a:schemeClr val="accent2"/>
                </a:solidFill>
              </a:rPr>
              <a:t>jeu $4</a:t>
            </a:r>
            <a:r>
              <a:rPr lang="fr-FR" altLang="fr-FR" sz="1600"/>
              <a:t>.; : "jeu" désigne le nom de la variable et $4. est le format associé</a:t>
            </a:r>
          </a:p>
          <a:p>
            <a:pPr eaLnBrk="1" hangingPunct="1"/>
            <a:r>
              <a:rPr lang="fr-FR" altLang="fr-FR" sz="1600"/>
              <a:t>Il signifie que l’on désire réserver 4 colonnes pour imprimer la valeur de la variable jeu.</a:t>
            </a:r>
          </a:p>
          <a:p>
            <a:pPr eaLnBrk="1" hangingPunct="1"/>
            <a:r>
              <a:rPr lang="fr-FR" altLang="fr-FR" sz="1600"/>
              <a:t>Ainsi, si la valeur de la variable jeu est </a:t>
            </a:r>
            <a:r>
              <a:rPr lang="fr-FR" altLang="fr-FR" sz="1600" i="1"/>
              <a:t>trucmuche</a:t>
            </a:r>
            <a:r>
              <a:rPr lang="fr-FR" altLang="fr-FR" sz="1600"/>
              <a:t>, dans le tableau SAS la valeur affichée sera :truc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Les formats créés par l’utilisateur</a:t>
            </a:r>
          </a:p>
          <a:p>
            <a:pPr eaLnBrk="1" hangingPunct="1"/>
            <a:endParaRPr lang="fr-FR" altLang="fr-FR" sz="900" b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 b="1"/>
              <a:t>Présentation : la procédure FORMAT</a:t>
            </a:r>
          </a:p>
          <a:p>
            <a:pPr eaLnBrk="1" hangingPunct="1"/>
            <a:r>
              <a:rPr lang="fr-FR" altLang="fr-FR" sz="1600"/>
              <a:t>SAS permet de créer des formats personnalisés et de les conserver dans une bibliothèque où l’on</a:t>
            </a:r>
          </a:p>
          <a:p>
            <a:pPr eaLnBrk="1" hangingPunct="1"/>
            <a:r>
              <a:rPr lang="fr-FR" altLang="fr-FR" sz="1600"/>
              <a:t>pourra venir puiser selon les nécessités du travail.</a:t>
            </a:r>
          </a:p>
          <a:p>
            <a:pPr eaLnBrk="1" hangingPunct="1"/>
            <a:r>
              <a:rPr lang="fr-FR" altLang="fr-FR" sz="1600"/>
              <a:t>La procédure FORMAT permet de créer des formats de lecture ou d’écriture de données qui pourront ensuite être associés aux variables.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/>
              <a:t>La proc Format est surtout utilisée dans les proc Freq et Means pour améliorer l’affichage des résultats.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FORMAT (3/3)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0" y="620713"/>
            <a:ext cx="9144000" cy="621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400" b="1"/>
              <a:t>La procédure FORMAT a deux utilités :</a:t>
            </a:r>
          </a:p>
          <a:p>
            <a:pPr lvl="1" eaLnBrk="1" hangingPunct="1">
              <a:buFontTx/>
              <a:buChar char="•"/>
            </a:pPr>
            <a:r>
              <a:rPr lang="fr-FR" altLang="fr-FR" sz="1400"/>
              <a:t> </a:t>
            </a:r>
            <a:r>
              <a:rPr lang="fr-FR" altLang="fr-FR" sz="1400" i="1"/>
              <a:t>Attribuer des libellés aux modalités des variables :</a:t>
            </a:r>
            <a:r>
              <a:rPr lang="fr-FR" altLang="fr-FR" sz="1400"/>
              <a:t> </a:t>
            </a:r>
          </a:p>
          <a:p>
            <a:pPr eaLnBrk="1" hangingPunct="1"/>
            <a:r>
              <a:rPr lang="fr-FR" altLang="fr-FR" sz="1400"/>
              <a:t>Dans les tableaux, les variables sont codées : par exemple le sexe est codé 1, 2 ou H, F. Les formats vont permettre de faire correspondre des libellés aux modalités d’une variable. Ainsi pour la variable "sexe" le format fera correspondre le libellé ‘homme’ au code 1 et le libellé ‘femme’ au code 2…. ce qui rendra les tableaux plus clairs !</a:t>
            </a:r>
          </a:p>
          <a:p>
            <a:pPr lvl="1" eaLnBrk="1" hangingPunct="1">
              <a:buFontTx/>
              <a:buChar char="•"/>
            </a:pPr>
            <a:r>
              <a:rPr lang="fr-FR" altLang="fr-FR" sz="1400" i="1"/>
              <a:t> Effectuer des regroupements :</a:t>
            </a:r>
          </a:p>
          <a:p>
            <a:pPr eaLnBrk="1" hangingPunct="1"/>
            <a:r>
              <a:rPr lang="fr-FR" altLang="fr-FR" sz="1400"/>
              <a:t>Les formats vont aussi permettre d’effectuer des regroupements. Par exemple, on connaît l’âge de tous les individus et on veut effectuer des regroupements en créant des classes d’âges de 5 ans.</a:t>
            </a:r>
          </a:p>
          <a:p>
            <a:pPr eaLnBrk="1" hangingPunct="1"/>
            <a:endParaRPr lang="fr-FR" altLang="fr-FR" sz="700"/>
          </a:p>
          <a:p>
            <a:pPr eaLnBrk="1" hangingPunct="1"/>
            <a:r>
              <a:rPr lang="fr-FR" altLang="fr-FR" sz="1400" i="1"/>
              <a:t>Syntaxe de programmation: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PROC FORMAT;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VALUE nom du format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val1 = “Groupe1”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val2,val3,val4= “Groupe2”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val5-val9 = “Groupe3” ...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;</a:t>
            </a:r>
          </a:p>
          <a:p>
            <a:pPr algn="ctr" eaLnBrk="1" hangingPunct="1"/>
            <a:r>
              <a:rPr lang="fr-FR" altLang="fr-FR" sz="1200" i="1">
                <a:solidFill>
                  <a:schemeClr val="accent2"/>
                </a:solidFill>
              </a:rPr>
              <a:t>RUN;</a:t>
            </a:r>
          </a:p>
          <a:p>
            <a:pPr eaLnBrk="1" hangingPunct="1"/>
            <a:r>
              <a:rPr lang="fr-FR" altLang="fr-FR" sz="1400"/>
              <a:t>Si le format porte sur des variables caractères alors il faut précéder de $ le nom du format et les valeurs val1 val2… sont entre </a:t>
            </a:r>
            <a:r>
              <a:rPr lang="fr-FR" altLang="fr-FR" sz="1600" i="1"/>
              <a:t>““</a:t>
            </a:r>
          </a:p>
          <a:p>
            <a:pPr eaLnBrk="1" hangingPunct="1"/>
            <a:r>
              <a:rPr lang="fr-FR" altLang="fr-FR" sz="1200" i="1"/>
              <a:t>Exemple</a:t>
            </a:r>
            <a:r>
              <a:rPr lang="fr-FR" altLang="fr-FR" sz="1200"/>
              <a:t> : 				</a:t>
            </a:r>
            <a:r>
              <a:rPr lang="fr-FR" altLang="fr-FR" sz="1200" i="1">
                <a:solidFill>
                  <a:schemeClr val="accent2"/>
                </a:solidFill>
              </a:rPr>
              <a:t>proc format;</a:t>
            </a:r>
          </a:p>
          <a:p>
            <a:pPr eaLnBrk="1" hangingPunct="1"/>
            <a:r>
              <a:rPr lang="fr-FR" altLang="fr-FR" sz="1200" i="1">
                <a:solidFill>
                  <a:schemeClr val="accent2"/>
                </a:solidFill>
              </a:rPr>
              <a:t>				value $sexelib</a:t>
            </a:r>
          </a:p>
          <a:p>
            <a:pPr eaLnBrk="1" hangingPunct="1"/>
            <a:r>
              <a:rPr lang="fr-FR" altLang="fr-FR" sz="1200" i="1">
                <a:solidFill>
                  <a:schemeClr val="accent2"/>
                </a:solidFill>
              </a:rPr>
              <a:t>				“</a:t>
            </a:r>
            <a:r>
              <a:rPr lang="fr-FR" altLang="fr-FR" sz="1200">
                <a:solidFill>
                  <a:schemeClr val="accent2"/>
                </a:solidFill>
              </a:rPr>
              <a:t> 1 </a:t>
            </a:r>
            <a:r>
              <a:rPr lang="fr-FR" altLang="fr-FR" sz="1200" i="1">
                <a:solidFill>
                  <a:schemeClr val="accent2"/>
                </a:solidFill>
              </a:rPr>
              <a:t>“</a:t>
            </a:r>
            <a:r>
              <a:rPr lang="fr-FR" altLang="fr-FR" sz="1200">
                <a:solidFill>
                  <a:schemeClr val="accent2"/>
                </a:solidFill>
              </a:rPr>
              <a:t> </a:t>
            </a:r>
            <a:r>
              <a:rPr lang="fr-FR" altLang="fr-FR" sz="1200" i="1">
                <a:solidFill>
                  <a:schemeClr val="accent2"/>
                </a:solidFill>
              </a:rPr>
              <a:t>= “Homme”</a:t>
            </a:r>
          </a:p>
          <a:p>
            <a:pPr eaLnBrk="1" hangingPunct="1"/>
            <a:r>
              <a:rPr lang="fr-FR" altLang="fr-FR" sz="1200" i="1">
                <a:solidFill>
                  <a:schemeClr val="accent2"/>
                </a:solidFill>
              </a:rPr>
              <a:t>				“</a:t>
            </a:r>
            <a:r>
              <a:rPr lang="fr-FR" altLang="fr-FR" sz="1200">
                <a:solidFill>
                  <a:schemeClr val="accent2"/>
                </a:solidFill>
              </a:rPr>
              <a:t> 2 </a:t>
            </a:r>
            <a:r>
              <a:rPr lang="fr-FR" altLang="fr-FR" sz="1200" i="1">
                <a:solidFill>
                  <a:schemeClr val="accent2"/>
                </a:solidFill>
              </a:rPr>
              <a:t>“</a:t>
            </a:r>
            <a:r>
              <a:rPr lang="fr-FR" altLang="fr-FR" sz="1200">
                <a:solidFill>
                  <a:schemeClr val="accent2"/>
                </a:solidFill>
              </a:rPr>
              <a:t> </a:t>
            </a:r>
            <a:r>
              <a:rPr lang="fr-FR" altLang="fr-FR" sz="1200" i="1">
                <a:solidFill>
                  <a:schemeClr val="accent2"/>
                </a:solidFill>
              </a:rPr>
              <a:t>= “Femme”</a:t>
            </a:r>
          </a:p>
          <a:p>
            <a:pPr eaLnBrk="1" hangingPunct="1"/>
            <a:r>
              <a:rPr lang="fr-FR" altLang="fr-FR" sz="1200" i="1">
                <a:solidFill>
                  <a:schemeClr val="accent2"/>
                </a:solidFill>
              </a:rPr>
              <a:t>				;</a:t>
            </a:r>
          </a:p>
          <a:p>
            <a:pPr eaLnBrk="1" hangingPunct="1"/>
            <a:r>
              <a:rPr lang="fr-FR" altLang="fr-FR" sz="1200" i="1">
                <a:solidFill>
                  <a:schemeClr val="accent2"/>
                </a:solidFill>
              </a:rPr>
              <a:t>				run;</a:t>
            </a:r>
          </a:p>
          <a:p>
            <a:pPr eaLnBrk="1" hangingPunct="1"/>
            <a:r>
              <a:rPr lang="fr-FR" altLang="fr-FR" sz="1400"/>
              <a:t>Une proc Format peut contenir plusieurs instructions value.</a:t>
            </a:r>
          </a:p>
          <a:p>
            <a:pPr eaLnBrk="1" hangingPunct="1"/>
            <a:r>
              <a:rPr lang="fr-FR" altLang="fr-FR" sz="1400"/>
              <a:t>Il existe 3 valeurs particulières :</a:t>
            </a:r>
          </a:p>
          <a:p>
            <a:pPr eaLnBrk="1" hangingPunct="1"/>
            <a:r>
              <a:rPr lang="fr-FR" altLang="fr-FR" sz="1400"/>
              <a:t>– </a:t>
            </a:r>
            <a:r>
              <a:rPr lang="fr-FR" altLang="fr-FR" sz="1400">
                <a:solidFill>
                  <a:schemeClr val="accent2"/>
                </a:solidFill>
              </a:rPr>
              <a:t>LOW</a:t>
            </a:r>
            <a:r>
              <a:rPr lang="fr-FR" altLang="fr-FR" sz="1400"/>
              <a:t> : désigne la valeur la plus petite (hormis la valeur manquante)</a:t>
            </a:r>
          </a:p>
          <a:p>
            <a:pPr eaLnBrk="1" hangingPunct="1"/>
            <a:r>
              <a:rPr lang="fr-FR" altLang="fr-FR" sz="1400"/>
              <a:t>– </a:t>
            </a:r>
            <a:r>
              <a:rPr lang="fr-FR" altLang="fr-FR" sz="1400">
                <a:solidFill>
                  <a:schemeClr val="accent2"/>
                </a:solidFill>
              </a:rPr>
              <a:t>HIGH</a:t>
            </a:r>
            <a:r>
              <a:rPr lang="fr-FR" altLang="fr-FR" sz="1400"/>
              <a:t> : désigne la valeur la plus grande</a:t>
            </a:r>
          </a:p>
          <a:p>
            <a:pPr eaLnBrk="1" hangingPunct="1"/>
            <a:r>
              <a:rPr lang="fr-FR" altLang="fr-FR" sz="1400"/>
              <a:t>– </a:t>
            </a:r>
            <a:r>
              <a:rPr lang="fr-FR" altLang="fr-FR" sz="1400">
                <a:solidFill>
                  <a:schemeClr val="accent2"/>
                </a:solidFill>
              </a:rPr>
              <a:t>OTHER</a:t>
            </a:r>
            <a:r>
              <a:rPr lang="fr-FR" altLang="fr-FR" sz="1400"/>
              <a:t> : désigne les valeurs non précédemment décrites.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FREQ (1/5)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0" y="620713"/>
            <a:ext cx="9144000" cy="604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Préalable :</a:t>
            </a:r>
          </a:p>
          <a:p>
            <a:pPr eaLnBrk="1" hangingPunct="1"/>
            <a:r>
              <a:rPr lang="fr-FR" altLang="fr-FR" sz="1500"/>
              <a:t>Les procédures </a:t>
            </a:r>
            <a:r>
              <a:rPr lang="fr-FR" altLang="fr-FR" sz="1500" i="1">
                <a:solidFill>
                  <a:schemeClr val="accent2"/>
                </a:solidFill>
              </a:rPr>
              <a:t>FREQ</a:t>
            </a:r>
            <a:r>
              <a:rPr lang="fr-FR" altLang="fr-FR" sz="1500"/>
              <a:t> servent à réaliser des dénombrements (= tris à plat) et des croisements (=tris croisés) de variables. </a:t>
            </a:r>
          </a:p>
          <a:p>
            <a:pPr eaLnBrk="1" hangingPunct="1"/>
            <a:r>
              <a:rPr lang="fr-FR" altLang="fr-FR" sz="1500"/>
              <a:t>Les procédures </a:t>
            </a:r>
            <a:r>
              <a:rPr lang="fr-FR" altLang="fr-FR" sz="1500" i="1">
                <a:solidFill>
                  <a:schemeClr val="accent2"/>
                </a:solidFill>
              </a:rPr>
              <a:t>Freq</a:t>
            </a:r>
            <a:r>
              <a:rPr lang="fr-FR" altLang="fr-FR" sz="1500"/>
              <a:t> </a:t>
            </a:r>
            <a:r>
              <a:rPr lang="fr-FR" altLang="fr-FR" sz="1500" u="sng"/>
              <a:t>ne s’utilisent que sur des variables qualitatives </a:t>
            </a:r>
            <a:r>
              <a:rPr lang="fr-FR" altLang="fr-FR" sz="1500"/>
              <a:t>ou des variables quantitatives prenant peu de valeurs (age de enfants).</a:t>
            </a:r>
            <a:endParaRPr lang="fr-FR" altLang="fr-FR" sz="1500" u="sng"/>
          </a:p>
          <a:p>
            <a:pPr eaLnBrk="1" hangingPunct="1"/>
            <a:endParaRPr lang="fr-FR" altLang="fr-FR" sz="400"/>
          </a:p>
          <a:p>
            <a:pPr eaLnBrk="1" hangingPunct="1"/>
            <a:r>
              <a:rPr lang="fr-FR" altLang="fr-FR" sz="1600" i="1"/>
              <a:t>Syntaxe</a:t>
            </a:r>
            <a:r>
              <a:rPr lang="fr-FR" altLang="fr-FR"/>
              <a:t> </a:t>
            </a:r>
            <a:r>
              <a:rPr lang="fr-FR" altLang="fr-FR" sz="1400" i="1">
                <a:solidFill>
                  <a:schemeClr val="accent2"/>
                </a:solidFill>
              </a:rPr>
              <a:t>				proc freq data=nom_table;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liste_des_variables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endParaRPr lang="fr-FR" altLang="fr-FR" sz="400" i="1"/>
          </a:p>
          <a:p>
            <a:pPr eaLnBrk="1" hangingPunct="1"/>
            <a:r>
              <a:rPr lang="fr-FR" altLang="fr-FR" sz="1600" i="1"/>
              <a:t>Exemple : 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proc freq data=donnees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age_enfant;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r>
              <a:rPr lang="fr-FR" altLang="fr-FR" sz="1500"/>
              <a:t>Exemples de dénombrements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D’une variable : </a:t>
            </a:r>
            <a:r>
              <a:rPr lang="fr-FR" altLang="fr-FR" sz="1500" i="1">
                <a:solidFill>
                  <a:schemeClr val="accent2"/>
                </a:solidFill>
              </a:rPr>
              <a:t>tables var ;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De plusieurs variables : </a:t>
            </a:r>
            <a:r>
              <a:rPr lang="fr-FR" altLang="fr-FR" sz="1500" i="1">
                <a:solidFill>
                  <a:schemeClr val="accent2"/>
                </a:solidFill>
              </a:rPr>
              <a:t>tables var1 var2 var3 ;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D’une liste de variables : </a:t>
            </a:r>
            <a:r>
              <a:rPr lang="fr-FR" altLang="fr-FR" sz="1500" i="1">
                <a:solidFill>
                  <a:schemeClr val="accent2"/>
                </a:solidFill>
              </a:rPr>
              <a:t>tables var1 - - var7 ;</a:t>
            </a:r>
          </a:p>
          <a:p>
            <a:pPr eaLnBrk="1" hangingPunct="1"/>
            <a:endParaRPr lang="fr-FR" altLang="fr-FR" sz="400" i="1"/>
          </a:p>
          <a:p>
            <a:pPr eaLnBrk="1" hangingPunct="1"/>
            <a:r>
              <a:rPr lang="fr-FR" altLang="fr-FR" sz="1500"/>
              <a:t>Exemples de tri croisés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De deux variables </a:t>
            </a:r>
            <a:r>
              <a:rPr lang="fr-FR" altLang="fr-FR" sz="1500" i="1">
                <a:solidFill>
                  <a:schemeClr val="accent2"/>
                </a:solidFill>
              </a:rPr>
              <a:t>tables var1 * var2 ;</a:t>
            </a:r>
            <a:r>
              <a:rPr lang="fr-FR" altLang="fr-FR" sz="1500"/>
              <a:t> (var1 en ligne ; var2 en colonne)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De trois variables </a:t>
            </a:r>
            <a:r>
              <a:rPr lang="fr-FR" altLang="fr-FR" sz="1500" i="1">
                <a:solidFill>
                  <a:schemeClr val="accent2"/>
                </a:solidFill>
              </a:rPr>
              <a:t>tables var1*var2*var3</a:t>
            </a:r>
            <a:r>
              <a:rPr lang="fr-FR" altLang="fr-FR" sz="1500" i="1"/>
              <a:t> ;</a:t>
            </a:r>
            <a:r>
              <a:rPr lang="fr-FR" altLang="fr-FR" sz="1500"/>
              <a:t> var1 est en page, var2 en ligne et var3 en colonne</a:t>
            </a:r>
          </a:p>
          <a:p>
            <a:pPr lvl="1" eaLnBrk="1" hangingPunct="1">
              <a:buFontTx/>
              <a:buChar char="•"/>
            </a:pPr>
            <a:r>
              <a:rPr lang="fr-FR" altLang="fr-FR" sz="1500"/>
              <a:t> D’une variable avec plusieurs variables </a:t>
            </a:r>
            <a:r>
              <a:rPr lang="fr-FR" altLang="fr-FR" sz="1500" i="1">
                <a:solidFill>
                  <a:schemeClr val="accent2"/>
                </a:solidFill>
              </a:rPr>
              <a:t>tables var1 * (var2 var3) ;</a:t>
            </a:r>
            <a:r>
              <a:rPr lang="fr-FR" altLang="fr-FR" sz="1500"/>
              <a:t> Tri croisé successif de var1 avec var2 puis var1 avec var3</a:t>
            </a:r>
          </a:p>
          <a:p>
            <a:pPr lvl="1" eaLnBrk="1" hangingPunct="1">
              <a:buFontTx/>
              <a:buChar char="•"/>
            </a:pPr>
            <a:endParaRPr lang="fr-FR" altLang="fr-FR" sz="400"/>
          </a:p>
          <a:p>
            <a:pPr eaLnBrk="1" hangingPunct="1">
              <a:buFontTx/>
              <a:buChar char="•"/>
            </a:pPr>
            <a:r>
              <a:rPr lang="fr-FR" altLang="fr-FR" sz="1500"/>
              <a:t> Pour un dénombrement brut on obtient pour chaque modalité de la variable les fréquences, les pourcentages, les fréquences cumulées et les pourcentages cumulés.</a:t>
            </a:r>
          </a:p>
          <a:p>
            <a:pPr eaLnBrk="1" hangingPunct="1">
              <a:buFontTx/>
              <a:buChar char="•"/>
            </a:pPr>
            <a:r>
              <a:rPr lang="fr-FR" altLang="fr-FR" sz="1500"/>
              <a:t> Pour un croisement on obtient un tableau avec les fréquences, les pourcentages par rapport au total, les pourcentages en ligne, les pourcentages en colonne.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FREQ (2/5)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0" y="692150"/>
            <a:ext cx="9144000" cy="598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Les options:</a:t>
            </a:r>
          </a:p>
          <a:p>
            <a:pPr eaLnBrk="1" hangingPunct="1"/>
            <a:r>
              <a:rPr lang="fr-FR" altLang="fr-FR" sz="1600"/>
              <a:t>Il existe de nombreuses options dans SAS qui permettent d’accroître les possibilités de la procédure. Ces options peuvent s’écrire :</a:t>
            </a:r>
          </a:p>
          <a:p>
            <a:pPr eaLnBrk="1" hangingPunct="1"/>
            <a:endParaRPr lang="fr-FR" altLang="fr-FR" sz="800"/>
          </a:p>
          <a:p>
            <a:pPr lvl="1" eaLnBrk="1" hangingPunct="1">
              <a:buFontTx/>
              <a:buChar char="•"/>
            </a:pPr>
            <a:r>
              <a:rPr lang="fr-FR" altLang="fr-FR" sz="1600" b="1"/>
              <a:t> sur la ligne PROC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order = freq</a:t>
            </a:r>
            <a:r>
              <a:rPr lang="fr-FR" altLang="fr-FR" sz="1600"/>
              <a:t> modalités du tableau ordonnées en fonction de leur effectif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 :</a:t>
            </a:r>
            <a:r>
              <a:rPr lang="fr-FR" altLang="fr-FR"/>
              <a:t> </a:t>
            </a:r>
            <a:r>
              <a:rPr lang="fr-FR" altLang="fr-FR" sz="1400" i="1">
                <a:solidFill>
                  <a:schemeClr val="accent2"/>
                </a:solidFill>
              </a:rPr>
              <a:t>		proc freq data=donnees order=freq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tables sexe * csp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 ;</a:t>
            </a:r>
          </a:p>
          <a:p>
            <a:pPr eaLnBrk="1" hangingPunct="1"/>
            <a:endParaRPr lang="fr-FR" altLang="fr-FR" sz="800" i="1">
              <a:solidFill>
                <a:schemeClr val="accent2"/>
              </a:solidFill>
            </a:endParaRPr>
          </a:p>
          <a:p>
            <a:pPr lvl="1" eaLnBrk="1" hangingPunct="1">
              <a:buFontTx/>
              <a:buChar char="•"/>
            </a:pPr>
            <a:r>
              <a:rPr lang="fr-FR" altLang="fr-FR" sz="1600" b="1"/>
              <a:t> sur la ligne de requête, introduites par une barre oblique /.</a:t>
            </a:r>
          </a:p>
          <a:p>
            <a:pPr eaLnBrk="1" hangingPunct="1"/>
            <a:r>
              <a:rPr lang="fr-FR" altLang="fr-FR" sz="1600"/>
              <a:t>On distingue les options d’affichage et les options de calcul:</a:t>
            </a:r>
          </a:p>
          <a:p>
            <a:pPr eaLnBrk="1" hangingPunct="1">
              <a:buFontTx/>
              <a:buChar char="•"/>
            </a:pPr>
            <a:r>
              <a:rPr lang="fr-FR" altLang="fr-FR" sz="1600" b="1" i="1"/>
              <a:t> Options d’affichage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nocum</a:t>
            </a:r>
            <a:r>
              <a:rPr lang="fr-FR" altLang="fr-FR" sz="1600"/>
              <a:t>          supprime l’affichage des effectifs et pourcentages cumulés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norow</a:t>
            </a:r>
            <a:r>
              <a:rPr lang="fr-FR" altLang="fr-FR" sz="1600"/>
              <a:t>           supprime l’affichage des pourcentages en ligne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nocol</a:t>
            </a:r>
            <a:r>
              <a:rPr lang="fr-FR" altLang="fr-FR" sz="1600"/>
              <a:t>             supprime l’affichage des pourcentages en colonne</a:t>
            </a:r>
          </a:p>
          <a:p>
            <a:pPr eaLnBrk="1" hangingPunct="1">
              <a:buFontTx/>
              <a:buChar char="-"/>
            </a:pPr>
            <a:r>
              <a:rPr lang="fr-FR" altLang="fr-FR" sz="1600" i="1">
                <a:solidFill>
                  <a:schemeClr val="accent2"/>
                </a:solidFill>
              </a:rPr>
              <a:t> nopercent</a:t>
            </a:r>
            <a:r>
              <a:rPr lang="fr-FR" altLang="fr-FR" sz="1600"/>
              <a:t>     supprime l’affichage des pourcentages par rapport au total 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nofreq</a:t>
            </a:r>
            <a:r>
              <a:rPr lang="fr-FR" altLang="fr-FR" sz="1600"/>
              <a:t>           supprime l’affichage des effectifs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List               </a:t>
            </a:r>
            <a:r>
              <a:rPr lang="fr-FR" altLang="fr-FR" sz="1600"/>
              <a:t> affiche le tableau sous forme d’une liste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noprint</a:t>
            </a:r>
            <a:r>
              <a:rPr lang="fr-FR" altLang="fr-FR" sz="1600"/>
              <a:t>          supprime l’affichage des résultats</a:t>
            </a:r>
          </a:p>
          <a:p>
            <a:pPr eaLnBrk="1" hangingPunct="1">
              <a:buFontTx/>
              <a:buChar char="-"/>
            </a:pPr>
            <a:r>
              <a:rPr lang="fr-FR" altLang="fr-FR" sz="1600" i="1">
                <a:solidFill>
                  <a:schemeClr val="accent2"/>
                </a:solidFill>
              </a:rPr>
              <a:t>out = tab    </a:t>
            </a:r>
            <a:r>
              <a:rPr lang="fr-FR" altLang="fr-FR" sz="1600"/>
              <a:t>   crée une table en sortie, avec les croisements en liste</a:t>
            </a:r>
          </a:p>
          <a:p>
            <a:pPr eaLnBrk="1" hangingPunct="1">
              <a:buFontTx/>
              <a:buChar char="-"/>
            </a:pPr>
            <a:endParaRPr lang="fr-FR" altLang="fr-FR" sz="800"/>
          </a:p>
          <a:p>
            <a:pPr eaLnBrk="1" hangingPunct="1"/>
            <a:r>
              <a:rPr lang="fr-FR" altLang="fr-FR" sz="1600" i="1"/>
              <a:t>Exemple : 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tables sexe * csp / nocol norow;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FREQ (3/5)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773113"/>
            <a:ext cx="9144000" cy="604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600" b="1"/>
              <a:t> Options de calcul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chisq</a:t>
            </a:r>
            <a:r>
              <a:rPr lang="fr-FR" altLang="fr-FR" sz="1600"/>
              <a:t>          demande de test du chi-deux. SAS indique la probabilité de se tromper en rejetant l’hypothèse d’indépendance des variables</a:t>
            </a:r>
          </a:p>
          <a:p>
            <a:pPr eaLnBrk="1" hangingPunct="1"/>
            <a:r>
              <a:rPr lang="fr-FR" altLang="fr-FR" sz="1600"/>
              <a:t>- </a:t>
            </a:r>
            <a:r>
              <a:rPr lang="fr-FR" altLang="fr-FR" sz="1600" i="1">
                <a:solidFill>
                  <a:schemeClr val="accent2"/>
                </a:solidFill>
              </a:rPr>
              <a:t>cellchi2</a:t>
            </a:r>
            <a:r>
              <a:rPr lang="fr-FR" altLang="fr-FR" sz="1600"/>
              <a:t>      contribution des cases au chi-deux</a:t>
            </a:r>
          </a:p>
          <a:p>
            <a:pPr eaLnBrk="1" hangingPunct="1">
              <a:buFontTx/>
              <a:buChar char="-"/>
            </a:pPr>
            <a:r>
              <a:rPr lang="fr-FR" altLang="fr-FR" sz="1600" i="1">
                <a:solidFill>
                  <a:schemeClr val="accent2"/>
                </a:solidFill>
              </a:rPr>
              <a:t> all</a:t>
            </a:r>
            <a:r>
              <a:rPr lang="fr-FR" altLang="fr-FR" sz="1600"/>
              <a:t>              demande de toutes les statistiques</a:t>
            </a:r>
          </a:p>
          <a:p>
            <a:pPr eaLnBrk="1" hangingPunct="1">
              <a:buFontTx/>
              <a:buChar char="-"/>
            </a:pPr>
            <a:endParaRPr lang="fr-FR" altLang="fr-FR" sz="800"/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400" i="1"/>
              <a:t> : 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tables sexe * csp / norow chisq;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 ;</a:t>
            </a:r>
          </a:p>
          <a:p>
            <a:pPr eaLnBrk="1" hangingPunct="1"/>
            <a:endParaRPr lang="fr-FR" altLang="fr-FR" sz="1200"/>
          </a:p>
          <a:p>
            <a:pPr eaLnBrk="1" hangingPunct="1"/>
            <a:r>
              <a:rPr lang="fr-FR" altLang="fr-FR" sz="1600" u="sng"/>
              <a:t>Remarque</a:t>
            </a:r>
            <a:r>
              <a:rPr lang="fr-FR" altLang="fr-FR" sz="1600"/>
              <a:t> : si on fait plusieurs tris avec les mêmes options on n’écrit qu’une seule instruction</a:t>
            </a:r>
          </a:p>
          <a:p>
            <a:pPr eaLnBrk="1" hangingPunct="1"/>
            <a:r>
              <a:rPr lang="fr-FR" altLang="fr-FR" sz="1600">
                <a:solidFill>
                  <a:schemeClr val="accent2"/>
                </a:solidFill>
              </a:rPr>
              <a:t>tables</a:t>
            </a:r>
            <a:r>
              <a:rPr lang="fr-FR" altLang="fr-FR" sz="1600"/>
              <a:t>, sinon on peut inscrire des instructions </a:t>
            </a:r>
            <a:r>
              <a:rPr lang="fr-FR" altLang="fr-FR" sz="1600">
                <a:solidFill>
                  <a:schemeClr val="accent2"/>
                </a:solidFill>
              </a:rPr>
              <a:t>tables</a:t>
            </a:r>
            <a:r>
              <a:rPr lang="fr-FR" altLang="fr-FR" sz="1600"/>
              <a:t> successives avec des options différentes.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Exemple :</a:t>
            </a:r>
            <a:r>
              <a:rPr lang="fr-FR" altLang="fr-FR" sz="1600"/>
              <a:t> 		</a:t>
            </a:r>
            <a:r>
              <a:rPr lang="fr-FR" altLang="fr-FR" sz="1400">
                <a:solidFill>
                  <a:schemeClr val="accent2"/>
                </a:solidFill>
              </a:rPr>
              <a:t>tables var1*var2 var3*var4 / nocol ;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			tables var1*var3/nocum norow ;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 			tables var2*var4/chisq;</a:t>
            </a:r>
          </a:p>
          <a:p>
            <a:pPr eaLnBrk="1" hangingPunct="1"/>
            <a:endParaRPr lang="fr-FR" altLang="fr-FR" sz="14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L’option </a:t>
            </a:r>
            <a:r>
              <a:rPr lang="fr-FR" altLang="fr-FR" sz="1600">
                <a:solidFill>
                  <a:schemeClr val="accent2"/>
                </a:solidFill>
              </a:rPr>
              <a:t>missing</a:t>
            </a:r>
            <a:r>
              <a:rPr lang="fr-FR" altLang="fr-FR" sz="1600"/>
              <a:t> prend en compte les valeurs manquantes dans le tableau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Exemple : 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tables sexe * csp / missing;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run ;</a:t>
            </a:r>
          </a:p>
          <a:p>
            <a:pPr eaLnBrk="1" hangingPunct="1"/>
            <a:endParaRPr lang="fr-FR" altLang="fr-FR" sz="8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L’option </a:t>
            </a:r>
            <a:r>
              <a:rPr lang="fr-FR" altLang="fr-FR" sz="1600">
                <a:solidFill>
                  <a:schemeClr val="accent2"/>
                </a:solidFill>
              </a:rPr>
              <a:t>out</a:t>
            </a:r>
            <a:r>
              <a:rPr lang="fr-FR" altLang="fr-FR" sz="1600"/>
              <a:t> permet de sauvegarder les tris à plats ou croisés dans une nouvelle table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Exemple : 		</a:t>
            </a:r>
            <a:r>
              <a:rPr lang="fr-FR" altLang="fr-FR" sz="1600" i="1">
                <a:solidFill>
                  <a:schemeClr val="accent2"/>
                </a:solidFill>
              </a:rPr>
              <a:t>proc freq data=donnees;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		tables sexe / out=effectif_sexe;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		run ;</a:t>
            </a:r>
            <a:endParaRPr lang="fr-FR" altLang="fr-FR" sz="12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FREQ (4/5)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773113"/>
            <a:ext cx="9144000" cy="515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Notions complémentaires</a:t>
            </a:r>
          </a:p>
          <a:p>
            <a:pPr eaLnBrk="1" hangingPunct="1"/>
            <a:endParaRPr lang="fr-FR" altLang="fr-FR" sz="800" b="1"/>
          </a:p>
          <a:p>
            <a:pPr lvl="1" eaLnBrk="1" hangingPunct="1">
              <a:buFontTx/>
              <a:buChar char="•"/>
            </a:pPr>
            <a:r>
              <a:rPr lang="fr-FR" altLang="fr-FR" sz="1600"/>
              <a:t> </a:t>
            </a:r>
            <a:r>
              <a:rPr lang="fr-FR" altLang="fr-FR" sz="1600" b="1"/>
              <a:t>Pondération</a:t>
            </a:r>
          </a:p>
          <a:p>
            <a:pPr eaLnBrk="1" hangingPunct="1"/>
            <a:r>
              <a:rPr lang="fr-FR" altLang="fr-FR" sz="1600"/>
              <a:t>Lorsque le fichier de données contient une variable de pondération, l’instruction </a:t>
            </a:r>
            <a:r>
              <a:rPr lang="fr-FR" altLang="fr-FR" sz="1600" i="1">
                <a:solidFill>
                  <a:schemeClr val="accent2"/>
                </a:solidFill>
              </a:rPr>
              <a:t>weight </a:t>
            </a:r>
            <a:r>
              <a:rPr lang="fr-FR" altLang="fr-FR" sz="1600"/>
              <a:t>permet de l’appliquer.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600"/>
              <a:t> : 	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sexe * csp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weight pond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endParaRPr lang="fr-FR" altLang="fr-FR" sz="1400" i="1">
              <a:solidFill>
                <a:schemeClr val="accent2"/>
              </a:solidFill>
            </a:endParaRPr>
          </a:p>
          <a:p>
            <a:pPr eaLnBrk="1" hangingPunct="1"/>
            <a:endParaRPr lang="fr-FR" altLang="fr-FR" sz="400" i="1">
              <a:solidFill>
                <a:schemeClr val="accent2"/>
              </a:solidFill>
            </a:endParaRPr>
          </a:p>
          <a:p>
            <a:pPr lvl="1" eaLnBrk="1" hangingPunct="1">
              <a:buFontTx/>
              <a:buChar char="•"/>
            </a:pPr>
            <a:r>
              <a:rPr lang="fr-FR" altLang="fr-FR" sz="1600" b="1"/>
              <a:t> Titres</a:t>
            </a:r>
          </a:p>
          <a:p>
            <a:pPr eaLnBrk="1" hangingPunct="1"/>
            <a:r>
              <a:rPr lang="fr-FR" altLang="fr-FR" sz="1600"/>
              <a:t>Un titre peut être inséré dans chaque procédure, ce qui facilite la lecture du tableau de résultat.</a:t>
            </a:r>
          </a:p>
          <a:p>
            <a:pPr eaLnBrk="1" hangingPunct="1"/>
            <a:r>
              <a:rPr lang="fr-FR" altLang="fr-FR" sz="1600"/>
              <a:t>Il est introduit par le mot-clé </a:t>
            </a:r>
            <a:r>
              <a:rPr lang="fr-FR" altLang="fr-FR" sz="1600" i="1">
                <a:solidFill>
                  <a:schemeClr val="accent2"/>
                </a:solidFill>
              </a:rPr>
              <a:t>title</a:t>
            </a:r>
            <a:r>
              <a:rPr lang="fr-FR" altLang="fr-FR" sz="1600"/>
              <a:t> et est inscrit entre guillemets. Il se place généralement entre la ligne d’appel de la procédure et la ligne des requêtes.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600"/>
              <a:t> : 	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title ‘Croisement du sexe et de la catégorie socio-professionnelle’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sexe * csp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endParaRPr lang="fr-FR" altLang="fr-FR" sz="800" i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 u="sng"/>
              <a:t>Remarque </a:t>
            </a:r>
            <a:r>
              <a:rPr lang="fr-FR" altLang="fr-FR" sz="1600"/>
              <a:t>: une instruction </a:t>
            </a:r>
            <a:r>
              <a:rPr lang="fr-FR" altLang="fr-FR" sz="1600" i="1">
                <a:solidFill>
                  <a:schemeClr val="accent2"/>
                </a:solidFill>
              </a:rPr>
              <a:t>title</a:t>
            </a:r>
            <a:r>
              <a:rPr lang="fr-FR" altLang="fr-FR"/>
              <a:t> </a:t>
            </a:r>
            <a:r>
              <a:rPr lang="fr-FR" altLang="fr-FR" sz="1600"/>
              <a:t>reste valable jusqu’à la prochaine instruction </a:t>
            </a:r>
            <a:r>
              <a:rPr lang="fr-FR" altLang="fr-FR" sz="1600" i="1">
                <a:solidFill>
                  <a:schemeClr val="accent2"/>
                </a:solidFill>
              </a:rPr>
              <a:t>title</a:t>
            </a:r>
          </a:p>
          <a:p>
            <a:pPr eaLnBrk="1" hangingPunct="1"/>
            <a:endParaRPr lang="fr-FR" altLang="fr-FR" sz="4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8738"/>
            <a:ext cx="9144000" cy="633412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FREQ (5/5)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758825"/>
            <a:ext cx="9144000" cy="600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Notions complémentaires</a:t>
            </a:r>
          </a:p>
          <a:p>
            <a:pPr eaLnBrk="1" hangingPunct="1"/>
            <a:endParaRPr lang="fr-FR" altLang="fr-FR" sz="400" i="1">
              <a:solidFill>
                <a:schemeClr val="accent2"/>
              </a:solidFill>
            </a:endParaRPr>
          </a:p>
          <a:p>
            <a:pPr lvl="1" eaLnBrk="1" hangingPunct="1">
              <a:buFontTx/>
              <a:buChar char="•"/>
            </a:pPr>
            <a:r>
              <a:rPr lang="fr-FR" altLang="fr-FR"/>
              <a:t> </a:t>
            </a:r>
            <a:r>
              <a:rPr lang="fr-FR" altLang="fr-FR" b="1"/>
              <a:t>Formats</a:t>
            </a:r>
          </a:p>
          <a:p>
            <a:pPr eaLnBrk="1" hangingPunct="1"/>
            <a:r>
              <a:rPr lang="fr-FR" altLang="fr-FR" sz="1600"/>
              <a:t>Comme vu dans le chapitre sur la proc Format, il est possible d’affecter un format aux variables que l’on étudie. Ce format va permettre d’améliorer l’affichage des modalités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600"/>
              <a:t> : 			</a:t>
            </a:r>
            <a:r>
              <a:rPr lang="fr-FR" altLang="fr-FR" sz="1400" i="1">
                <a:solidFill>
                  <a:schemeClr val="accent2"/>
                </a:solidFill>
              </a:rPr>
              <a:t>proc format;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value $sexelib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“</a:t>
            </a:r>
            <a:r>
              <a:rPr lang="fr-FR" altLang="fr-FR" sz="1400">
                <a:solidFill>
                  <a:schemeClr val="accent2"/>
                </a:solidFill>
              </a:rPr>
              <a:t> 1 </a:t>
            </a:r>
            <a:r>
              <a:rPr lang="fr-FR" altLang="fr-FR" sz="1400" i="1">
                <a:solidFill>
                  <a:schemeClr val="accent2"/>
                </a:solidFill>
              </a:rPr>
              <a:t>“</a:t>
            </a:r>
            <a:r>
              <a:rPr lang="fr-FR" altLang="fr-FR" sz="1400">
                <a:solidFill>
                  <a:schemeClr val="accent2"/>
                </a:solidFill>
              </a:rPr>
              <a:t> </a:t>
            </a:r>
            <a:r>
              <a:rPr lang="fr-FR" altLang="fr-FR" sz="1400" i="1">
                <a:solidFill>
                  <a:schemeClr val="accent2"/>
                </a:solidFill>
              </a:rPr>
              <a:t>= “Homme”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“</a:t>
            </a:r>
            <a:r>
              <a:rPr lang="fr-FR" altLang="fr-FR" sz="1400">
                <a:solidFill>
                  <a:schemeClr val="accent2"/>
                </a:solidFill>
              </a:rPr>
              <a:t> 2 </a:t>
            </a:r>
            <a:r>
              <a:rPr lang="fr-FR" altLang="fr-FR" sz="1400" i="1">
                <a:solidFill>
                  <a:schemeClr val="accent2"/>
                </a:solidFill>
              </a:rPr>
              <a:t>“</a:t>
            </a:r>
            <a:r>
              <a:rPr lang="fr-FR" altLang="fr-FR" sz="1400">
                <a:solidFill>
                  <a:schemeClr val="accent2"/>
                </a:solidFill>
              </a:rPr>
              <a:t> </a:t>
            </a:r>
            <a:r>
              <a:rPr lang="fr-FR" altLang="fr-FR" sz="1400" i="1">
                <a:solidFill>
                  <a:schemeClr val="accent2"/>
                </a:solidFill>
              </a:rPr>
              <a:t>= “Femme”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run;</a:t>
            </a:r>
          </a:p>
          <a:p>
            <a:pPr algn="ctr" eaLnBrk="1" hangingPunct="1"/>
            <a:endParaRPr lang="fr-FR" altLang="fr-FR" sz="1200"/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proc freq data=donnees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sexe * csp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format sexe $sexelib.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</a:t>
            </a:r>
          </a:p>
          <a:p>
            <a:pPr eaLnBrk="1" hangingPunct="1"/>
            <a:endParaRPr lang="fr-FR" altLang="fr-FR" sz="800" i="1">
              <a:solidFill>
                <a:schemeClr val="accent2"/>
              </a:solidFill>
            </a:endParaRPr>
          </a:p>
          <a:p>
            <a:pPr lvl="1" eaLnBrk="1" hangingPunct="1">
              <a:buFontTx/>
              <a:buChar char="•"/>
            </a:pPr>
            <a:r>
              <a:rPr lang="fr-FR" altLang="fr-FR" b="1"/>
              <a:t> agrégats</a:t>
            </a:r>
          </a:p>
          <a:p>
            <a:pPr eaLnBrk="1" hangingPunct="1"/>
            <a:r>
              <a:rPr lang="fr-FR" altLang="fr-FR" sz="1600"/>
              <a:t>Il est possible d’effectuer des calculs agréger selon une autre variable avec l’instruction </a:t>
            </a:r>
            <a:r>
              <a:rPr lang="fr-FR" altLang="fr-FR" sz="1600" i="1">
                <a:solidFill>
                  <a:schemeClr val="accent2"/>
                </a:solidFill>
              </a:rPr>
              <a:t>by.</a:t>
            </a:r>
            <a:r>
              <a:rPr lang="fr-FR" altLang="fr-FR" sz="1600"/>
              <a:t> Cela permet souvent une lecture plus simple des données. Attention, il faut que la table soit triée selon cette variable avant l’exécution de la </a:t>
            </a:r>
            <a:r>
              <a:rPr lang="fr-FR" altLang="fr-FR" sz="1600" i="1">
                <a:solidFill>
                  <a:schemeClr val="accent2"/>
                </a:solidFill>
              </a:rPr>
              <a:t>proc freq.</a:t>
            </a:r>
          </a:p>
          <a:p>
            <a:pPr eaLnBrk="1" hangingPunct="1"/>
            <a:r>
              <a:rPr lang="fr-FR" altLang="fr-FR" sz="1600" i="1"/>
              <a:t>Exemple</a:t>
            </a:r>
            <a:r>
              <a:rPr lang="fr-FR" altLang="fr-FR" sz="1600"/>
              <a:t> : 			</a:t>
            </a:r>
            <a:r>
              <a:rPr lang="fr-FR" altLang="fr-FR" sz="1400" i="1">
                <a:solidFill>
                  <a:schemeClr val="accent2"/>
                </a:solidFill>
              </a:rPr>
              <a:t>proc sort data=donnees; by sexe;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run;</a:t>
            </a:r>
          </a:p>
          <a:p>
            <a:pPr eaLnBrk="1" hangingPunct="1"/>
            <a:r>
              <a:rPr lang="fr-FR" altLang="fr-FR" sz="1600"/>
              <a:t>				</a:t>
            </a:r>
            <a:r>
              <a:rPr lang="fr-FR" altLang="fr-FR" sz="1400" i="1">
                <a:solidFill>
                  <a:schemeClr val="accent2"/>
                </a:solidFill>
              </a:rPr>
              <a:t>proc freq data=donnees ; by sexe;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tables csp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(1/7)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692150"/>
            <a:ext cx="9144000" cy="60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Préalable :</a:t>
            </a:r>
          </a:p>
          <a:p>
            <a:pPr eaLnBrk="1" hangingPunct="1"/>
            <a:r>
              <a:rPr lang="fr-FR" altLang="fr-FR" sz="1600"/>
              <a:t>La procédure </a:t>
            </a:r>
            <a:r>
              <a:rPr lang="fr-FR" altLang="fr-FR" sz="1600" i="1">
                <a:solidFill>
                  <a:schemeClr val="accent2"/>
                </a:solidFill>
              </a:rPr>
              <a:t>means</a:t>
            </a:r>
            <a:r>
              <a:rPr lang="fr-FR" altLang="fr-FR" sz="1600"/>
              <a:t> permet de calculer la moyenne de variables numériques ainsi que d’autres paramètres de distribution.</a:t>
            </a:r>
          </a:p>
          <a:p>
            <a:pPr eaLnBrk="1" hangingPunct="1"/>
            <a:r>
              <a:rPr lang="fr-FR" altLang="fr-FR" sz="1600" i="1"/>
              <a:t>Syntaxe générale</a:t>
            </a:r>
          </a:p>
          <a:p>
            <a:pPr lvl="3" eaLnBrk="1" hangingPunct="1"/>
            <a:r>
              <a:rPr lang="fr-FR" altLang="fr-FR" sz="1400" i="1"/>
              <a:t>		</a:t>
            </a:r>
            <a:r>
              <a:rPr lang="fr-FR" altLang="fr-FR" sz="1400" i="1">
                <a:solidFill>
                  <a:schemeClr val="accent2"/>
                </a:solidFill>
              </a:rPr>
              <a:t>proc means data = donnees ;</a:t>
            </a:r>
          </a:p>
          <a:p>
            <a:pPr lvl="3" eaLnBrk="1" hangingPunct="1"/>
            <a:r>
              <a:rPr lang="fr-FR" altLang="fr-FR" sz="1400" i="1">
                <a:solidFill>
                  <a:schemeClr val="accent2"/>
                </a:solidFill>
              </a:rPr>
              <a:t>		var age ;</a:t>
            </a:r>
          </a:p>
          <a:p>
            <a:pPr lvl="3" eaLnBrk="1" hangingPunct="1"/>
            <a:r>
              <a:rPr lang="fr-FR" altLang="fr-FR" sz="1400" i="1">
                <a:solidFill>
                  <a:schemeClr val="accent2"/>
                </a:solidFill>
              </a:rPr>
              <a:t>		run ;</a:t>
            </a:r>
          </a:p>
          <a:p>
            <a:pPr eaLnBrk="1" hangingPunct="1"/>
            <a:r>
              <a:rPr lang="fr-FR" altLang="fr-FR" sz="1600"/>
              <a:t>L’instruction proc </a:t>
            </a:r>
            <a:r>
              <a:rPr lang="fr-FR" altLang="fr-FR" sz="1600" i="1">
                <a:solidFill>
                  <a:schemeClr val="accent2"/>
                </a:solidFill>
              </a:rPr>
              <a:t>means</a:t>
            </a:r>
            <a:r>
              <a:rPr lang="fr-FR" altLang="fr-FR" sz="1600"/>
              <a:t> est suivie du nom de la base qui contient les données, introduite par un </a:t>
            </a:r>
            <a:r>
              <a:rPr lang="fr-FR" altLang="fr-FR" sz="1600" i="1">
                <a:solidFill>
                  <a:schemeClr val="accent2"/>
                </a:solidFill>
              </a:rPr>
              <a:t>data =</a:t>
            </a:r>
            <a:r>
              <a:rPr lang="fr-FR" altLang="fr-FR" sz="1600"/>
              <a:t> </a:t>
            </a:r>
          </a:p>
          <a:p>
            <a:pPr eaLnBrk="1" hangingPunct="1"/>
            <a:r>
              <a:rPr lang="fr-FR" altLang="fr-FR" sz="1600"/>
              <a:t>Le mot clé </a:t>
            </a:r>
            <a:r>
              <a:rPr lang="fr-FR" altLang="fr-FR" sz="1600" i="1">
                <a:solidFill>
                  <a:schemeClr val="accent2"/>
                </a:solidFill>
              </a:rPr>
              <a:t>var</a:t>
            </a:r>
            <a:r>
              <a:rPr lang="fr-FR" altLang="fr-FR" sz="1600"/>
              <a:t> introduit la variable dont on souhaite calculer la moyenne. Si on souhaite</a:t>
            </a:r>
          </a:p>
          <a:p>
            <a:pPr eaLnBrk="1" hangingPunct="1"/>
            <a:r>
              <a:rPr lang="fr-FR" altLang="fr-FR" sz="1600"/>
              <a:t>calculer la moyenne de plusieurs variables, il suffit de nommer ces variables après</a:t>
            </a:r>
          </a:p>
          <a:p>
            <a:pPr eaLnBrk="1" hangingPunct="1"/>
            <a:r>
              <a:rPr lang="fr-FR" altLang="fr-FR" sz="1600"/>
              <a:t>l’instruction var en les séparant par un espace.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run ;</a:t>
            </a:r>
            <a:r>
              <a:rPr lang="fr-FR" altLang="fr-FR" sz="1600"/>
              <a:t> indique la fin de la séquence de programme.</a:t>
            </a:r>
          </a:p>
          <a:p>
            <a:pPr eaLnBrk="1" hangingPunct="1"/>
            <a:r>
              <a:rPr lang="fr-FR" altLang="fr-FR" sz="1600" u="sng"/>
              <a:t>Résultats</a:t>
            </a:r>
            <a:r>
              <a:rPr lang="fr-FR" altLang="fr-FR" sz="1600"/>
              <a:t> : par défaut, SAS affiche les informations suivantes : nombre d’observations prises en compte, moyenne, écart-type, minimum, maximum</a:t>
            </a:r>
          </a:p>
          <a:p>
            <a:pPr eaLnBrk="1" hangingPunct="1"/>
            <a:endParaRPr lang="fr-FR" altLang="fr-FR" sz="1600"/>
          </a:p>
          <a:p>
            <a:pPr eaLnBrk="1" hangingPunct="1"/>
            <a:endParaRPr lang="fr-FR" altLang="fr-FR" sz="1600"/>
          </a:p>
          <a:p>
            <a:pPr eaLnBrk="1" hangingPunct="1"/>
            <a:endParaRPr lang="fr-FR" altLang="fr-FR" sz="1600"/>
          </a:p>
          <a:p>
            <a:pPr eaLnBrk="1" hangingPunct="1"/>
            <a:endParaRPr lang="fr-FR" altLang="fr-FR" sz="1600"/>
          </a:p>
          <a:p>
            <a:pPr eaLnBrk="1" hangingPunct="1"/>
            <a:endParaRPr lang="fr-FR" altLang="fr-FR" sz="1200"/>
          </a:p>
          <a:p>
            <a:pPr eaLnBrk="1" hangingPunct="1"/>
            <a:endParaRPr lang="fr-FR" altLang="fr-FR" sz="1200"/>
          </a:p>
          <a:p>
            <a:pPr eaLnBrk="1" hangingPunct="1"/>
            <a:endParaRPr lang="fr-FR" altLang="fr-FR" sz="1200"/>
          </a:p>
          <a:p>
            <a:pPr eaLnBrk="1" hangingPunct="1"/>
            <a:endParaRPr lang="fr-FR" altLang="fr-FR" sz="1200"/>
          </a:p>
          <a:p>
            <a:pPr eaLnBrk="1" hangingPunct="1"/>
            <a:endParaRPr lang="fr-FR" altLang="fr-FR" sz="1200"/>
          </a:p>
          <a:p>
            <a:pPr eaLnBrk="1" hangingPunct="1"/>
            <a:r>
              <a:rPr lang="fr-FR" altLang="fr-FR" sz="1600"/>
              <a:t>On peut obtenir une moyenne pondérée par une variable (la variable de pondération « poids »</a:t>
            </a:r>
          </a:p>
          <a:p>
            <a:pPr eaLnBrk="1" hangingPunct="1"/>
            <a:r>
              <a:rPr lang="fr-FR" altLang="fr-FR" sz="1600"/>
              <a:t>par exemple) en incluant dans la syntaxe l’instruction </a:t>
            </a:r>
            <a:r>
              <a:rPr lang="fr-FR" altLang="fr-FR" sz="1600" i="1">
                <a:solidFill>
                  <a:schemeClr val="accent2"/>
                </a:solidFill>
              </a:rPr>
              <a:t>weight poids ;</a:t>
            </a:r>
            <a:endParaRPr lang="fr-FR" altLang="fr-FR" sz="1200"/>
          </a:p>
        </p:txBody>
      </p:sp>
      <p:pic>
        <p:nvPicPr>
          <p:cNvPr id="16388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4368800"/>
            <a:ext cx="8316913" cy="17621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(2/7)</a:t>
            </a:r>
          </a:p>
        </p:txBody>
      </p:sp>
      <p:grpSp>
        <p:nvGrpSpPr>
          <p:cNvPr id="17411" name="Group 8"/>
          <p:cNvGrpSpPr>
            <a:grpSpLocks/>
          </p:cNvGrpSpPr>
          <p:nvPr/>
        </p:nvGrpSpPr>
        <p:grpSpPr bwMode="auto">
          <a:xfrm>
            <a:off x="0" y="692150"/>
            <a:ext cx="9144000" cy="6100763"/>
            <a:chOff x="0" y="436"/>
            <a:chExt cx="5760" cy="3843"/>
          </a:xfrm>
        </p:grpSpPr>
        <p:sp>
          <p:nvSpPr>
            <p:cNvPr id="17412" name="Text Box 3"/>
            <p:cNvSpPr txBox="1">
              <a:spLocks noChangeArrowheads="1"/>
            </p:cNvSpPr>
            <p:nvPr/>
          </p:nvSpPr>
          <p:spPr bwMode="auto">
            <a:xfrm>
              <a:off x="0" y="436"/>
              <a:ext cx="5760" cy="2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 b="1"/>
                <a:t>Options de la proc means :</a:t>
              </a:r>
            </a:p>
            <a:p>
              <a:pPr eaLnBrk="1" hangingPunct="1"/>
              <a:r>
                <a:rPr lang="fr-FR" altLang="fr-FR" sz="1600"/>
                <a:t>On peut introduire des options qui interdisent l’affichage des options par défaut et n’affichent que celles qui vont être spécifiées :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le nombre d’observations ayant un contenu non manquant </a:t>
              </a:r>
              <a:r>
                <a:rPr lang="fr-FR" altLang="fr-FR" sz="1600" i="1">
                  <a:solidFill>
                    <a:schemeClr val="accent2"/>
                  </a:solidFill>
                </a:rPr>
                <a:t>n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le nombre d’observations ayant un contenu manquant </a:t>
              </a:r>
              <a:r>
                <a:rPr lang="fr-FR" altLang="fr-FR" sz="1600" i="1">
                  <a:solidFill>
                    <a:schemeClr val="accent2"/>
                  </a:solidFill>
                </a:rPr>
                <a:t>nmiss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les valeurs minimum et maximum </a:t>
              </a:r>
              <a:r>
                <a:rPr lang="fr-FR" altLang="fr-FR" sz="1600" i="1">
                  <a:solidFill>
                    <a:schemeClr val="accent2"/>
                  </a:solidFill>
                </a:rPr>
                <a:t>min</a:t>
              </a:r>
              <a:r>
                <a:rPr lang="fr-FR" altLang="fr-FR" sz="1600"/>
                <a:t> </a:t>
              </a:r>
              <a:r>
                <a:rPr lang="fr-FR" altLang="fr-FR" sz="1600" i="1">
                  <a:solidFill>
                    <a:schemeClr val="accent2"/>
                  </a:solidFill>
                </a:rPr>
                <a:t>max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l’intervalle </a:t>
              </a:r>
              <a:r>
                <a:rPr lang="fr-FR" altLang="fr-FR" sz="1600" i="1">
                  <a:solidFill>
                    <a:schemeClr val="accent2"/>
                  </a:solidFill>
                </a:rPr>
                <a:t>range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la somme des valeurs </a:t>
              </a:r>
              <a:r>
                <a:rPr lang="fr-FR" altLang="fr-FR" sz="1600" i="1">
                  <a:solidFill>
                    <a:schemeClr val="accent2"/>
                  </a:solidFill>
                </a:rPr>
                <a:t>sum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la moyenne </a:t>
              </a:r>
              <a:r>
                <a:rPr lang="fr-FR" altLang="fr-FR" sz="1600" i="1">
                  <a:solidFill>
                    <a:schemeClr val="accent2"/>
                  </a:solidFill>
                </a:rPr>
                <a:t>mean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la variance </a:t>
              </a:r>
              <a:r>
                <a:rPr lang="fr-FR" altLang="fr-FR" sz="1600" i="1">
                  <a:solidFill>
                    <a:schemeClr val="accent2"/>
                  </a:solidFill>
                </a:rPr>
                <a:t>var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l’écart-type </a:t>
              </a:r>
              <a:r>
                <a:rPr lang="fr-FR" altLang="fr-FR" sz="1600" i="1">
                  <a:solidFill>
                    <a:schemeClr val="accent2"/>
                  </a:solidFill>
                </a:rPr>
                <a:t>std</a:t>
              </a:r>
              <a:r>
                <a:rPr lang="fr-FR" altLang="fr-FR" sz="1600"/>
                <a:t> (comme standard deviation)</a:t>
              </a:r>
            </a:p>
            <a:p>
              <a:pPr lvl="1" eaLnBrk="1" hangingPunct="1">
                <a:buFontTx/>
                <a:buChar char="•"/>
              </a:pPr>
              <a:r>
                <a:rPr lang="fr-FR" altLang="fr-FR" sz="1600"/>
                <a:t> le nombre x de décimales à afficher </a:t>
              </a:r>
              <a:r>
                <a:rPr lang="fr-FR" altLang="fr-FR" sz="1600" i="1">
                  <a:solidFill>
                    <a:schemeClr val="accent2"/>
                  </a:solidFill>
                </a:rPr>
                <a:t>maxdec=x</a:t>
              </a:r>
            </a:p>
            <a:p>
              <a:pPr eaLnBrk="1" hangingPunct="1"/>
              <a:r>
                <a:rPr lang="fr-FR" altLang="fr-FR" sz="1600"/>
                <a:t>Les options s’écrivent sur la ligne du </a:t>
              </a:r>
              <a:r>
                <a:rPr lang="fr-FR" altLang="fr-FR" sz="1600" i="1">
                  <a:solidFill>
                    <a:schemeClr val="accent2"/>
                  </a:solidFill>
                </a:rPr>
                <a:t>proc</a:t>
              </a:r>
              <a:r>
                <a:rPr lang="fr-FR" altLang="fr-FR" sz="1600"/>
                <a:t> </a:t>
              </a:r>
              <a:r>
                <a:rPr lang="fr-FR" altLang="fr-FR" sz="1600" i="1">
                  <a:solidFill>
                    <a:schemeClr val="accent2"/>
                  </a:solidFill>
                </a:rPr>
                <a:t>means</a:t>
              </a:r>
              <a:r>
                <a:rPr lang="fr-FR" altLang="fr-FR" sz="1600"/>
                <a:t>, après le nom du fichier et avant le  </a:t>
              </a:r>
              <a:r>
                <a:rPr lang="fr-FR" altLang="fr-FR" sz="1600" i="1">
                  <a:solidFill>
                    <a:schemeClr val="accent2"/>
                  </a:solidFill>
                </a:rPr>
                <a:t>;</a:t>
              </a:r>
              <a:r>
                <a:rPr lang="fr-FR" altLang="fr-FR" sz="1600"/>
                <a:t> avec un espace comme séparateur.</a:t>
              </a:r>
            </a:p>
            <a:p>
              <a:pPr eaLnBrk="1" hangingPunct="1"/>
              <a:r>
                <a:rPr lang="fr-FR" altLang="fr-FR" sz="1600" i="1"/>
                <a:t>Exemple :</a:t>
              </a:r>
            </a:p>
            <a:p>
              <a:pPr eaLnBrk="1" hangingPunct="1"/>
              <a:r>
                <a:rPr lang="fr-FR" altLang="fr-FR" sz="1400" i="1"/>
                <a:t>			</a:t>
              </a:r>
              <a:r>
                <a:rPr lang="fr-FR" altLang="fr-FR" sz="1400" i="1">
                  <a:solidFill>
                    <a:schemeClr val="accent2"/>
                  </a:solidFill>
                </a:rPr>
                <a:t>proc means data = donnees mean maxdec=1 sum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var age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run ;</a:t>
              </a:r>
            </a:p>
            <a:p>
              <a:pPr eaLnBrk="1" hangingPunct="1"/>
              <a:endParaRPr lang="fr-FR" altLang="fr-FR" sz="1000" i="1">
                <a:solidFill>
                  <a:schemeClr val="accent2"/>
                </a:solidFill>
              </a:endParaRPr>
            </a:p>
          </p:txBody>
        </p:sp>
        <p:pic>
          <p:nvPicPr>
            <p:cNvPr id="17413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7" y="3249"/>
              <a:ext cx="2358" cy="10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(3/7)</a:t>
            </a:r>
          </a:p>
        </p:txBody>
      </p:sp>
      <p:grpSp>
        <p:nvGrpSpPr>
          <p:cNvPr id="18435" name="Group 8"/>
          <p:cNvGrpSpPr>
            <a:grpSpLocks/>
          </p:cNvGrpSpPr>
          <p:nvPr/>
        </p:nvGrpSpPr>
        <p:grpSpPr bwMode="auto">
          <a:xfrm>
            <a:off x="0" y="692150"/>
            <a:ext cx="9144000" cy="5683250"/>
            <a:chOff x="0" y="436"/>
            <a:chExt cx="5760" cy="3580"/>
          </a:xfrm>
        </p:grpSpPr>
        <p:sp>
          <p:nvSpPr>
            <p:cNvPr id="18436" name="Text Box 3"/>
            <p:cNvSpPr txBox="1">
              <a:spLocks noChangeArrowheads="1"/>
            </p:cNvSpPr>
            <p:nvPr/>
          </p:nvSpPr>
          <p:spPr bwMode="auto">
            <a:xfrm>
              <a:off x="0" y="436"/>
              <a:ext cx="5760" cy="2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 b="1"/>
                <a:t>Calculer une moyenne pour des groupes de population</a:t>
              </a:r>
              <a:r>
                <a:rPr lang="fr-FR" altLang="fr-FR" sz="1400" b="1"/>
                <a:t>:</a:t>
              </a:r>
            </a:p>
            <a:p>
              <a:pPr eaLnBrk="1" hangingPunct="1"/>
              <a:r>
                <a:rPr lang="fr-FR" altLang="fr-FR" sz="1600"/>
                <a:t>Il est possible de calculer une moyenne non pas sur toute la population mais sur des sous-ensembles de cette population, identifiés par une variable « de classement ». La variable sexe</a:t>
              </a:r>
            </a:p>
            <a:p>
              <a:pPr eaLnBrk="1" hangingPunct="1"/>
              <a:r>
                <a:rPr lang="fr-FR" altLang="fr-FR" sz="1600"/>
                <a:t>permet par exemple de définir un groupe « hommes » et un groupe « femmes ».</a:t>
              </a:r>
            </a:p>
            <a:p>
              <a:pPr eaLnBrk="1" hangingPunct="1"/>
              <a:r>
                <a:rPr lang="fr-FR" altLang="fr-FR" sz="1600"/>
                <a:t>La variable qui classe la population en sous-populations est introduite par le mot clé </a:t>
              </a:r>
              <a:r>
                <a:rPr lang="fr-FR" altLang="fr-FR" sz="1600" i="1">
                  <a:solidFill>
                    <a:schemeClr val="accent2"/>
                  </a:solidFill>
                </a:rPr>
                <a:t>class</a:t>
              </a:r>
              <a:r>
                <a:rPr lang="fr-FR" altLang="fr-FR" sz="1600"/>
                <a:t>.</a:t>
              </a:r>
            </a:p>
            <a:p>
              <a:pPr eaLnBrk="1" hangingPunct="1"/>
              <a:r>
                <a:rPr lang="fr-FR" altLang="fr-FR" sz="1600"/>
                <a:t>Ainsi, pour calculer la moyenne d’âge des hommes et celle des femmes, la syntaxe sera :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proc means data=donnees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class sexe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var age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run ;</a:t>
              </a:r>
            </a:p>
            <a:p>
              <a:pPr eaLnBrk="1" hangingPunct="1"/>
              <a:r>
                <a:rPr lang="fr-FR" altLang="fr-FR" sz="1600"/>
                <a:t>SAS éditera alors plusieurs lignes de résultats : une ligne pour les hommes et une ligne pour</a:t>
              </a:r>
            </a:p>
            <a:p>
              <a:pPr eaLnBrk="1" hangingPunct="1"/>
              <a:r>
                <a:rPr lang="fr-FR" altLang="fr-FR" sz="1600"/>
                <a:t>les femmes.</a:t>
              </a:r>
            </a:p>
            <a:p>
              <a:pPr eaLnBrk="1" hangingPunct="1"/>
              <a:r>
                <a:rPr lang="fr-FR" altLang="fr-FR" sz="1600"/>
                <a:t>Il peut être utile d’associer un format à cette variable de classement, format qui devra avoir</a:t>
              </a:r>
            </a:p>
            <a:p>
              <a:pPr eaLnBrk="1" hangingPunct="1"/>
              <a:r>
                <a:rPr lang="fr-FR" altLang="fr-FR" sz="1600"/>
                <a:t>été défini au préalable. Le format permettra une lecture plus claire des résultats.</a:t>
              </a:r>
              <a:endParaRPr lang="fr-FR" altLang="fr-FR" sz="1400"/>
            </a:p>
          </p:txBody>
        </p:sp>
        <p:pic>
          <p:nvPicPr>
            <p:cNvPr id="18437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568"/>
              <a:ext cx="5738" cy="1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(4/7)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757238"/>
            <a:ext cx="9144000" cy="475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Calculer des moyennes selon des combinaisons de variables</a:t>
            </a:r>
            <a:r>
              <a:rPr lang="fr-FR" altLang="fr-FR" sz="1400" b="1"/>
              <a:t>:</a:t>
            </a:r>
          </a:p>
          <a:p>
            <a:pPr eaLnBrk="1" hangingPunct="1"/>
            <a:r>
              <a:rPr lang="fr-FR" altLang="fr-FR" sz="1600"/>
              <a:t>L’instruction </a:t>
            </a:r>
            <a:r>
              <a:rPr lang="fr-FR" altLang="fr-FR" sz="1600" i="1">
                <a:solidFill>
                  <a:schemeClr val="accent2"/>
                </a:solidFill>
              </a:rPr>
              <a:t>TYPES</a:t>
            </a:r>
            <a:r>
              <a:rPr lang="fr-FR" altLang="fr-FR" sz="1600"/>
              <a:t> permet de définir quelles moyennes doivent être calculées et selon</a:t>
            </a:r>
          </a:p>
          <a:p>
            <a:pPr eaLnBrk="1" hangingPunct="1"/>
            <a:r>
              <a:rPr lang="fr-FR" altLang="fr-FR" sz="1600"/>
              <a:t>quelles combinaisons de variables. Les combinaisons de variables s’écrivent grâce à une étoile </a:t>
            </a:r>
            <a:r>
              <a:rPr lang="fr-FR" altLang="fr-FR" sz="1600" i="1">
                <a:solidFill>
                  <a:schemeClr val="accent2"/>
                </a:solidFill>
              </a:rPr>
              <a:t>*</a:t>
            </a:r>
          </a:p>
          <a:p>
            <a:pPr eaLnBrk="1" hangingPunct="1"/>
            <a:r>
              <a:rPr lang="fr-FR" altLang="fr-FR" sz="1600"/>
              <a:t>L’instruction </a:t>
            </a:r>
            <a:r>
              <a:rPr lang="fr-FR" altLang="fr-FR" sz="1600" i="1">
                <a:solidFill>
                  <a:schemeClr val="accent2"/>
                </a:solidFill>
              </a:rPr>
              <a:t>TYPES</a:t>
            </a:r>
            <a:r>
              <a:rPr lang="fr-FR" altLang="fr-FR" sz="1600"/>
              <a:t> doit obligatoirement être précédée d’une instruction </a:t>
            </a:r>
            <a:r>
              <a:rPr lang="fr-FR" altLang="fr-FR" sz="1600" i="1">
                <a:solidFill>
                  <a:schemeClr val="accent2"/>
                </a:solidFill>
              </a:rPr>
              <a:t>CLASS</a:t>
            </a:r>
            <a:r>
              <a:rPr lang="fr-FR" altLang="fr-FR" sz="1600"/>
              <a:t>. Toutes les variables qui seront utilisées dans l’instruction </a:t>
            </a:r>
            <a:r>
              <a:rPr lang="fr-FR" altLang="fr-FR" sz="1600" i="1">
                <a:solidFill>
                  <a:schemeClr val="accent2"/>
                </a:solidFill>
              </a:rPr>
              <a:t>TYPES</a:t>
            </a:r>
            <a:r>
              <a:rPr lang="fr-FR" altLang="fr-FR" sz="1600"/>
              <a:t> doivent </a:t>
            </a:r>
            <a:r>
              <a:rPr lang="fr-FR" altLang="fr-FR" sz="1600" b="1"/>
              <a:t>obligatoirement au préalable </a:t>
            </a:r>
            <a:r>
              <a:rPr lang="fr-FR" altLang="fr-FR" sz="1600"/>
              <a:t>être déclarées dans l’instruction </a:t>
            </a:r>
            <a:r>
              <a:rPr lang="fr-FR" altLang="fr-FR" sz="1600" i="1">
                <a:solidFill>
                  <a:schemeClr val="accent2"/>
                </a:solidFill>
              </a:rPr>
              <a:t>CLASS</a:t>
            </a:r>
            <a:r>
              <a:rPr lang="fr-FR" altLang="fr-FR" sz="1600"/>
              <a:t>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 avec une combinaison du sexe (homme/femme) et de l’activité sportive pratiquée (natation/gym)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proc means data=libname.donnees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format sexe $genre.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class sexe activite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Types ( ) sexe sexe * activite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var age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endParaRPr lang="fr-FR" altLang="fr-FR" sz="1400" i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Cette programmation permet d’obtenir :</a:t>
            </a:r>
          </a:p>
          <a:p>
            <a:pPr eaLnBrk="1" hangingPunct="1"/>
            <a:r>
              <a:rPr lang="fr-FR" altLang="fr-FR" sz="1600"/>
              <a:t>- la moyenne d’âge de l’ensemble de l’échantillon </a:t>
            </a:r>
            <a:r>
              <a:rPr lang="fr-FR" altLang="fr-FR" sz="1600" i="1">
                <a:solidFill>
                  <a:schemeClr val="accent2"/>
                </a:solidFill>
              </a:rPr>
              <a:t>( )</a:t>
            </a:r>
          </a:p>
          <a:p>
            <a:pPr eaLnBrk="1" hangingPunct="1"/>
            <a:r>
              <a:rPr lang="fr-FR" altLang="fr-FR" sz="1600"/>
              <a:t>- la moyenne d’âge pour les hommes et pour les femmes </a:t>
            </a:r>
            <a:r>
              <a:rPr lang="fr-FR" altLang="fr-FR" sz="1600" i="1">
                <a:solidFill>
                  <a:schemeClr val="accent2"/>
                </a:solidFill>
              </a:rPr>
              <a:t>sexe</a:t>
            </a:r>
          </a:p>
          <a:p>
            <a:pPr eaLnBrk="1" hangingPunct="1"/>
            <a:r>
              <a:rPr lang="fr-FR" altLang="fr-FR" sz="1600"/>
              <a:t>- la moyenne d’âge pour chacune des combinaisons des variables sexe et activite </a:t>
            </a:r>
            <a:r>
              <a:rPr lang="fr-FR" altLang="fr-FR" sz="1600" i="1">
                <a:solidFill>
                  <a:schemeClr val="accent2"/>
                </a:solidFill>
              </a:rPr>
              <a:t>sexe*activite</a:t>
            </a:r>
            <a:endParaRPr lang="fr-FR" altLang="fr-FR" sz="14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(5/7)</a:t>
            </a:r>
          </a:p>
        </p:txBody>
      </p:sp>
      <p:pic>
        <p:nvPicPr>
          <p:cNvPr id="2048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692150"/>
            <a:ext cx="5164137" cy="597693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(6/7)</a:t>
            </a:r>
          </a:p>
        </p:txBody>
      </p:sp>
      <p:grpSp>
        <p:nvGrpSpPr>
          <p:cNvPr id="21507" name="Group 6"/>
          <p:cNvGrpSpPr>
            <a:grpSpLocks/>
          </p:cNvGrpSpPr>
          <p:nvPr/>
        </p:nvGrpSpPr>
        <p:grpSpPr bwMode="auto">
          <a:xfrm>
            <a:off x="0" y="620713"/>
            <a:ext cx="9144000" cy="6202362"/>
            <a:chOff x="0" y="391"/>
            <a:chExt cx="5760" cy="3907"/>
          </a:xfrm>
        </p:grpSpPr>
        <p:sp>
          <p:nvSpPr>
            <p:cNvPr id="21508" name="Text Box 3"/>
            <p:cNvSpPr txBox="1">
              <a:spLocks noChangeArrowheads="1"/>
            </p:cNvSpPr>
            <p:nvPr/>
          </p:nvSpPr>
          <p:spPr bwMode="auto">
            <a:xfrm>
              <a:off x="0" y="391"/>
              <a:ext cx="5760" cy="3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 b="1"/>
                <a:t>Créer un tableau de sortie</a:t>
              </a:r>
              <a:r>
                <a:rPr lang="fr-FR" altLang="fr-FR" b="1"/>
                <a:t> </a:t>
              </a:r>
              <a:r>
                <a:rPr lang="fr-FR" altLang="fr-FR" sz="1600" b="1"/>
                <a:t>:</a:t>
              </a:r>
            </a:p>
            <a:p>
              <a:pPr eaLnBrk="1" hangingPunct="1"/>
              <a:r>
                <a:rPr lang="fr-FR" altLang="fr-FR" sz="1400"/>
                <a:t>Il peut être utile de sauvegarder dans une nouvelle base de données les calculs effectués. Ils</a:t>
              </a:r>
            </a:p>
            <a:p>
              <a:pPr eaLnBrk="1" hangingPunct="1"/>
              <a:r>
                <a:rPr lang="fr-FR" altLang="fr-FR" sz="1400"/>
                <a:t>seront alors « réutilisables ». Ceci est possible grâce à l’instruction </a:t>
              </a:r>
              <a:r>
                <a:rPr lang="fr-FR" altLang="fr-FR" sz="1400" i="1">
                  <a:solidFill>
                    <a:schemeClr val="accent2"/>
                  </a:solidFill>
                </a:rPr>
                <a:t>output out =</a:t>
              </a:r>
              <a:r>
                <a:rPr lang="fr-FR" altLang="fr-FR" sz="1400"/>
                <a:t> suivie du</a:t>
              </a:r>
            </a:p>
            <a:p>
              <a:pPr eaLnBrk="1" hangingPunct="1"/>
              <a:r>
                <a:rPr lang="fr-FR" altLang="fr-FR" sz="1400"/>
                <a:t>nom de la nouvelle base de données.</a:t>
              </a:r>
            </a:p>
            <a:p>
              <a:pPr eaLnBrk="1" hangingPunct="1"/>
              <a:r>
                <a:rPr lang="fr-FR" altLang="fr-FR" sz="1400"/>
                <a:t>Dans la base « valeurs », SAS génère par défaut trois nouvelles variables :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_STAT_</a:t>
              </a:r>
              <a:r>
                <a:rPr lang="fr-FR" altLang="fr-FR" sz="1400"/>
                <a:t> contient le nom des statistiques figurant dans le tableau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_FREQ_</a:t>
              </a:r>
              <a:r>
                <a:rPr lang="fr-FR" altLang="fr-FR" sz="1400"/>
                <a:t> contient le nombre d’observations sur lequel les calculs ont été effectués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_TYPE_</a:t>
              </a:r>
              <a:r>
                <a:rPr lang="fr-FR" altLang="fr-FR" sz="1400"/>
                <a:t> donne le nombre de critères de tri utilisés pour le calcul des statistiques. Par défaut elle vaut 0 ; si on utilise l’instruction </a:t>
              </a:r>
              <a:r>
                <a:rPr lang="fr-FR" altLang="fr-FR" sz="1400" i="1">
                  <a:solidFill>
                    <a:schemeClr val="accent2"/>
                  </a:solidFill>
                </a:rPr>
                <a:t>class</a:t>
              </a:r>
              <a:r>
                <a:rPr lang="fr-FR" altLang="fr-FR" sz="1400"/>
                <a:t> elle vaudra 1.</a:t>
              </a:r>
            </a:p>
            <a:p>
              <a:pPr eaLnBrk="1" hangingPunct="1"/>
              <a:endParaRPr lang="fr-FR" altLang="fr-FR" sz="1400"/>
            </a:p>
            <a:p>
              <a:pPr eaLnBrk="1" hangingPunct="1"/>
              <a:r>
                <a:rPr lang="fr-FR" altLang="fr-FR" sz="1400"/>
                <a:t>Pour faire apparaître uniquement la statistique souhaitée, on indiquera sur la ligne output out= , en fin de ligne mais avant le  ; le nom de la statistique souhaitée suivie du signe =.</a:t>
              </a:r>
            </a:p>
            <a:p>
              <a:pPr eaLnBrk="1" hangingPunct="1"/>
              <a:r>
                <a:rPr lang="fr-FR" altLang="fr-FR" sz="1400"/>
                <a:t>La statistique prend alors le nom de la variable sur laquelle elle porte.</a:t>
              </a:r>
            </a:p>
            <a:p>
              <a:pPr eaLnBrk="1" hangingPunct="1"/>
              <a:r>
                <a:rPr lang="fr-FR" altLang="fr-FR" sz="1400" i="1"/>
                <a:t>Exemple :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proc means data=donnees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class sexe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var age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Output out = valeur mean =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run ;</a:t>
              </a:r>
            </a:p>
            <a:p>
              <a:pPr eaLnBrk="1" hangingPunct="1"/>
              <a:r>
                <a:rPr lang="fr-FR" altLang="fr-FR" sz="1400"/>
                <a:t>Dans cet exemple, la moyenne d’âge est calculée pour les hommes et pour les femmes.</a:t>
              </a:r>
            </a:p>
            <a:p>
              <a:pPr eaLnBrk="1" hangingPunct="1"/>
              <a:r>
                <a:rPr lang="fr-FR" altLang="fr-FR" sz="1400"/>
                <a:t>SAS crée également un tableau nommé « valeur ».</a:t>
              </a:r>
            </a:p>
            <a:p>
              <a:pPr eaLnBrk="1" hangingPunct="1"/>
              <a:r>
                <a:rPr lang="fr-FR" altLang="fr-FR" sz="1400"/>
                <a:t>L’indication mean =  à la fin de la ligne permet de ne conserver que l’affichage de la moyenne.</a:t>
              </a:r>
              <a:endParaRPr lang="fr-FR" altLang="fr-FR" sz="1400" i="1">
                <a:solidFill>
                  <a:schemeClr val="accent2"/>
                </a:solidFill>
              </a:endParaRPr>
            </a:p>
          </p:txBody>
        </p:sp>
        <p:pic>
          <p:nvPicPr>
            <p:cNvPr id="2150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3430"/>
              <a:ext cx="2767" cy="8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MEANS (7/7)</a:t>
            </a:r>
          </a:p>
        </p:txBody>
      </p:sp>
      <p:grpSp>
        <p:nvGrpSpPr>
          <p:cNvPr id="22531" name="Group 6"/>
          <p:cNvGrpSpPr>
            <a:grpSpLocks/>
          </p:cNvGrpSpPr>
          <p:nvPr/>
        </p:nvGrpSpPr>
        <p:grpSpPr bwMode="auto">
          <a:xfrm>
            <a:off x="0" y="757238"/>
            <a:ext cx="9144000" cy="5800725"/>
            <a:chOff x="0" y="477"/>
            <a:chExt cx="5760" cy="3654"/>
          </a:xfrm>
        </p:grpSpPr>
        <p:sp>
          <p:nvSpPr>
            <p:cNvPr id="22532" name="Text Box 3"/>
            <p:cNvSpPr txBox="1">
              <a:spLocks noChangeArrowheads="1"/>
            </p:cNvSpPr>
            <p:nvPr/>
          </p:nvSpPr>
          <p:spPr bwMode="auto">
            <a:xfrm>
              <a:off x="0" y="477"/>
              <a:ext cx="5760" cy="3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/>
                <a:t>Pour demander la statistique de plusieurs variables en même temps, il suffira d’indiquer leur nom entre parenthèses avant le signe </a:t>
              </a:r>
              <a:r>
                <a:rPr lang="fr-FR" altLang="fr-FR" sz="1600" i="1">
                  <a:solidFill>
                    <a:schemeClr val="accent2"/>
                  </a:solidFill>
                </a:rPr>
                <a:t>=</a:t>
              </a:r>
              <a:r>
                <a:rPr lang="fr-FR" altLang="fr-FR" sz="1600"/>
                <a:t>.</a:t>
              </a:r>
            </a:p>
            <a:p>
              <a:pPr eaLnBrk="1" hangingPunct="1"/>
              <a:r>
                <a:rPr lang="fr-FR" altLang="fr-FR" sz="1600"/>
                <a:t>Exemple : </a:t>
              </a:r>
              <a:r>
                <a:rPr lang="fr-FR" altLang="fr-FR" sz="1600" i="1">
                  <a:solidFill>
                    <a:schemeClr val="accent2"/>
                  </a:solidFill>
                </a:rPr>
                <a:t>output out=valeurs mean (poids taille) = ;</a:t>
              </a:r>
            </a:p>
            <a:p>
              <a:pPr eaLnBrk="1" hangingPunct="1"/>
              <a:r>
                <a:rPr lang="fr-FR" altLang="fr-FR" sz="1600"/>
                <a:t>Il est possible de calculer des statistiques différentes sur des variables différentes dans une</a:t>
              </a:r>
            </a:p>
            <a:p>
              <a:pPr eaLnBrk="1" hangingPunct="1"/>
              <a:r>
                <a:rPr lang="fr-FR" altLang="fr-FR" sz="1600"/>
                <a:t>même base de données :</a:t>
              </a:r>
            </a:p>
            <a:p>
              <a:pPr eaLnBrk="1" hangingPunct="1"/>
              <a:r>
                <a:rPr lang="fr-FR" altLang="fr-FR" sz="1600" i="1"/>
                <a:t>Exemple :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proc means data=donnees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class sexe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var cotis age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Output out = valeurs sum (cotis) = mean (age) = ;</a:t>
              </a:r>
            </a:p>
            <a:p>
              <a:pPr eaLnBrk="1" hangingPunct="1"/>
              <a:r>
                <a:rPr lang="fr-FR" altLang="fr-FR" sz="1400" i="1">
                  <a:solidFill>
                    <a:schemeClr val="accent2"/>
                  </a:solidFill>
                </a:rPr>
                <a:t>				run ;</a:t>
              </a:r>
            </a:p>
            <a:p>
              <a:pPr eaLnBrk="1" hangingPunct="1"/>
              <a:r>
                <a:rPr lang="fr-FR" altLang="fr-FR" sz="1600"/>
                <a:t>Dans cet exemple, la base </a:t>
              </a:r>
              <a:r>
                <a:rPr lang="fr-FR" altLang="fr-FR" sz="1600" i="1">
                  <a:solidFill>
                    <a:schemeClr val="accent2"/>
                  </a:solidFill>
                </a:rPr>
                <a:t>valeurs</a:t>
              </a:r>
              <a:r>
                <a:rPr lang="fr-FR" altLang="fr-FR" sz="1600"/>
                <a:t> contiendra la somme des cotisations ainsi que la moyenne</a:t>
              </a:r>
            </a:p>
            <a:p>
              <a:pPr eaLnBrk="1" hangingPunct="1"/>
              <a:r>
                <a:rPr lang="fr-FR" altLang="fr-FR" sz="1600"/>
                <a:t>d’âge pour chaque sexe et pour l’ensemble.</a:t>
              </a:r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endParaRPr lang="fr-FR" altLang="fr-FR" sz="1600"/>
            </a:p>
            <a:p>
              <a:pPr eaLnBrk="1" hangingPunct="1"/>
              <a:r>
                <a:rPr lang="fr-FR" altLang="fr-FR" sz="1600"/>
                <a:t>L’option </a:t>
              </a:r>
              <a:r>
                <a:rPr lang="fr-FR" altLang="fr-FR" sz="1600" i="1">
                  <a:solidFill>
                    <a:schemeClr val="accent2"/>
                  </a:solidFill>
                </a:rPr>
                <a:t>noprint</a:t>
              </a:r>
              <a:r>
                <a:rPr lang="fr-FR" altLang="fr-FR" sz="1600"/>
                <a:t> à la fin de la ligne </a:t>
              </a:r>
              <a:r>
                <a:rPr lang="fr-FR" altLang="fr-FR" sz="1600" i="1">
                  <a:solidFill>
                    <a:schemeClr val="accent2"/>
                  </a:solidFill>
                </a:rPr>
                <a:t>proc means</a:t>
              </a:r>
              <a:r>
                <a:rPr lang="fr-FR" altLang="fr-FR" sz="1600"/>
                <a:t> et avant le  </a:t>
              </a:r>
              <a:r>
                <a:rPr lang="fr-FR" altLang="fr-FR" sz="1600" i="1">
                  <a:solidFill>
                    <a:schemeClr val="accent2"/>
                  </a:solidFill>
                </a:rPr>
                <a:t>;</a:t>
              </a:r>
              <a:r>
                <a:rPr lang="fr-FR" altLang="fr-FR" sz="1600"/>
                <a:t> permet de ne pas afficher les résultats dans l’output, la procédure sert alors uniquement à créer la base de données. Très utile lors de l’utilisation d’un class sur une variable ayant beaucoup de valeurs.</a:t>
              </a:r>
              <a:endParaRPr lang="fr-FR" altLang="fr-FR" sz="1400"/>
            </a:p>
          </p:txBody>
        </p:sp>
        <p:pic>
          <p:nvPicPr>
            <p:cNvPr id="2253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" y="2478"/>
              <a:ext cx="3811" cy="1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PROC UNIVARIATE (1/1)</a:t>
            </a:r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0" y="892175"/>
            <a:ext cx="9144000" cy="490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Préalable :</a:t>
            </a:r>
          </a:p>
          <a:p>
            <a:pPr eaLnBrk="1" hangingPunct="1"/>
            <a:r>
              <a:rPr lang="fr-FR" altLang="fr-FR" sz="1600"/>
              <a:t>La procédure </a:t>
            </a:r>
            <a:r>
              <a:rPr lang="fr-FR" altLang="fr-FR" sz="1600" i="1">
                <a:solidFill>
                  <a:schemeClr val="accent2"/>
                </a:solidFill>
              </a:rPr>
              <a:t>univariate</a:t>
            </a:r>
            <a:r>
              <a:rPr lang="fr-FR" altLang="fr-FR" sz="1600"/>
              <a:t> est très utilisée dans les études statistiques des variables quantitatives. Elle complète la proc </a:t>
            </a:r>
            <a:r>
              <a:rPr lang="fr-FR" altLang="fr-FR" sz="1600" i="1">
                <a:solidFill>
                  <a:schemeClr val="accent2"/>
                </a:solidFill>
              </a:rPr>
              <a:t>means</a:t>
            </a:r>
            <a:r>
              <a:rPr lang="fr-FR" altLang="fr-FR" sz="1600"/>
              <a:t> puisqu ‘elle fournit des tests statistiques sur les variables choisies.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b="1" i="1"/>
              <a:t>Syntaxe générale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PROC UNIVARIATE Data=donnees;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VAR variables; 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BY variables; (Permet la création de sous-groupes... </a:t>
            </a:r>
            <a:r>
              <a:rPr lang="fr-FR" altLang="fr-FR" sz="1400" b="1">
                <a:solidFill>
                  <a:schemeClr val="accent2"/>
                </a:solidFill>
              </a:rPr>
              <a:t>le fichier devra avoir été trié avant</a:t>
            </a:r>
            <a:r>
              <a:rPr lang="fr-FR" altLang="fr-FR" sz="1400">
                <a:solidFill>
                  <a:schemeClr val="accent2"/>
                </a:solidFill>
              </a:rPr>
              <a:t>)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OUTPUT OUT=tab_sortie (fichier contenant autant d'individus que de modalités de BY et comme variables, les statistiques données par UNIVARIATE)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RUN;</a:t>
            </a:r>
          </a:p>
          <a:p>
            <a:pPr eaLnBrk="1" hangingPunct="1"/>
            <a:endParaRPr lang="fr-FR" altLang="fr-FR" sz="16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Autre intérêt de la proc </a:t>
            </a:r>
            <a:r>
              <a:rPr lang="fr-FR" altLang="fr-FR" sz="1600" i="1">
                <a:solidFill>
                  <a:schemeClr val="accent2"/>
                </a:solidFill>
              </a:rPr>
              <a:t>univariate</a:t>
            </a:r>
            <a:r>
              <a:rPr lang="fr-FR" altLang="fr-FR" sz="1600"/>
              <a:t> : il est possible d’obtenir les valeurs des déciles, centiles, quartiles, quintiles… des chaque variable quantitative.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/>
              <a:t>Il est souvent très intéresant récupérer dans un fichier la valeur de chaque centile du fichier: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PROC UNIVARIATE Data=donnees;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VAR variables; </a:t>
            </a: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OUTPUT OUT=tab_sortie pctlpre=P_ pctlpts=0 to 100 by 1</a:t>
            </a:r>
            <a:r>
              <a:rPr lang="fr-FR" altLang="fr-FR"/>
              <a:t>; </a:t>
            </a:r>
            <a:endParaRPr lang="fr-FR" altLang="fr-FR" sz="1400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400">
                <a:solidFill>
                  <a:schemeClr val="accent2"/>
                </a:solidFill>
              </a:rPr>
              <a:t>RUN;</a:t>
            </a:r>
          </a:p>
          <a:p>
            <a:pPr eaLnBrk="1" hangingPunct="1"/>
            <a:endParaRPr lang="fr-FR" altLang="fr-FR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Utilisation des Dates (1/5)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0" y="892175"/>
            <a:ext cx="9144000" cy="579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/>
              <a:t>Une date SAS est une valeur représentant le nombre de jours écoulés entre le 1er janvier 1960 (date de référence) et une date donnée. Grâce à cette présentation des dates, il sera possible de calculer des intervalles entre les dates. Les dates SAS peuvent être converties en jours, mois,années… Les dates SAS sont de type numérique.</a:t>
            </a:r>
          </a:p>
          <a:p>
            <a:pPr eaLnBrk="1" hangingPunct="1"/>
            <a:endParaRPr lang="fr-FR" altLang="fr-FR" sz="1000"/>
          </a:p>
          <a:p>
            <a:pPr eaLnBrk="1" hangingPunct="1"/>
            <a:r>
              <a:rPr lang="fr-FR" altLang="fr-FR" sz="1600"/>
              <a:t>Il est possible de transformer des dates écrites sous des formes diverses (01 JAN 82, 15/10/84, 251274 etc… ) en dates SAS, exprimées en nombre de jours écoulés depuis le 1er janvier 1960. Il faut pour cela utiliser des « </a:t>
            </a:r>
            <a:r>
              <a:rPr lang="fr-FR" altLang="fr-FR" sz="1600" b="1" i="1" u="sng"/>
              <a:t>informats</a:t>
            </a:r>
            <a:r>
              <a:rPr lang="fr-FR" altLang="fr-FR" sz="1600"/>
              <a:t> » dans une étape </a:t>
            </a:r>
            <a:r>
              <a:rPr lang="fr-FR" altLang="fr-FR" sz="1600" i="1">
                <a:solidFill>
                  <a:schemeClr val="accent2"/>
                </a:solidFill>
              </a:rPr>
              <a:t>DATA</a:t>
            </a:r>
            <a:r>
              <a:rPr lang="fr-FR" altLang="fr-FR" sz="1600"/>
              <a:t>.</a:t>
            </a:r>
          </a:p>
          <a:p>
            <a:pPr eaLnBrk="1" hangingPunct="1"/>
            <a:r>
              <a:rPr lang="fr-FR" altLang="fr-FR" sz="1600"/>
              <a:t>Pour des dates représentées sous une forme alphanumérique, par exemple 1JAN1982, 01 JAN 82,1 JAN 82,1-JAN-82, l’informat à utiliser sera </a:t>
            </a:r>
            <a:r>
              <a:rPr lang="fr-FR" altLang="fr-FR" sz="1600" i="1">
                <a:solidFill>
                  <a:schemeClr val="accent2"/>
                </a:solidFill>
              </a:rPr>
              <a:t>DATEw</a:t>
            </a:r>
            <a:r>
              <a:rPr lang="fr-FR" altLang="fr-FR" sz="1600"/>
              <a:t>., où </a:t>
            </a:r>
            <a:r>
              <a:rPr lang="fr-FR" altLang="fr-FR" sz="1600" i="1">
                <a:solidFill>
                  <a:schemeClr val="accent2"/>
                </a:solidFill>
              </a:rPr>
              <a:t>w</a:t>
            </a:r>
            <a:r>
              <a:rPr lang="fr-FR" altLang="fr-FR" sz="1600"/>
              <a:t> correspond à la taille nécessaire à l’affichage voulu. L’informat se déclare au moment de la constitution de la base de données, sur la ligne </a:t>
            </a:r>
            <a:r>
              <a:rPr lang="fr-FR" altLang="fr-FR" sz="1600" i="1">
                <a:solidFill>
                  <a:schemeClr val="accent2"/>
                </a:solidFill>
              </a:rPr>
              <a:t>INPUT</a:t>
            </a:r>
            <a:r>
              <a:rPr lang="fr-FR" altLang="fr-FR" sz="1600"/>
              <a:t>.</a:t>
            </a:r>
          </a:p>
          <a:p>
            <a:pPr eaLnBrk="1" hangingPunct="1"/>
            <a:r>
              <a:rPr lang="fr-FR" altLang="fr-FR" sz="1600"/>
              <a:t>Dans l’exemple suivant, toutes les dates présentées sous une forme alphanumérique sont lues correctement (SAS reconnaît les séparateurs comme les espaces et les caractères spéciaux) grâceà l’informat [date10.] et sont toutes traduites dans la variable </a:t>
            </a:r>
            <a:r>
              <a:rPr lang="fr-FR" altLang="fr-FR" sz="1600" i="1">
                <a:solidFill>
                  <a:schemeClr val="accent2"/>
                </a:solidFill>
              </a:rPr>
              <a:t>date1</a:t>
            </a:r>
            <a:r>
              <a:rPr lang="fr-FR" altLang="fr-FR" sz="1600"/>
              <a:t> par la valeur 8036.</a:t>
            </a:r>
          </a:p>
          <a:p>
            <a:pPr eaLnBrk="1" hangingPunct="1"/>
            <a:endParaRPr lang="fr-FR" altLang="fr-FR" sz="1400"/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data base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input date1 DATE10.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cards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1JAN1982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01 JAN 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 JAN 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1-JAN-82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run;</a:t>
            </a:r>
            <a:endParaRPr lang="fr-FR" altLang="fr-FR" sz="10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Utilisation des Dates (2/5)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892175"/>
            <a:ext cx="9144000" cy="594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DDMMYYw. MMDDYYw. YYDDMMw.</a:t>
            </a:r>
            <a:r>
              <a:rPr lang="fr-FR" altLang="fr-FR" sz="1600"/>
              <a:t> sont des informats qui permettent d’écrire en date SAS des dates présentées sous forme numérique.</a:t>
            </a:r>
          </a:p>
          <a:p>
            <a:pPr eaLnBrk="1" hangingPunct="1"/>
            <a:r>
              <a:rPr lang="fr-FR" altLang="fr-FR" sz="1600"/>
              <a:t>D représente le jour (« Day »)</a:t>
            </a:r>
          </a:p>
          <a:p>
            <a:pPr eaLnBrk="1" hangingPunct="1"/>
            <a:r>
              <a:rPr lang="fr-FR" altLang="fr-FR" sz="1600"/>
              <a:t>M représente le mois (« Month »)</a:t>
            </a:r>
          </a:p>
          <a:p>
            <a:pPr eaLnBrk="1" hangingPunct="1"/>
            <a:r>
              <a:rPr lang="fr-FR" altLang="fr-FR" sz="1600"/>
              <a:t>Y représente l’année (« Year »)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/>
              <a:t>Dans cet exemple les dates sont présentées sous la forme jour mois année donc on utilise l’informat </a:t>
            </a:r>
            <a:r>
              <a:rPr lang="fr-FR" altLang="fr-FR" sz="1600" i="1">
                <a:solidFill>
                  <a:schemeClr val="accent2"/>
                </a:solidFill>
              </a:rPr>
              <a:t>DDMMYY8</a:t>
            </a:r>
            <a:r>
              <a:rPr lang="fr-FR" altLang="fr-FR" sz="1600"/>
              <a:t>. Ici toutes les dates sont traduites correctement par la valeur 8323.</a:t>
            </a:r>
          </a:p>
          <a:p>
            <a:pPr eaLnBrk="1" hangingPunct="1"/>
            <a:r>
              <a:rPr lang="fr-FR" altLang="fr-FR" sz="1400" i="1"/>
              <a:t>				</a:t>
            </a:r>
            <a:r>
              <a:rPr lang="fr-FR" altLang="fr-FR" sz="1400" i="1">
                <a:solidFill>
                  <a:schemeClr val="accent2"/>
                </a:solidFill>
              </a:rPr>
              <a:t>data base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input date1 DDMMYY8.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cards 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151082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15-10-82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15/10/82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;</a:t>
            </a:r>
          </a:p>
          <a:p>
            <a:pPr eaLnBrk="1" hangingPunct="1"/>
            <a:r>
              <a:rPr lang="fr-FR" altLang="fr-FR" sz="1400" i="1">
                <a:solidFill>
                  <a:schemeClr val="accent2"/>
                </a:solidFill>
              </a:rPr>
              <a:t>				run ;</a:t>
            </a:r>
          </a:p>
          <a:p>
            <a:pPr eaLnBrk="1" hangingPunct="1"/>
            <a:endParaRPr lang="fr-FR" altLang="fr-FR" sz="800" i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Lorsque dans une base de données on a des dates SAS, on peut leur appliquer un </a:t>
            </a:r>
            <a:r>
              <a:rPr lang="fr-FR" altLang="fr-FR" sz="1600" b="1"/>
              <a:t>format</a:t>
            </a:r>
            <a:r>
              <a:rPr lang="fr-FR" altLang="fr-FR" sz="1600"/>
              <a:t> pour</a:t>
            </a:r>
          </a:p>
          <a:p>
            <a:pPr eaLnBrk="1" hangingPunct="1"/>
            <a:r>
              <a:rPr lang="fr-FR" altLang="fr-FR" sz="1600"/>
              <a:t>identifier « en clair » à quelles dates elles correspondent. Si on n'utilise pas de format de date</a:t>
            </a:r>
          </a:p>
          <a:p>
            <a:pPr eaLnBrk="1" hangingPunct="1"/>
            <a:r>
              <a:rPr lang="fr-FR" altLang="fr-FR" sz="1600"/>
              <a:t>particulier lors de la réalisation de tableaux par exemple, c'est la date SAS (exprimée en nombre de jours écoulés depuis le 1er janvier 1960) qui figurera dans les tableaux.</a:t>
            </a:r>
          </a:p>
          <a:p>
            <a:pPr eaLnBrk="1" hangingPunct="1"/>
            <a:r>
              <a:rPr lang="fr-FR" altLang="fr-FR" sz="1600"/>
              <a:t>Les formats à utiliser ont la même forme que les informats.</a:t>
            </a:r>
          </a:p>
          <a:p>
            <a:pPr eaLnBrk="1" hangingPunct="1"/>
            <a:r>
              <a:rPr lang="fr-FR" altLang="fr-FR" sz="1600"/>
              <a:t>On utilisera un format de type </a:t>
            </a:r>
            <a:r>
              <a:rPr lang="fr-FR" altLang="fr-FR" sz="1600" i="1">
                <a:solidFill>
                  <a:schemeClr val="accent2"/>
                </a:solidFill>
              </a:rPr>
              <a:t>datew.</a:t>
            </a:r>
            <a:r>
              <a:rPr lang="fr-FR" altLang="fr-FR" sz="1600"/>
              <a:t> pour traduire une date SAS en alphanumérique, tandis</a:t>
            </a:r>
          </a:p>
          <a:p>
            <a:pPr eaLnBrk="1" hangingPunct="1"/>
            <a:r>
              <a:rPr lang="fr-FR" altLang="fr-FR" sz="1600"/>
              <a:t>qu’on utilisera un format de type </a:t>
            </a:r>
            <a:r>
              <a:rPr lang="fr-FR" altLang="fr-FR" sz="1600" i="1">
                <a:solidFill>
                  <a:schemeClr val="accent2"/>
                </a:solidFill>
              </a:rPr>
              <a:t>ddmmyyw.</a:t>
            </a:r>
            <a:r>
              <a:rPr lang="fr-FR" altLang="fr-FR" sz="1600"/>
              <a:t> (par exemple) pour traduire une date SAS en une</a:t>
            </a:r>
          </a:p>
          <a:p>
            <a:pPr eaLnBrk="1" hangingPunct="1"/>
            <a:r>
              <a:rPr lang="fr-FR" altLang="fr-FR" sz="1600"/>
              <a:t>date exprimée en numérique.</a:t>
            </a:r>
          </a:p>
          <a:p>
            <a:pPr eaLnBrk="1" hangingPunct="1"/>
            <a:r>
              <a:rPr lang="fr-FR" altLang="fr-FR" sz="1600"/>
              <a:t>La syntaxe est la suivante : </a:t>
            </a:r>
            <a:r>
              <a:rPr lang="fr-FR" altLang="fr-FR" sz="1600" i="1">
                <a:solidFill>
                  <a:schemeClr val="accent2"/>
                </a:solidFill>
              </a:rPr>
              <a:t>FORMAT date1 ddmmyy8. ;</a:t>
            </a:r>
            <a:r>
              <a:rPr lang="fr-FR" altLang="fr-FR" sz="1600"/>
              <a:t> </a:t>
            </a:r>
            <a:endParaRPr lang="fr-FR" altLang="fr-FR" sz="9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Utilisation des Dates (3/5)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0" y="892175"/>
            <a:ext cx="9144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i="1"/>
              <a:t>Exemples d’application de formats :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</a:t>
            </a:r>
            <a:r>
              <a:rPr lang="fr-FR" altLang="fr-FR" sz="1600" i="1">
                <a:solidFill>
                  <a:schemeClr val="accent2"/>
                </a:solidFill>
              </a:rPr>
              <a:t>FORMAT date1 DATE5.</a:t>
            </a:r>
            <a:r>
              <a:rPr lang="fr-FR" altLang="fr-FR" sz="1600"/>
              <a:t> =&gt; 15OCT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</a:t>
            </a:r>
            <a:r>
              <a:rPr lang="fr-FR" altLang="fr-FR" sz="1600" i="1">
                <a:solidFill>
                  <a:schemeClr val="accent2"/>
                </a:solidFill>
              </a:rPr>
              <a:t>FORMAT date1 DATE7</a:t>
            </a:r>
            <a:r>
              <a:rPr lang="fr-FR" altLang="fr-FR" sz="1600" i="1"/>
              <a:t>.</a:t>
            </a:r>
            <a:r>
              <a:rPr lang="fr-FR" altLang="fr-FR" sz="1600"/>
              <a:t> =&gt; 15OCT82</a:t>
            </a:r>
          </a:p>
          <a:p>
            <a:pPr lvl="1" eaLnBrk="1" hangingPunct="1">
              <a:buFontTx/>
              <a:buChar char="•"/>
            </a:pPr>
            <a:r>
              <a:rPr lang="fr-FR" altLang="fr-FR" sz="1600" i="1">
                <a:solidFill>
                  <a:schemeClr val="accent2"/>
                </a:solidFill>
              </a:rPr>
              <a:t> FORMAT date1 DATE9</a:t>
            </a:r>
            <a:r>
              <a:rPr lang="fr-FR" altLang="fr-FR" sz="1600">
                <a:solidFill>
                  <a:schemeClr val="accent2"/>
                </a:solidFill>
              </a:rPr>
              <a:t>.</a:t>
            </a:r>
            <a:r>
              <a:rPr lang="fr-FR" altLang="fr-FR" sz="1600"/>
              <a:t> =&gt; 15OCT1982</a:t>
            </a:r>
          </a:p>
          <a:p>
            <a:pPr lvl="1" eaLnBrk="1" hangingPunct="1">
              <a:buFontTx/>
              <a:buChar char="•"/>
            </a:pPr>
            <a:r>
              <a:rPr lang="fr-FR" altLang="fr-FR" sz="1600" i="1">
                <a:solidFill>
                  <a:schemeClr val="accent2"/>
                </a:solidFill>
              </a:rPr>
              <a:t> FORMAT date1 DDMMYY8.</a:t>
            </a:r>
            <a:r>
              <a:rPr lang="fr-FR" altLang="fr-FR" sz="1600"/>
              <a:t> =&gt; 15/10/82</a:t>
            </a:r>
          </a:p>
          <a:p>
            <a:pPr lvl="1" eaLnBrk="1" hangingPunct="1">
              <a:buFontTx/>
              <a:buChar char="•"/>
            </a:pPr>
            <a:r>
              <a:rPr lang="fr-FR" altLang="fr-FR" sz="1600"/>
              <a:t> </a:t>
            </a:r>
            <a:r>
              <a:rPr lang="fr-FR" altLang="fr-FR" sz="1600" i="1">
                <a:solidFill>
                  <a:schemeClr val="accent2"/>
                </a:solidFill>
              </a:rPr>
              <a:t>FORMAT date1 MMDDYY8.</a:t>
            </a:r>
            <a:r>
              <a:rPr lang="fr-FR" altLang="fr-FR" sz="1600"/>
              <a:t> =&gt; 10/15/82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b="1"/>
              <a:t>Fonctions sur les Dates:</a:t>
            </a:r>
          </a:p>
          <a:p>
            <a:pPr eaLnBrk="1" hangingPunct="1"/>
            <a:r>
              <a:rPr lang="fr-FR" altLang="fr-FR" sz="1600" b="1"/>
              <a:t>TODAY</a:t>
            </a:r>
            <a:r>
              <a:rPr lang="fr-FR" altLang="fr-FR" sz="1600"/>
              <a:t>() donne la date du jour.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date1 = TODAY()</a:t>
            </a:r>
            <a:r>
              <a:rPr lang="fr-FR" altLang="fr-FR" sz="1600"/>
              <a:t> =&gt; date1 = 15763 si on est le 27 février 2003.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b="1"/>
              <a:t>MDY</a:t>
            </a:r>
            <a:r>
              <a:rPr lang="fr-FR" altLang="fr-FR" sz="1600"/>
              <a:t>(mois, jour, annee) transforme les informations d'une date stockée en trois variables en une</a:t>
            </a:r>
          </a:p>
          <a:p>
            <a:pPr eaLnBrk="1" hangingPunct="1"/>
            <a:r>
              <a:rPr lang="fr-FR" altLang="fr-FR" sz="1600"/>
              <a:t>nouvelle variable de type "date".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date1 = MDY( 8, 18, 1961)</a:t>
            </a:r>
            <a:r>
              <a:rPr lang="fr-FR" altLang="fr-FR" sz="1600"/>
              <a:t> =&gt; date1 = 595.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b="1"/>
              <a:t>DAY</a:t>
            </a:r>
            <a:r>
              <a:rPr lang="fr-FR" altLang="fr-FR" sz="1600"/>
              <a:t>(date), </a:t>
            </a:r>
            <a:r>
              <a:rPr lang="fr-FR" altLang="fr-FR" sz="1600" b="1"/>
              <a:t>MONTH </a:t>
            </a:r>
            <a:r>
              <a:rPr lang="fr-FR" altLang="fr-FR" sz="1600"/>
              <a:t>(date) et </a:t>
            </a:r>
            <a:r>
              <a:rPr lang="fr-FR" altLang="fr-FR" sz="1600" b="1"/>
              <a:t>YEAR</a:t>
            </a:r>
            <a:r>
              <a:rPr lang="fr-FR" altLang="fr-FR" sz="1600"/>
              <a:t>(date) transforme les informations de date stockée en une</a:t>
            </a:r>
          </a:p>
          <a:p>
            <a:pPr eaLnBrk="1" hangingPunct="1"/>
            <a:r>
              <a:rPr lang="fr-FR" altLang="fr-FR" sz="1600"/>
              <a:t>variable de type "date" en trois nouvelles variables.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date1 = TODAY()</a:t>
            </a:r>
            <a:r>
              <a:rPr lang="fr-FR" altLang="fr-FR" sz="1600"/>
              <a:t> =&gt; date1 = 15763 si on est le 27 février 2003.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Jour = DAY(date1)</a:t>
            </a:r>
            <a:r>
              <a:rPr lang="fr-FR" altLang="fr-FR" sz="1600"/>
              <a:t> =&gt; jour = 27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mois = MONTH(date1)</a:t>
            </a:r>
            <a:r>
              <a:rPr lang="fr-FR" altLang="fr-FR" sz="1600"/>
              <a:t> =&gt; mois = 2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annee = YEAR (date1)</a:t>
            </a:r>
            <a:r>
              <a:rPr lang="fr-FR" altLang="fr-FR" sz="1600"/>
              <a:t> =&gt; annee = 2003</a:t>
            </a:r>
          </a:p>
          <a:p>
            <a:pPr eaLnBrk="1" hangingPunct="1"/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Utilisation des Dates (4/5)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0" y="892175"/>
            <a:ext cx="9144000" cy="531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Fonction INTCK : calculer des intervalles</a:t>
            </a:r>
          </a:p>
          <a:p>
            <a:pPr eaLnBrk="1" hangingPunct="1"/>
            <a:r>
              <a:rPr lang="fr-FR" altLang="fr-FR" sz="1600"/>
              <a:t>Grâce aux dates SAS, il est possible de calculer des intervalles entre une date1 et une date2. Cet</a:t>
            </a:r>
          </a:p>
          <a:p>
            <a:pPr eaLnBrk="1" hangingPunct="1"/>
            <a:r>
              <a:rPr lang="fr-FR" altLang="fr-FR" sz="1600"/>
              <a:t>intervalle pourra être exprimé en nombre (entier) de jours, mois, années…</a:t>
            </a:r>
          </a:p>
          <a:p>
            <a:pPr eaLnBrk="1" hangingPunct="1"/>
            <a:r>
              <a:rPr lang="fr-FR" altLang="fr-FR" sz="1600" i="1"/>
              <a:t>La syntaxe de la fonction INTCK est la suivante :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		var = INTCK (« interval »,from,to) ;</a:t>
            </a:r>
          </a:p>
          <a:p>
            <a:pPr eaLnBrk="1" hangingPunct="1"/>
            <a:r>
              <a:rPr lang="fr-FR" altLang="fr-FR" sz="1600"/>
              <a:t>“</a:t>
            </a:r>
            <a:r>
              <a:rPr lang="fr-FR" altLang="fr-FR" sz="1600" i="1">
                <a:solidFill>
                  <a:schemeClr val="accent2"/>
                </a:solidFill>
              </a:rPr>
              <a:t>from</a:t>
            </a:r>
            <a:r>
              <a:rPr lang="fr-FR" altLang="fr-FR" sz="1600"/>
              <a:t>” et “</a:t>
            </a:r>
            <a:r>
              <a:rPr lang="fr-FR" altLang="fr-FR" sz="1600" i="1">
                <a:solidFill>
                  <a:schemeClr val="accent2"/>
                </a:solidFill>
              </a:rPr>
              <a:t>to</a:t>
            </a:r>
            <a:r>
              <a:rPr lang="fr-FR" altLang="fr-FR" sz="1600"/>
              <a:t>” indiquent les variables des dates entre lesquelles ont souhaite calculer une durée.</a:t>
            </a:r>
          </a:p>
          <a:p>
            <a:pPr eaLnBrk="1" hangingPunct="1"/>
            <a:r>
              <a:rPr lang="fr-FR" altLang="fr-FR" sz="1600"/>
              <a:t>“</a:t>
            </a:r>
            <a:r>
              <a:rPr lang="fr-FR" altLang="fr-FR" sz="1600" i="1">
                <a:solidFill>
                  <a:schemeClr val="accent2"/>
                </a:solidFill>
              </a:rPr>
              <a:t>interval</a:t>
            </a:r>
            <a:r>
              <a:rPr lang="fr-FR" altLang="fr-FR" sz="1600"/>
              <a:t>” spécifie l’unité de mesure de l’intervalle. La valeur de ce paramètre peut être : </a:t>
            </a:r>
            <a:r>
              <a:rPr lang="fr-FR" altLang="fr-FR" sz="1600" i="1">
                <a:solidFill>
                  <a:schemeClr val="accent2"/>
                </a:solidFill>
              </a:rPr>
              <a:t>DAY</a:t>
            </a:r>
            <a:r>
              <a:rPr lang="fr-FR" altLang="fr-FR" sz="1600"/>
              <a:t>,</a:t>
            </a:r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MONTH</a:t>
            </a:r>
            <a:r>
              <a:rPr lang="fr-FR" altLang="fr-FR" sz="1600"/>
              <a:t>, </a:t>
            </a:r>
            <a:r>
              <a:rPr lang="fr-FR" altLang="fr-FR" sz="1600" i="1">
                <a:solidFill>
                  <a:schemeClr val="accent2"/>
                </a:solidFill>
              </a:rPr>
              <a:t>YEAR</a:t>
            </a:r>
            <a:r>
              <a:rPr lang="fr-FR" altLang="fr-FR" sz="1600"/>
              <a:t>, </a:t>
            </a:r>
            <a:r>
              <a:rPr lang="fr-FR" altLang="fr-FR" sz="1600" i="1">
                <a:solidFill>
                  <a:schemeClr val="accent2"/>
                </a:solidFill>
              </a:rPr>
              <a:t>WEEK</a:t>
            </a:r>
            <a:r>
              <a:rPr lang="fr-FR" altLang="fr-FR" sz="1600"/>
              <a:t>…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/>
              <a:t>Exemple :</a:t>
            </a:r>
          </a:p>
          <a:p>
            <a:pPr eaLnBrk="1" hangingPunct="1"/>
            <a:r>
              <a:rPr lang="fr-FR" altLang="fr-FR" sz="1600" i="1"/>
              <a:t>			</a:t>
            </a:r>
            <a:r>
              <a:rPr lang="fr-FR" altLang="fr-FR" sz="1400" i="1">
                <a:solidFill>
                  <a:schemeClr val="accent2"/>
                </a:solidFill>
              </a:rPr>
              <a:t>dureevie = INTCK (« year »,nais,mort) ;</a:t>
            </a:r>
          </a:p>
          <a:p>
            <a:pPr eaLnBrk="1" hangingPunct="1"/>
            <a:endParaRPr lang="fr-FR" altLang="fr-FR" sz="1400" i="1">
              <a:solidFill>
                <a:schemeClr val="accent2"/>
              </a:solidFill>
            </a:endParaRPr>
          </a:p>
          <a:p>
            <a:pPr eaLnBrk="1" hangingPunct="1"/>
            <a:r>
              <a:rPr lang="fr-FR" altLang="fr-FR" sz="1600"/>
              <a:t>Dans cet exemple, on calcule dans la variable </a:t>
            </a:r>
            <a:r>
              <a:rPr lang="fr-FR" altLang="fr-FR" sz="1600">
                <a:solidFill>
                  <a:schemeClr val="accent2"/>
                </a:solidFill>
              </a:rPr>
              <a:t>dureevie</a:t>
            </a:r>
            <a:r>
              <a:rPr lang="fr-FR" altLang="fr-FR" sz="1600"/>
              <a:t> le nombre d’années écoulées entre le</a:t>
            </a:r>
          </a:p>
          <a:p>
            <a:pPr eaLnBrk="1" hangingPunct="1"/>
            <a:r>
              <a:rPr lang="fr-FR" altLang="fr-FR" sz="1600"/>
              <a:t>moment de la naissance (exprimé dans la variable </a:t>
            </a:r>
            <a:r>
              <a:rPr lang="fr-FR" altLang="fr-FR" sz="1600" i="1">
                <a:solidFill>
                  <a:schemeClr val="accent2"/>
                </a:solidFill>
              </a:rPr>
              <a:t>nais</a:t>
            </a:r>
            <a:r>
              <a:rPr lang="fr-FR" altLang="fr-FR" sz="1600"/>
              <a:t>) et le moment de la mort (exprimé dans</a:t>
            </a:r>
          </a:p>
          <a:p>
            <a:pPr eaLnBrk="1" hangingPunct="1"/>
            <a:r>
              <a:rPr lang="fr-FR" altLang="fr-FR" sz="1600"/>
              <a:t>la variable </a:t>
            </a:r>
            <a:r>
              <a:rPr lang="fr-FR" altLang="fr-FR" sz="1600" i="1">
                <a:solidFill>
                  <a:schemeClr val="accent2"/>
                </a:solidFill>
              </a:rPr>
              <a:t>mort</a:t>
            </a:r>
            <a:r>
              <a:rPr lang="fr-FR" altLang="fr-FR" sz="1600"/>
              <a:t> ).</a:t>
            </a:r>
          </a:p>
          <a:p>
            <a:pPr eaLnBrk="1" hangingPunct="1"/>
            <a:endParaRPr lang="fr-FR" altLang="fr-FR" sz="800"/>
          </a:p>
          <a:p>
            <a:pPr eaLnBrk="1" hangingPunct="1"/>
            <a:r>
              <a:rPr lang="fr-FR" altLang="fr-FR" sz="1600" i="1"/>
              <a:t>Remarque</a:t>
            </a:r>
            <a:r>
              <a:rPr lang="fr-FR" altLang="fr-FR" sz="1600"/>
              <a:t> : le résultat de cette syntaxe donnera le nombre d’année arrondi à l’année supérieure.</a:t>
            </a:r>
          </a:p>
          <a:p>
            <a:pPr eaLnBrk="1" hangingPunct="1"/>
            <a:r>
              <a:rPr lang="fr-FR" altLang="fr-FR" sz="1600"/>
              <a:t>Pour être exact, il est préférable de calculer la durée en nombre de mois puis de diviser par 12</a:t>
            </a:r>
          </a:p>
          <a:p>
            <a:pPr eaLnBrk="1" hangingPunct="1"/>
            <a:r>
              <a:rPr lang="fr-FR" altLang="fr-FR" sz="1600"/>
              <a:t>pour obtenir un nombre d’années, puis d’arrondir à l’entier inférieur grâce à la fonction </a:t>
            </a:r>
            <a:r>
              <a:rPr lang="fr-FR" altLang="fr-FR" sz="1600" i="1">
                <a:solidFill>
                  <a:schemeClr val="accent2"/>
                </a:solidFill>
              </a:rPr>
              <a:t>FLOOR</a:t>
            </a:r>
            <a:r>
              <a:rPr lang="fr-FR" altLang="fr-FR" sz="1600"/>
              <a:t>.</a:t>
            </a:r>
          </a:p>
          <a:p>
            <a:pPr eaLnBrk="1" hangingPunct="1"/>
            <a:r>
              <a:rPr lang="fr-FR" altLang="fr-FR" sz="1600"/>
              <a:t>Cela se traduit par la syntaxe suivante :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i="1">
                <a:solidFill>
                  <a:schemeClr val="accent2"/>
                </a:solidFill>
              </a:rPr>
              <a:t>			dureevie =FLOOR(INTCK (« month »,nais,mort)/12) ;</a:t>
            </a:r>
            <a:endParaRPr lang="fr-FR" altLang="fr-FR" sz="1400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3025"/>
            <a:ext cx="8229600" cy="692150"/>
          </a:xfrm>
          <a:noFill/>
        </p:spPr>
        <p:txBody>
          <a:bodyPr/>
          <a:lstStyle/>
          <a:p>
            <a:pPr marL="762000" indent="-762000" eaLnBrk="1" hangingPunct="1"/>
            <a:r>
              <a:rPr lang="fr-FR" altLang="fr-FR" sz="3600" smtClean="0">
                <a:solidFill>
                  <a:schemeClr val="tx1"/>
                </a:solidFill>
              </a:rPr>
              <a:t>Utilisation des Dates (5/5)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0" y="892175"/>
            <a:ext cx="9144000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600" b="1"/>
              <a:t>Fonctions pour les heures:</a:t>
            </a:r>
          </a:p>
          <a:p>
            <a:pPr eaLnBrk="1" hangingPunct="1"/>
            <a:r>
              <a:rPr lang="fr-FR" altLang="fr-FR" sz="1600" b="1"/>
              <a:t>TIME</a:t>
            </a:r>
            <a:r>
              <a:rPr lang="fr-FR" altLang="fr-FR" sz="1600"/>
              <a:t>() donne l'heure du jour.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heure1 = time()</a:t>
            </a:r>
            <a:r>
              <a:rPr lang="fr-FR" altLang="fr-FR" sz="1600"/>
              <a:t> =&gt; heure1 = 46024 si il est 12 h 47' 4"</a:t>
            </a:r>
          </a:p>
          <a:p>
            <a:pPr eaLnBrk="1" hangingPunct="1"/>
            <a:r>
              <a:rPr lang="fr-FR" altLang="fr-FR" sz="1600" b="1"/>
              <a:t>DATETIME </a:t>
            </a:r>
            <a:r>
              <a:rPr lang="fr-FR" altLang="fr-FR" sz="1600"/>
              <a:t>() donne la date et l’heure du jour</a:t>
            </a:r>
          </a:p>
          <a:p>
            <a:pPr eaLnBrk="1" hangingPunct="1"/>
            <a:r>
              <a:rPr lang="fr-FR" altLang="fr-FR" sz="1600"/>
              <a:t>Var = datetime ()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b="1"/>
              <a:t>HMS</a:t>
            </a:r>
            <a:r>
              <a:rPr lang="fr-FR" altLang="fr-FR" sz="1600"/>
              <a:t>(heure, minute, seconde) transforme les informations d'une heure stockée en trois variables</a:t>
            </a:r>
          </a:p>
          <a:p>
            <a:pPr eaLnBrk="1" hangingPunct="1"/>
            <a:r>
              <a:rPr lang="fr-FR" altLang="fr-FR" sz="1600"/>
              <a:t>en une nouvelle variable de type "heure".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heure1 = HMS( 12, 18, 10)</a:t>
            </a:r>
            <a:r>
              <a:rPr lang="fr-FR" altLang="fr-FR" sz="1600"/>
              <a:t> =&gt; heure1 = 44290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 b="1"/>
              <a:t>HOUR</a:t>
            </a:r>
            <a:r>
              <a:rPr lang="fr-FR" altLang="fr-FR" sz="1600"/>
              <a:t>(heure), </a:t>
            </a:r>
            <a:r>
              <a:rPr lang="fr-FR" altLang="fr-FR" sz="1600" b="1"/>
              <a:t>MINUTE </a:t>
            </a:r>
            <a:r>
              <a:rPr lang="fr-FR" altLang="fr-FR" sz="1600"/>
              <a:t>(heure) et </a:t>
            </a:r>
            <a:r>
              <a:rPr lang="fr-FR" altLang="fr-FR" sz="1600" b="1"/>
              <a:t>SECOND</a:t>
            </a:r>
            <a:r>
              <a:rPr lang="fr-FR" altLang="fr-FR" sz="1600"/>
              <a:t>(heure) transforme les informations d'heure stockée en une variable de type "heure" en trois nouvelles variables.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heure1 = TIME()</a:t>
            </a:r>
            <a:r>
              <a:rPr lang="fr-FR" altLang="fr-FR" sz="1600"/>
              <a:t> =&gt; heure1 = 46040 si il est 12 h 47' 20"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heure = HOUR(heure1)</a:t>
            </a:r>
            <a:r>
              <a:rPr lang="fr-FR" altLang="fr-FR" sz="1600"/>
              <a:t> =&gt; heure = 12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jour = MINUTE(heure1)</a:t>
            </a:r>
            <a:r>
              <a:rPr lang="fr-FR" altLang="fr-FR" sz="1600"/>
              <a:t> =&gt; minute = 47</a:t>
            </a:r>
          </a:p>
          <a:p>
            <a:pPr eaLnBrk="1" hangingPunct="1"/>
            <a:r>
              <a:rPr lang="fr-FR" altLang="fr-FR" sz="1600"/>
              <a:t>	</a:t>
            </a:r>
            <a:r>
              <a:rPr lang="fr-FR" altLang="fr-FR" sz="1600" i="1">
                <a:solidFill>
                  <a:schemeClr val="accent2"/>
                </a:solidFill>
              </a:rPr>
              <a:t>seconde = SECOND(heure1)</a:t>
            </a:r>
            <a:r>
              <a:rPr lang="fr-FR" altLang="fr-FR" sz="1600"/>
              <a:t> =&gt; seconde = 20.07</a:t>
            </a:r>
          </a:p>
          <a:p>
            <a:pPr eaLnBrk="1" hangingPunct="1"/>
            <a:endParaRPr lang="fr-FR" altLang="fr-FR" sz="1600"/>
          </a:p>
          <a:p>
            <a:pPr eaLnBrk="1" hangingPunct="1"/>
            <a:r>
              <a:rPr lang="fr-FR" altLang="fr-FR" sz="1600"/>
              <a:t>Pour lire une « time SAS » il faudra lui appliquer le format </a:t>
            </a:r>
            <a:r>
              <a:rPr lang="fr-FR" altLang="fr-FR" sz="1600" i="1">
                <a:solidFill>
                  <a:schemeClr val="accent2"/>
                </a:solidFill>
              </a:rPr>
              <a:t>TIMEw</a:t>
            </a:r>
            <a:r>
              <a:rPr lang="fr-FR" altLang="fr-FR" sz="1600"/>
              <a:t>. tandis que pour lire une</a:t>
            </a:r>
          </a:p>
          <a:p>
            <a:pPr eaLnBrk="1" hangingPunct="1"/>
            <a:r>
              <a:rPr lang="fr-FR" altLang="fr-FR" sz="1600"/>
              <a:t>variable « datetime SAS », il faudra lui appliquer le format </a:t>
            </a:r>
            <a:r>
              <a:rPr lang="fr-FR" altLang="fr-FR" sz="1600" i="1">
                <a:solidFill>
                  <a:schemeClr val="accent2"/>
                </a:solidFill>
              </a:rPr>
              <a:t>DATETIMEw.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  <p:tag name="_AMO_REPORTCONTROLSVISIBLE" val="Empty"/>
</p:tagLst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5078</Words>
  <Application>Microsoft Office PowerPoint</Application>
  <PresentationFormat>Affichage à l'écran (4:3)</PresentationFormat>
  <Paragraphs>547</Paragraphs>
  <Slides>27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0" baseType="lpstr">
      <vt:lpstr>Arial</vt:lpstr>
      <vt:lpstr>Wingdings</vt:lpstr>
      <vt:lpstr>Modèle par défaut</vt:lpstr>
      <vt:lpstr>INITIATION AU LOGICIEL SAS cours n°3</vt:lpstr>
      <vt:lpstr>SOMMAIRE</vt:lpstr>
      <vt:lpstr>PROC SORT (1/2)</vt:lpstr>
      <vt:lpstr>PROC SORT (2/2)</vt:lpstr>
      <vt:lpstr>Les fusions de tables (1/2)</vt:lpstr>
      <vt:lpstr>Les fusions de tables (2/2)</vt:lpstr>
      <vt:lpstr>PROC FORMAT (1/3)</vt:lpstr>
      <vt:lpstr>PROC FORMAT (2/3)</vt:lpstr>
      <vt:lpstr>PROC FORMAT (3/3)</vt:lpstr>
      <vt:lpstr>PROC FREQ (1/5)</vt:lpstr>
      <vt:lpstr>PROC FREQ (2/5)</vt:lpstr>
      <vt:lpstr>PROC FREQ (3/5)</vt:lpstr>
      <vt:lpstr>PROC FREQ (4/5)</vt:lpstr>
      <vt:lpstr>PROC FREQ (5/5)</vt:lpstr>
      <vt:lpstr>PROC MEANS (1/7)</vt:lpstr>
      <vt:lpstr>PROC MEANS (2/7)</vt:lpstr>
      <vt:lpstr>PROC MEANS (3/7)</vt:lpstr>
      <vt:lpstr>PROC MEANS (4/7)</vt:lpstr>
      <vt:lpstr>PROC MEANS (5/7)</vt:lpstr>
      <vt:lpstr>PROC MEANS (6/7)</vt:lpstr>
      <vt:lpstr>PROC MEANS (7/7)</vt:lpstr>
      <vt:lpstr>PROC UNIVARIATE (1/1)</vt:lpstr>
      <vt:lpstr>Utilisation des Dates (1/5)</vt:lpstr>
      <vt:lpstr>Utilisation des Dates (2/5)</vt:lpstr>
      <vt:lpstr>Utilisation des Dates (3/5)</vt:lpstr>
      <vt:lpstr>Utilisation des Dates (4/5)</vt:lpstr>
      <vt:lpstr>Utilisation des Dates (5/5)</vt:lpstr>
    </vt:vector>
  </TitlesOfParts>
  <Company>perso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INITIATION AU LOGICIEL SAS</dc:title>
  <dc:creator>Nicolas CABAJ</dc:creator>
  <cp:lastModifiedBy>Nicolas CABAJ</cp:lastModifiedBy>
  <cp:revision>44</cp:revision>
  <dcterms:created xsi:type="dcterms:W3CDTF">2008-09-06T12:42:01Z</dcterms:created>
  <dcterms:modified xsi:type="dcterms:W3CDTF">2025-01-07T10:51:31Z</dcterms:modified>
</cp:coreProperties>
</file>