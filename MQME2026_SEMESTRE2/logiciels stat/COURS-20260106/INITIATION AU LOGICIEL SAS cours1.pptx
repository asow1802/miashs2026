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81" r:id="rId15"/>
    <p:sldId id="282" r:id="rId16"/>
  </p:sldIdLst>
  <p:sldSz cx="9144000" cy="6858000" type="screen4x3"/>
  <p:notesSz cx="6858000" cy="9144000"/>
  <p:defaultTextStyle>
    <a:defPPr>
      <a:defRPr lang="fr-FR"/>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102"/>
      </p:cViewPr>
      <p:guideLst>
        <p:guide orient="horz" pos="2160"/>
        <p:guide pos="2880"/>
      </p:guideLst>
    </p:cSldViewPr>
  </p:slideViewPr>
  <p:notesTextViewPr>
    <p:cViewPr>
      <p:scale>
        <a:sx n="100" d="100"/>
        <a:sy n="100" d="100"/>
      </p:scale>
      <p:origin x="0" y="0"/>
    </p:cViewPr>
  </p:notesTextViewPr>
  <p:notesViewPr>
    <p:cSldViewPr>
      <p:cViewPr varScale="1">
        <p:scale>
          <a:sx n="81" d="100"/>
          <a:sy n="81" d="100"/>
        </p:scale>
        <p:origin x="-199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fr-FR" altLang="fr-FR"/>
          </a:p>
        </p:txBody>
      </p:sp>
      <p:sp>
        <p:nvSpPr>
          <p:cNvPr id="34819"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fr-FR" altLang="fr-FR"/>
          </a:p>
        </p:txBody>
      </p:sp>
      <p:sp>
        <p:nvSpPr>
          <p:cNvPr id="34820"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fr-FR" altLang="fr-FR"/>
          </a:p>
        </p:txBody>
      </p:sp>
      <p:sp>
        <p:nvSpPr>
          <p:cNvPr id="34821"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CAA1683C-B4C2-485F-A6A3-59D537C02317}" type="slidenum">
              <a:rPr lang="fr-FR" altLang="fr-FR"/>
              <a:pPr/>
              <a:t>‹N°›</a:t>
            </a:fld>
            <a:endParaRPr lang="fr-FR" altLang="fr-F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fr-FR" altLang="fr-FR"/>
          </a:p>
        </p:txBody>
      </p:sp>
      <p:sp>
        <p:nvSpPr>
          <p:cNvPr id="614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fr-FR" altLang="fr-FR"/>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altLang="fr-FR" noProof="0" smtClean="0"/>
              <a:t>Cliquez pour modifier les styles du texte du masque</a:t>
            </a:r>
          </a:p>
          <a:p>
            <a:pPr lvl="1"/>
            <a:r>
              <a:rPr lang="fr-FR" altLang="fr-FR" noProof="0" smtClean="0"/>
              <a:t>Deuxième niveau</a:t>
            </a:r>
          </a:p>
          <a:p>
            <a:pPr lvl="2"/>
            <a:r>
              <a:rPr lang="fr-FR" altLang="fr-FR" noProof="0" smtClean="0"/>
              <a:t>Troisième niveau</a:t>
            </a:r>
          </a:p>
          <a:p>
            <a:pPr lvl="3"/>
            <a:r>
              <a:rPr lang="fr-FR" altLang="fr-FR" noProof="0" smtClean="0"/>
              <a:t>Quatrième niveau</a:t>
            </a:r>
          </a:p>
          <a:p>
            <a:pPr lvl="4"/>
            <a:r>
              <a:rPr lang="fr-FR" altLang="fr-FR" noProof="0" smtClean="0"/>
              <a:t>Cinquième niveau</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fr-FR" altLang="fr-FR"/>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A3C35AB6-54B4-45C9-8E24-83F2B0DB36FA}" type="slidenum">
              <a:rPr lang="fr-FR" altLang="fr-FR"/>
              <a:pPr/>
              <a:t>‹N°›</a:t>
            </a:fld>
            <a:endParaRPr lang="fr-FR" altLang="fr-F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4E28685-2141-4DC7-9B46-46A55B1E710A}" type="slidenum">
              <a:rPr lang="fr-FR" altLang="fr-FR"/>
              <a:pPr eaLnBrk="1" hangingPunct="1"/>
              <a:t>2</a:t>
            </a:fld>
            <a:endParaRPr lang="fr-FR" altLang="fr-F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p:spPr>
        <p:txBody>
          <a:bodyPr/>
          <a:lstStyle/>
          <a:p>
            <a:pPr eaLnBrk="1" hangingPunct="1"/>
            <a:endParaRPr lang="fr-FR" altLang="fr-FR"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36866" name="Rectangle 2"/>
          <p:cNvSpPr>
            <a:spLocks noGrp="1" noChangeArrowheads="1"/>
          </p:cNvSpPr>
          <p:nvPr>
            <p:ph type="ctrTitle"/>
          </p:nvPr>
        </p:nvSpPr>
        <p:spPr>
          <a:xfrm>
            <a:off x="685800" y="2130425"/>
            <a:ext cx="7772400" cy="1470025"/>
          </a:xfrm>
        </p:spPr>
        <p:txBody>
          <a:bodyPr/>
          <a:lstStyle>
            <a:lvl1pPr>
              <a:defRPr/>
            </a:lvl1pPr>
          </a:lstStyle>
          <a:p>
            <a:pPr lvl="0"/>
            <a:r>
              <a:rPr lang="fr-FR" altLang="fr-FR" noProof="0" smtClean="0"/>
              <a:t>Cliquez pour modifier le style du titre</a:t>
            </a:r>
          </a:p>
        </p:txBody>
      </p:sp>
      <p:sp>
        <p:nvSpPr>
          <p:cNvPr id="36867"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fr-FR" altLang="fr-FR" noProof="0" smtClean="0"/>
              <a:t>Cliquez pour modifier le style des sous-titres du masque</a:t>
            </a:r>
          </a:p>
        </p:txBody>
      </p:sp>
      <p:sp>
        <p:nvSpPr>
          <p:cNvPr id="4"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6" name="Rectangle 6"/>
          <p:cNvSpPr>
            <a:spLocks noGrp="1" noChangeArrowheads="1"/>
          </p:cNvSpPr>
          <p:nvPr>
            <p:ph type="sldNum" sz="quarter" idx="12"/>
          </p:nvPr>
        </p:nvSpPr>
        <p:spPr>
          <a:ln/>
        </p:spPr>
        <p:txBody>
          <a:bodyPr/>
          <a:lstStyle>
            <a:lvl1pPr>
              <a:defRPr/>
            </a:lvl1pPr>
          </a:lstStyle>
          <a:p>
            <a:fld id="{E1EF83D4-FA72-420D-8DB9-EC8730973953}" type="slidenum">
              <a:rPr lang="fr-FR" altLang="fr-FR"/>
              <a:pPr/>
              <a:t>‹N°›</a:t>
            </a:fld>
            <a:endParaRPr lang="fr-FR" altLang="fr-FR"/>
          </a:p>
        </p:txBody>
      </p:sp>
    </p:spTree>
    <p:extLst>
      <p:ext uri="{BB962C8B-B14F-4D97-AF65-F5344CB8AC3E}">
        <p14:creationId xmlns:p14="http://schemas.microsoft.com/office/powerpoint/2010/main" val="4168656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6" name="Rectangle 6"/>
          <p:cNvSpPr>
            <a:spLocks noGrp="1" noChangeArrowheads="1"/>
          </p:cNvSpPr>
          <p:nvPr>
            <p:ph type="sldNum" sz="quarter" idx="12"/>
          </p:nvPr>
        </p:nvSpPr>
        <p:spPr>
          <a:ln/>
        </p:spPr>
        <p:txBody>
          <a:bodyPr/>
          <a:lstStyle>
            <a:lvl1pPr>
              <a:defRPr/>
            </a:lvl1pPr>
          </a:lstStyle>
          <a:p>
            <a:fld id="{34F015CB-38C2-476E-A688-16472A71F6A0}" type="slidenum">
              <a:rPr lang="fr-FR" altLang="fr-FR"/>
              <a:pPr/>
              <a:t>‹N°›</a:t>
            </a:fld>
            <a:endParaRPr lang="fr-FR" altLang="fr-FR"/>
          </a:p>
        </p:txBody>
      </p:sp>
    </p:spTree>
    <p:extLst>
      <p:ext uri="{BB962C8B-B14F-4D97-AF65-F5344CB8AC3E}">
        <p14:creationId xmlns:p14="http://schemas.microsoft.com/office/powerpoint/2010/main" val="3086657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Modifiez les styles du texte du masque</a:t>
            </a:r>
          </a:p>
        </p:txBody>
      </p:sp>
      <p:sp>
        <p:nvSpPr>
          <p:cNvPr id="4"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6" name="Rectangle 6"/>
          <p:cNvSpPr>
            <a:spLocks noGrp="1" noChangeArrowheads="1"/>
          </p:cNvSpPr>
          <p:nvPr>
            <p:ph type="sldNum" sz="quarter" idx="12"/>
          </p:nvPr>
        </p:nvSpPr>
        <p:spPr>
          <a:ln/>
        </p:spPr>
        <p:txBody>
          <a:bodyPr/>
          <a:lstStyle>
            <a:lvl1pPr>
              <a:defRPr/>
            </a:lvl1pPr>
          </a:lstStyle>
          <a:p>
            <a:fld id="{339A302A-825A-41A2-BC47-5037D2B8DD53}" type="slidenum">
              <a:rPr lang="fr-FR" altLang="fr-FR"/>
              <a:pPr/>
              <a:t>‹N°›</a:t>
            </a:fld>
            <a:endParaRPr lang="fr-FR" altLang="fr-FR"/>
          </a:p>
        </p:txBody>
      </p:sp>
    </p:spTree>
    <p:extLst>
      <p:ext uri="{BB962C8B-B14F-4D97-AF65-F5344CB8AC3E}">
        <p14:creationId xmlns:p14="http://schemas.microsoft.com/office/powerpoint/2010/main" val="768424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7" name="Rectangle 6"/>
          <p:cNvSpPr>
            <a:spLocks noGrp="1" noChangeArrowheads="1"/>
          </p:cNvSpPr>
          <p:nvPr>
            <p:ph type="sldNum" sz="quarter" idx="12"/>
          </p:nvPr>
        </p:nvSpPr>
        <p:spPr>
          <a:ln/>
        </p:spPr>
        <p:txBody>
          <a:bodyPr/>
          <a:lstStyle>
            <a:lvl1pPr>
              <a:defRPr/>
            </a:lvl1pPr>
          </a:lstStyle>
          <a:p>
            <a:fld id="{124833E3-85A1-48C9-A9E2-CB8AF77C0504}" type="slidenum">
              <a:rPr lang="fr-FR" altLang="fr-FR"/>
              <a:pPr/>
              <a:t>‹N°›</a:t>
            </a:fld>
            <a:endParaRPr lang="fr-FR" altLang="fr-FR"/>
          </a:p>
        </p:txBody>
      </p:sp>
    </p:spTree>
    <p:extLst>
      <p:ext uri="{BB962C8B-B14F-4D97-AF65-F5344CB8AC3E}">
        <p14:creationId xmlns:p14="http://schemas.microsoft.com/office/powerpoint/2010/main" val="2038861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8"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9" name="Rectangle 6"/>
          <p:cNvSpPr>
            <a:spLocks noGrp="1" noChangeArrowheads="1"/>
          </p:cNvSpPr>
          <p:nvPr>
            <p:ph type="sldNum" sz="quarter" idx="12"/>
          </p:nvPr>
        </p:nvSpPr>
        <p:spPr>
          <a:ln/>
        </p:spPr>
        <p:txBody>
          <a:bodyPr/>
          <a:lstStyle>
            <a:lvl1pPr>
              <a:defRPr/>
            </a:lvl1pPr>
          </a:lstStyle>
          <a:p>
            <a:fld id="{86CE67A3-E99C-42BC-B590-C8EAF3029A80}" type="slidenum">
              <a:rPr lang="fr-FR" altLang="fr-FR"/>
              <a:pPr/>
              <a:t>‹N°›</a:t>
            </a:fld>
            <a:endParaRPr lang="fr-FR" altLang="fr-FR"/>
          </a:p>
        </p:txBody>
      </p:sp>
    </p:spTree>
    <p:extLst>
      <p:ext uri="{BB962C8B-B14F-4D97-AF65-F5344CB8AC3E}">
        <p14:creationId xmlns:p14="http://schemas.microsoft.com/office/powerpoint/2010/main" val="2785030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4"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5" name="Rectangle 6"/>
          <p:cNvSpPr>
            <a:spLocks noGrp="1" noChangeArrowheads="1"/>
          </p:cNvSpPr>
          <p:nvPr>
            <p:ph type="sldNum" sz="quarter" idx="12"/>
          </p:nvPr>
        </p:nvSpPr>
        <p:spPr>
          <a:ln/>
        </p:spPr>
        <p:txBody>
          <a:bodyPr/>
          <a:lstStyle>
            <a:lvl1pPr>
              <a:defRPr/>
            </a:lvl1pPr>
          </a:lstStyle>
          <a:p>
            <a:fld id="{CC50CC83-6E7E-446A-BD29-9CB7A5B573BB}" type="slidenum">
              <a:rPr lang="fr-FR" altLang="fr-FR"/>
              <a:pPr/>
              <a:t>‹N°›</a:t>
            </a:fld>
            <a:endParaRPr lang="fr-FR" altLang="fr-FR"/>
          </a:p>
        </p:txBody>
      </p:sp>
    </p:spTree>
    <p:extLst>
      <p:ext uri="{BB962C8B-B14F-4D97-AF65-F5344CB8AC3E}">
        <p14:creationId xmlns:p14="http://schemas.microsoft.com/office/powerpoint/2010/main" val="439765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3"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4" name="Rectangle 6"/>
          <p:cNvSpPr>
            <a:spLocks noGrp="1" noChangeArrowheads="1"/>
          </p:cNvSpPr>
          <p:nvPr>
            <p:ph type="sldNum" sz="quarter" idx="12"/>
          </p:nvPr>
        </p:nvSpPr>
        <p:spPr>
          <a:ln/>
        </p:spPr>
        <p:txBody>
          <a:bodyPr/>
          <a:lstStyle>
            <a:lvl1pPr>
              <a:defRPr/>
            </a:lvl1pPr>
          </a:lstStyle>
          <a:p>
            <a:fld id="{AF3FEF4D-C289-4C78-840A-D9199DB6E74E}" type="slidenum">
              <a:rPr lang="fr-FR" altLang="fr-FR"/>
              <a:pPr/>
              <a:t>‹N°›</a:t>
            </a:fld>
            <a:endParaRPr lang="fr-FR" altLang="fr-FR"/>
          </a:p>
        </p:txBody>
      </p:sp>
    </p:spTree>
    <p:extLst>
      <p:ext uri="{BB962C8B-B14F-4D97-AF65-F5344CB8AC3E}">
        <p14:creationId xmlns:p14="http://schemas.microsoft.com/office/powerpoint/2010/main" val="2147765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7" name="Rectangle 6"/>
          <p:cNvSpPr>
            <a:spLocks noGrp="1" noChangeArrowheads="1"/>
          </p:cNvSpPr>
          <p:nvPr>
            <p:ph type="sldNum" sz="quarter" idx="12"/>
          </p:nvPr>
        </p:nvSpPr>
        <p:spPr>
          <a:ln/>
        </p:spPr>
        <p:txBody>
          <a:bodyPr/>
          <a:lstStyle>
            <a:lvl1pPr>
              <a:defRPr/>
            </a:lvl1pPr>
          </a:lstStyle>
          <a:p>
            <a:fld id="{757E938A-427F-46CC-831E-07E653AAB62A}" type="slidenum">
              <a:rPr lang="fr-FR" altLang="fr-FR"/>
              <a:pPr/>
              <a:t>‹N°›</a:t>
            </a:fld>
            <a:endParaRPr lang="fr-FR" altLang="fr-FR"/>
          </a:p>
        </p:txBody>
      </p:sp>
    </p:spTree>
    <p:extLst>
      <p:ext uri="{BB962C8B-B14F-4D97-AF65-F5344CB8AC3E}">
        <p14:creationId xmlns:p14="http://schemas.microsoft.com/office/powerpoint/2010/main" val="8243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7" name="Rectangle 6"/>
          <p:cNvSpPr>
            <a:spLocks noGrp="1" noChangeArrowheads="1"/>
          </p:cNvSpPr>
          <p:nvPr>
            <p:ph type="sldNum" sz="quarter" idx="12"/>
          </p:nvPr>
        </p:nvSpPr>
        <p:spPr>
          <a:ln/>
        </p:spPr>
        <p:txBody>
          <a:bodyPr/>
          <a:lstStyle>
            <a:lvl1pPr>
              <a:defRPr/>
            </a:lvl1pPr>
          </a:lstStyle>
          <a:p>
            <a:fld id="{126FE6F0-CDD3-4F8B-9A97-7DA0F2E06359}" type="slidenum">
              <a:rPr lang="fr-FR" altLang="fr-FR"/>
              <a:pPr/>
              <a:t>‹N°›</a:t>
            </a:fld>
            <a:endParaRPr lang="fr-FR" altLang="fr-FR"/>
          </a:p>
        </p:txBody>
      </p:sp>
    </p:spTree>
    <p:extLst>
      <p:ext uri="{BB962C8B-B14F-4D97-AF65-F5344CB8AC3E}">
        <p14:creationId xmlns:p14="http://schemas.microsoft.com/office/powerpoint/2010/main" val="3848001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6" name="Rectangle 6"/>
          <p:cNvSpPr>
            <a:spLocks noGrp="1" noChangeArrowheads="1"/>
          </p:cNvSpPr>
          <p:nvPr>
            <p:ph type="sldNum" sz="quarter" idx="12"/>
          </p:nvPr>
        </p:nvSpPr>
        <p:spPr>
          <a:ln/>
        </p:spPr>
        <p:txBody>
          <a:bodyPr/>
          <a:lstStyle>
            <a:lvl1pPr>
              <a:defRPr/>
            </a:lvl1pPr>
          </a:lstStyle>
          <a:p>
            <a:fld id="{440DECB2-A2FE-4CF3-84A0-D1E2206CAF0E}" type="slidenum">
              <a:rPr lang="fr-FR" altLang="fr-FR"/>
              <a:pPr/>
              <a:t>‹N°›</a:t>
            </a:fld>
            <a:endParaRPr lang="fr-FR" altLang="fr-FR"/>
          </a:p>
        </p:txBody>
      </p:sp>
    </p:spTree>
    <p:extLst>
      <p:ext uri="{BB962C8B-B14F-4D97-AF65-F5344CB8AC3E}">
        <p14:creationId xmlns:p14="http://schemas.microsoft.com/office/powerpoint/2010/main" val="2884872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fr-FR" alt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ltLang="fr-FR"/>
          </a:p>
        </p:txBody>
      </p:sp>
      <p:sp>
        <p:nvSpPr>
          <p:cNvPr id="6" name="Rectangle 6"/>
          <p:cNvSpPr>
            <a:spLocks noGrp="1" noChangeArrowheads="1"/>
          </p:cNvSpPr>
          <p:nvPr>
            <p:ph type="sldNum" sz="quarter" idx="12"/>
          </p:nvPr>
        </p:nvSpPr>
        <p:spPr>
          <a:ln/>
        </p:spPr>
        <p:txBody>
          <a:bodyPr/>
          <a:lstStyle>
            <a:lvl1pPr>
              <a:defRPr/>
            </a:lvl1pPr>
          </a:lstStyle>
          <a:p>
            <a:fld id="{F2659E57-B371-406A-86E7-52A5ECFB99A4}" type="slidenum">
              <a:rPr lang="fr-FR" altLang="fr-FR"/>
              <a:pPr/>
              <a:t>‹N°›</a:t>
            </a:fld>
            <a:endParaRPr lang="fr-FR" altLang="fr-FR"/>
          </a:p>
        </p:txBody>
      </p:sp>
    </p:spTree>
    <p:extLst>
      <p:ext uri="{BB962C8B-B14F-4D97-AF65-F5344CB8AC3E}">
        <p14:creationId xmlns:p14="http://schemas.microsoft.com/office/powerpoint/2010/main" val="3793934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fr-FR" altLang="fr-FR" smtClean="0"/>
              <a:t>Cliquez pour modifier le style du titre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altLang="fr-FR" smtClean="0"/>
              <a:t>Cliquez pour modifier les styles du texte du masque</a:t>
            </a:r>
          </a:p>
          <a:p>
            <a:pPr lvl="1"/>
            <a:r>
              <a:rPr lang="fr-FR" altLang="fr-FR" smtClean="0"/>
              <a:t>Deuxième niveau</a:t>
            </a:r>
          </a:p>
          <a:p>
            <a:pPr lvl="2"/>
            <a:r>
              <a:rPr lang="fr-FR" altLang="fr-FR" smtClean="0"/>
              <a:t>Troisième niveau</a:t>
            </a:r>
          </a:p>
          <a:p>
            <a:pPr lvl="3"/>
            <a:r>
              <a:rPr lang="fr-FR" altLang="fr-FR" smtClean="0"/>
              <a:t>Quatrième niveau</a:t>
            </a:r>
          </a:p>
          <a:p>
            <a:pPr lvl="4"/>
            <a:r>
              <a:rPr lang="fr-FR" altLang="fr-FR" smtClean="0"/>
              <a:t>Cinquième niveau</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atin typeface="Arial" charset="0"/>
              </a:defRPr>
            </a:lvl1pPr>
          </a:lstStyle>
          <a:p>
            <a:pPr>
              <a:defRPr/>
            </a:pPr>
            <a:endParaRPr lang="fr-FR" altLang="fr-F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atin typeface="Arial" charset="0"/>
              </a:defRPr>
            </a:lvl1pPr>
          </a:lstStyle>
          <a:p>
            <a:pPr>
              <a:defRPr/>
            </a:pPr>
            <a:endParaRPr lang="fr-FR" altLang="fr-F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FEBA9F69-5C4F-4F83-A5B7-23814CC78D6C}" type="slidenum">
              <a:rPr lang="fr-FR" altLang="fr-FR"/>
              <a:pPr/>
              <a:t>‹N°›</a:t>
            </a:fld>
            <a:endParaRPr lang="fr-FR" alt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r>
              <a:rPr lang="fr-FR" altLang="fr-FR" smtClean="0"/>
              <a:t>INITIATION AU LOGICIEL SAS</a:t>
            </a:r>
          </a:p>
        </p:txBody>
      </p:sp>
      <p:sp>
        <p:nvSpPr>
          <p:cNvPr id="2051" name="Rectangle 3"/>
          <p:cNvSpPr>
            <a:spLocks noGrp="1" noChangeArrowheads="1"/>
          </p:cNvSpPr>
          <p:nvPr>
            <p:ph type="subTitle" idx="1"/>
          </p:nvPr>
        </p:nvSpPr>
        <p:spPr>
          <a:xfrm>
            <a:off x="1403350" y="4508500"/>
            <a:ext cx="6400800" cy="554038"/>
          </a:xfrm>
        </p:spPr>
        <p:txBody>
          <a:bodyPr/>
          <a:lstStyle/>
          <a:p>
            <a:pPr eaLnBrk="1" hangingPunct="1">
              <a:lnSpc>
                <a:spcPct val="90000"/>
              </a:lnSpc>
            </a:pPr>
            <a:r>
              <a:rPr lang="fr-FR" altLang="fr-FR" dirty="0" smtClean="0"/>
              <a:t>MASTER MQME</a:t>
            </a:r>
            <a:endParaRPr lang="fr-FR" altLang="fr-FR" dirty="0" smtClean="0"/>
          </a:p>
        </p:txBody>
      </p:sp>
      <p:sp>
        <p:nvSpPr>
          <p:cNvPr id="2052" name="Rectangle 4"/>
          <p:cNvSpPr>
            <a:spLocks noChangeArrowheads="1"/>
          </p:cNvSpPr>
          <p:nvPr/>
        </p:nvSpPr>
        <p:spPr bwMode="auto">
          <a:xfrm>
            <a:off x="1187450" y="5589588"/>
            <a:ext cx="6840538"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har char="•"/>
              <a:defRPr sz="3200">
                <a:solidFill>
                  <a:schemeClr val="tx1"/>
                </a:solidFill>
                <a:latin typeface="Arial" panose="020B0604020202020204" pitchFamily="34" charset="0"/>
              </a:defRPr>
            </a:lvl1pPr>
            <a:lvl2pPr marL="742950" indent="-285750" eaLnBrk="0" hangingPunct="0">
              <a:spcBef>
                <a:spcPct val="20000"/>
              </a:spcBef>
              <a:buChar char="–"/>
              <a:defRPr sz="2800">
                <a:solidFill>
                  <a:schemeClr val="tx1"/>
                </a:solidFill>
                <a:latin typeface="Arial" panose="020B0604020202020204" pitchFamily="34" charset="0"/>
              </a:defRPr>
            </a:lvl2pPr>
            <a:lvl3pPr marL="1143000" indent="-228600" eaLnBrk="0" hangingPunct="0">
              <a:spcBef>
                <a:spcPct val="20000"/>
              </a:spcBef>
              <a:buChar char="•"/>
              <a:defRPr sz="24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90000"/>
              </a:lnSpc>
              <a:buFontTx/>
              <a:buNone/>
            </a:pPr>
            <a:r>
              <a:rPr lang="fr-FR" altLang="fr-FR" sz="1800"/>
              <a:t>Nicolas Cabaj </a:t>
            </a:r>
          </a:p>
          <a:p>
            <a:pPr algn="ctr" eaLnBrk="1" hangingPunct="1">
              <a:lnSpc>
                <a:spcPct val="90000"/>
              </a:lnSpc>
              <a:buFontTx/>
              <a:buNone/>
            </a:pPr>
            <a:r>
              <a:rPr lang="fr-FR" altLang="fr-FR" sz="1800"/>
              <a:t> Directeur Statistiques</a:t>
            </a:r>
          </a:p>
          <a:p>
            <a:pPr algn="ctr" eaLnBrk="1" hangingPunct="1">
              <a:lnSpc>
                <a:spcPct val="90000"/>
              </a:lnSpc>
              <a:buFontTx/>
              <a:buNone/>
            </a:pPr>
            <a:r>
              <a:rPr lang="fr-FR" altLang="fr-FR" sz="1800"/>
              <a:t>EOS FRANCE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457200" y="58738"/>
            <a:ext cx="8229600" cy="633412"/>
          </a:xfrm>
        </p:spPr>
        <p:txBody>
          <a:bodyPr/>
          <a:lstStyle/>
          <a:p>
            <a:pPr eaLnBrk="1" hangingPunct="1"/>
            <a:r>
              <a:rPr lang="fr-FR" altLang="fr-FR" sz="3600" smtClean="0"/>
              <a:t>SOMMAIRE</a:t>
            </a:r>
          </a:p>
        </p:txBody>
      </p:sp>
      <p:sp>
        <p:nvSpPr>
          <p:cNvPr id="3075" name="Text Box 3"/>
          <p:cNvSpPr txBox="1">
            <a:spLocks noChangeArrowheads="1"/>
          </p:cNvSpPr>
          <p:nvPr/>
        </p:nvSpPr>
        <p:spPr bwMode="auto">
          <a:xfrm>
            <a:off x="0" y="765175"/>
            <a:ext cx="9144000" cy="542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Arial" panose="020B0604020202020204" pitchFamily="34" charset="0"/>
              </a:defRPr>
            </a:lvl1pPr>
            <a:lvl2pPr marL="800100" indent="-342900" eaLnBrk="0" hangingPunct="0">
              <a:defRPr>
                <a:solidFill>
                  <a:schemeClr val="tx1"/>
                </a:solidFill>
                <a:latin typeface="Arial" panose="020B0604020202020204" pitchFamily="34" charset="0"/>
              </a:defRPr>
            </a:lvl2pPr>
            <a:lvl3pPr marL="1257300" indent="-342900" eaLnBrk="0" hangingPunct="0">
              <a:defRPr>
                <a:solidFill>
                  <a:schemeClr val="tx1"/>
                </a:solidFill>
                <a:latin typeface="Arial" panose="020B0604020202020204" pitchFamily="34" charset="0"/>
              </a:defRPr>
            </a:lvl3pPr>
            <a:lvl4pPr marL="1714500" indent="-342900" eaLnBrk="0" hangingPunct="0">
              <a:defRPr>
                <a:solidFill>
                  <a:schemeClr val="tx1"/>
                </a:solidFill>
                <a:latin typeface="Arial" panose="020B0604020202020204" pitchFamily="34" charset="0"/>
              </a:defRPr>
            </a:lvl4pPr>
            <a:lvl5pPr marL="2171700" indent="-342900" eaLnBrk="0" hangingPunct="0">
              <a:defRPr>
                <a:solidFill>
                  <a:schemeClr val="tx1"/>
                </a:solidFill>
                <a:latin typeface="Arial" panose="020B0604020202020204" pitchFamily="34" charset="0"/>
              </a:defRPr>
            </a:lvl5pPr>
            <a:lvl6pPr marL="2628900" indent="-342900" eaLnBrk="0" fontAlgn="base" hangingPunct="0">
              <a:spcBef>
                <a:spcPct val="0"/>
              </a:spcBef>
              <a:spcAft>
                <a:spcPct val="0"/>
              </a:spcAft>
              <a:defRPr>
                <a:solidFill>
                  <a:schemeClr val="tx1"/>
                </a:solidFill>
                <a:latin typeface="Arial" panose="020B0604020202020204" pitchFamily="34" charset="0"/>
              </a:defRPr>
            </a:lvl6pPr>
            <a:lvl7pPr marL="3086100" indent="-342900" eaLnBrk="0" fontAlgn="base" hangingPunct="0">
              <a:spcBef>
                <a:spcPct val="0"/>
              </a:spcBef>
              <a:spcAft>
                <a:spcPct val="0"/>
              </a:spcAft>
              <a:defRPr>
                <a:solidFill>
                  <a:schemeClr val="tx1"/>
                </a:solidFill>
                <a:latin typeface="Arial" panose="020B0604020202020204" pitchFamily="34" charset="0"/>
              </a:defRPr>
            </a:lvl7pPr>
            <a:lvl8pPr marL="3543300" indent="-342900" eaLnBrk="0" fontAlgn="base" hangingPunct="0">
              <a:spcBef>
                <a:spcPct val="0"/>
              </a:spcBef>
              <a:spcAft>
                <a:spcPct val="0"/>
              </a:spcAft>
              <a:defRPr>
                <a:solidFill>
                  <a:schemeClr val="tx1"/>
                </a:solidFill>
                <a:latin typeface="Arial" panose="020B0604020202020204" pitchFamily="34" charset="0"/>
              </a:defRPr>
            </a:lvl8pPr>
            <a:lvl9pPr marL="4000500"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rabicPeriod"/>
            </a:pPr>
            <a:r>
              <a:rPr lang="fr-FR" altLang="fr-FR" sz="2000"/>
              <a:t>Présentation du logiciel</a:t>
            </a:r>
          </a:p>
          <a:p>
            <a:pPr eaLnBrk="1" hangingPunct="1">
              <a:spcBef>
                <a:spcPct val="50000"/>
              </a:spcBef>
              <a:buFontTx/>
              <a:buAutoNum type="arabicPeriod"/>
            </a:pPr>
            <a:r>
              <a:rPr lang="fr-FR" altLang="fr-FR" sz="2000"/>
              <a:t>Importation des données</a:t>
            </a:r>
          </a:p>
          <a:p>
            <a:pPr eaLnBrk="1" hangingPunct="1">
              <a:spcBef>
                <a:spcPct val="50000"/>
              </a:spcBef>
              <a:buFontTx/>
              <a:buAutoNum type="arabicPeriod"/>
            </a:pPr>
            <a:r>
              <a:rPr lang="fr-FR" altLang="fr-FR" sz="2000"/>
              <a:t>L’étape Data et les proc print et contents</a:t>
            </a:r>
          </a:p>
          <a:p>
            <a:pPr eaLnBrk="1" hangingPunct="1">
              <a:spcBef>
                <a:spcPct val="50000"/>
              </a:spcBef>
              <a:buFontTx/>
              <a:buAutoNum type="arabicPeriod"/>
            </a:pPr>
            <a:r>
              <a:rPr lang="fr-FR" altLang="fr-FR" sz="2000"/>
              <a:t>Les opérateurs arithmétiques et les fonctions SAS</a:t>
            </a:r>
          </a:p>
          <a:p>
            <a:pPr eaLnBrk="1" hangingPunct="1">
              <a:spcBef>
                <a:spcPct val="50000"/>
              </a:spcBef>
              <a:buFontTx/>
              <a:buAutoNum type="arabicPeriod"/>
            </a:pPr>
            <a:r>
              <a:rPr lang="fr-FR" altLang="fr-FR" sz="2000"/>
              <a:t>Les fonctions conditionnelles et logiques </a:t>
            </a:r>
          </a:p>
          <a:p>
            <a:pPr eaLnBrk="1" hangingPunct="1">
              <a:spcBef>
                <a:spcPct val="50000"/>
              </a:spcBef>
              <a:buFontTx/>
              <a:buAutoNum type="arabicPeriod"/>
            </a:pPr>
            <a:r>
              <a:rPr lang="fr-FR" altLang="fr-FR" sz="2000"/>
              <a:t>La proc sort</a:t>
            </a:r>
          </a:p>
          <a:p>
            <a:pPr eaLnBrk="1" hangingPunct="1">
              <a:spcBef>
                <a:spcPct val="50000"/>
              </a:spcBef>
              <a:buFontTx/>
              <a:buAutoNum type="arabicPeriod"/>
            </a:pPr>
            <a:r>
              <a:rPr lang="fr-FR" altLang="fr-FR" sz="2000"/>
              <a:t>Les fusions de tables</a:t>
            </a:r>
          </a:p>
          <a:p>
            <a:pPr eaLnBrk="1" hangingPunct="1">
              <a:spcBef>
                <a:spcPct val="50000"/>
              </a:spcBef>
              <a:buFontTx/>
              <a:buAutoNum type="arabicPeriod"/>
            </a:pPr>
            <a:r>
              <a:rPr lang="fr-FR" altLang="fr-FR" sz="2000"/>
              <a:t>La proc Format</a:t>
            </a:r>
          </a:p>
          <a:p>
            <a:pPr eaLnBrk="1" hangingPunct="1">
              <a:spcBef>
                <a:spcPct val="50000"/>
              </a:spcBef>
              <a:buFontTx/>
              <a:buAutoNum type="arabicPeriod"/>
            </a:pPr>
            <a:r>
              <a:rPr lang="fr-FR" altLang="fr-FR" sz="2000"/>
              <a:t>La proc freq</a:t>
            </a:r>
          </a:p>
          <a:p>
            <a:pPr eaLnBrk="1" hangingPunct="1">
              <a:spcBef>
                <a:spcPct val="50000"/>
              </a:spcBef>
              <a:buFontTx/>
              <a:buAutoNum type="arabicPeriod"/>
            </a:pPr>
            <a:r>
              <a:rPr lang="fr-FR" altLang="fr-FR" sz="2000"/>
              <a:t> La proc means</a:t>
            </a:r>
          </a:p>
          <a:p>
            <a:pPr eaLnBrk="1" hangingPunct="1">
              <a:spcBef>
                <a:spcPct val="50000"/>
              </a:spcBef>
              <a:buFontTx/>
              <a:buAutoNum type="arabicPeriod"/>
            </a:pPr>
            <a:r>
              <a:rPr lang="fr-FR" altLang="fr-FR" sz="2000"/>
              <a:t> La proc univariate</a:t>
            </a:r>
          </a:p>
          <a:p>
            <a:pPr eaLnBrk="1" hangingPunct="1">
              <a:spcBef>
                <a:spcPct val="50000"/>
              </a:spcBef>
              <a:buFontTx/>
              <a:buAutoNum type="arabicPeriod"/>
            </a:pPr>
            <a:r>
              <a:rPr lang="fr-FR" altLang="fr-FR" sz="2000"/>
              <a:t> Les Dates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58738"/>
            <a:ext cx="8229600" cy="633412"/>
          </a:xfrm>
          <a:noFill/>
        </p:spPr>
        <p:txBody>
          <a:bodyPr/>
          <a:lstStyle/>
          <a:p>
            <a:pPr eaLnBrk="1" hangingPunct="1"/>
            <a:r>
              <a:rPr lang="fr-FR" altLang="fr-FR" sz="3600" smtClean="0"/>
              <a:t>Présentation du logiciel (1/4)</a:t>
            </a:r>
          </a:p>
        </p:txBody>
      </p:sp>
      <p:sp>
        <p:nvSpPr>
          <p:cNvPr id="4099" name="Rectangle 3"/>
          <p:cNvSpPr>
            <a:spLocks noChangeArrowheads="1"/>
          </p:cNvSpPr>
          <p:nvPr/>
        </p:nvSpPr>
        <p:spPr bwMode="auto">
          <a:xfrm>
            <a:off x="0" y="692150"/>
            <a:ext cx="91440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u="sng"/>
              <a:t>Présentation générale</a:t>
            </a:r>
          </a:p>
          <a:p>
            <a:pPr eaLnBrk="1" hangingPunct="1"/>
            <a:r>
              <a:rPr lang="fr-FR" altLang="fr-FR" sz="1600"/>
              <a:t>SAS (Statistical Analysis System) est un logiciel créé par la société SAS® Institute dans les années 1970. C’est un logiciel possédant un langage de programmation puissant et permettant de réaliser des analyses statistiques.</a:t>
            </a:r>
          </a:p>
          <a:p>
            <a:pPr eaLnBrk="1" hangingPunct="1"/>
            <a:endParaRPr lang="fr-FR" altLang="fr-FR" sz="800"/>
          </a:p>
          <a:p>
            <a:pPr eaLnBrk="1" hangingPunct="1"/>
            <a:r>
              <a:rPr lang="fr-FR" altLang="fr-FR" sz="1600" b="1" u="sng"/>
              <a:t>Les fichiers de données</a:t>
            </a:r>
            <a:endParaRPr lang="fr-FR" altLang="fr-FR" sz="1600" u="sng"/>
          </a:p>
          <a:p>
            <a:pPr eaLnBrk="1" hangingPunct="1"/>
            <a:r>
              <a:rPr lang="fr-FR" altLang="fr-FR" sz="1600"/>
              <a:t>SAS travaille sur des fichiers de données qui lui sont propres : ce sont les bases de données SAS . Ces fichiers ont la forme suivante : nomdefichier.sas7bdat</a:t>
            </a:r>
          </a:p>
          <a:p>
            <a:pPr eaLnBrk="1" hangingPunct="1"/>
            <a:r>
              <a:rPr lang="fr-FR" altLang="fr-FR" sz="1600"/>
              <a:t>Les noms de fichiers peuvent contenir au maximum 32 caractères et commencent par une lettre ou un underscore ( _ )</a:t>
            </a:r>
          </a:p>
          <a:p>
            <a:pPr eaLnBrk="1" hangingPunct="1"/>
            <a:endParaRPr lang="fr-FR" altLang="fr-FR" sz="800"/>
          </a:p>
          <a:p>
            <a:pPr eaLnBrk="1" hangingPunct="1"/>
            <a:r>
              <a:rPr lang="fr-FR" altLang="fr-FR" sz="1600"/>
              <a:t>Les tables SAS sont des fichiers de données organisés comme suit :</a:t>
            </a:r>
          </a:p>
          <a:p>
            <a:pPr lvl="1" eaLnBrk="1" hangingPunct="1">
              <a:buFontTx/>
              <a:buChar char="•"/>
            </a:pPr>
            <a:r>
              <a:rPr lang="fr-FR" altLang="fr-FR" sz="1600"/>
              <a:t> en ligne : les observations (individus, ménages, entreprises…)</a:t>
            </a:r>
          </a:p>
          <a:p>
            <a:pPr lvl="1" eaLnBrk="1" hangingPunct="1">
              <a:buFontTx/>
              <a:buChar char="•"/>
            </a:pPr>
            <a:r>
              <a:rPr lang="fr-FR" altLang="fr-FR" sz="1600"/>
              <a:t> en colonne : les variables (sexe, âge, csp, chiffre d’affaires…)</a:t>
            </a:r>
          </a:p>
          <a:p>
            <a:pPr eaLnBrk="1" hangingPunct="1"/>
            <a:r>
              <a:rPr lang="fr-FR" altLang="fr-FR" sz="1600"/>
              <a:t>On peut donc se représenter l’ensemble des données sous la forme d’un tableau où chaque individu occupe une ligne, et où ses caractéristiques occupent les différentes colonnes.</a:t>
            </a:r>
          </a:p>
          <a:p>
            <a:pPr eaLnBrk="1" hangingPunct="1"/>
            <a:endParaRPr lang="fr-FR" altLang="fr-FR" sz="800"/>
          </a:p>
          <a:p>
            <a:pPr eaLnBrk="1" hangingPunct="1"/>
            <a:r>
              <a:rPr lang="fr-FR" altLang="fr-FR" sz="1600" b="1" u="sng"/>
              <a:t>Nature des données</a:t>
            </a:r>
          </a:p>
          <a:p>
            <a:pPr eaLnBrk="1" hangingPunct="1"/>
            <a:r>
              <a:rPr lang="fr-FR" altLang="fr-FR" sz="1600"/>
              <a:t>SAS ne travaille qu’avec deux types de données :</a:t>
            </a:r>
          </a:p>
          <a:p>
            <a:pPr lvl="1" eaLnBrk="1" hangingPunct="1">
              <a:buFontTx/>
              <a:buChar char="•"/>
            </a:pPr>
            <a:r>
              <a:rPr lang="fr-FR" altLang="fr-FR" sz="1600"/>
              <a:t> Numeric : les données sont constituées de chiffres formant des nombres</a:t>
            </a:r>
          </a:p>
          <a:p>
            <a:pPr lvl="1" eaLnBrk="1" hangingPunct="1">
              <a:buFontTx/>
              <a:buChar char="•"/>
            </a:pPr>
            <a:r>
              <a:rPr lang="fr-FR" altLang="fr-FR" sz="1600"/>
              <a:t> Character : les données sont constituées de tout caractère possible en informatique</a:t>
            </a:r>
          </a:p>
          <a:p>
            <a:pPr lvl="1" eaLnBrk="1" hangingPunct="1"/>
            <a:endParaRPr lang="fr-FR" altLang="fr-FR" sz="800"/>
          </a:p>
          <a:p>
            <a:pPr eaLnBrk="1" hangingPunct="1"/>
            <a:r>
              <a:rPr lang="fr-FR" altLang="fr-FR" sz="1600"/>
              <a:t>Attention : si une variable qualitative est codée avec des chiffres (ex CSP), elle peut être déclarée comme numérique et SAS acceptera de calculer une moyenne sur cette variable (alors que cela n’a aucun sens) ! Il faut donc faire attention aux erreurs de manipulation et d’interprétation…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2713"/>
            <a:ext cx="8229600" cy="652462"/>
          </a:xfrm>
          <a:noFill/>
        </p:spPr>
        <p:txBody>
          <a:bodyPr/>
          <a:lstStyle/>
          <a:p>
            <a:pPr eaLnBrk="1" hangingPunct="1"/>
            <a:r>
              <a:rPr lang="fr-FR" altLang="fr-FR" sz="3600" smtClean="0"/>
              <a:t>Présentation du logiciel (2/4)</a:t>
            </a:r>
          </a:p>
        </p:txBody>
      </p:sp>
      <p:grpSp>
        <p:nvGrpSpPr>
          <p:cNvPr id="5123" name="Group 7"/>
          <p:cNvGrpSpPr>
            <a:grpSpLocks/>
          </p:cNvGrpSpPr>
          <p:nvPr/>
        </p:nvGrpSpPr>
        <p:grpSpPr bwMode="auto">
          <a:xfrm>
            <a:off x="0" y="692150"/>
            <a:ext cx="9144000" cy="5959475"/>
            <a:chOff x="0" y="436"/>
            <a:chExt cx="5760" cy="3754"/>
          </a:xfrm>
        </p:grpSpPr>
        <p:sp>
          <p:nvSpPr>
            <p:cNvPr id="5124" name="Rectangle 4"/>
            <p:cNvSpPr>
              <a:spLocks noChangeArrowheads="1"/>
            </p:cNvSpPr>
            <p:nvPr/>
          </p:nvSpPr>
          <p:spPr bwMode="auto">
            <a:xfrm>
              <a:off x="0" y="436"/>
              <a:ext cx="5760" cy="3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u="sng"/>
                <a:t>Environnement de travail</a:t>
              </a:r>
            </a:p>
            <a:p>
              <a:pPr eaLnBrk="1" hangingPunct="1"/>
              <a:r>
                <a:rPr lang="fr-FR" altLang="fr-FR" sz="1600"/>
                <a:t>SAS est composé de différentes fenêtres ayant des fonctions différentes. Il suffit de cliquer sur l’onglet correspondant pour rendre visibles ces fenêtres.</a:t>
              </a:r>
            </a:p>
            <a:p>
              <a:pPr eaLnBrk="1" hangingPunct="1"/>
              <a:r>
                <a:rPr lang="fr-FR" altLang="fr-FR" sz="1600"/>
                <a:t> 	</a:t>
              </a:r>
              <a:r>
                <a:rPr lang="fr-FR" altLang="fr-FR" sz="1600" b="1"/>
                <a:t>Editor (ou éditeur)</a:t>
              </a:r>
            </a:p>
            <a:p>
              <a:pPr eaLnBrk="1" hangingPunct="1"/>
              <a:r>
                <a:rPr lang="fr-FR" altLang="fr-FR" sz="1600"/>
                <a:t>C’est la fenêtre de saisie des programmes que l’on veut soumettre. Une fois tapés, les</a:t>
              </a:r>
            </a:p>
            <a:p>
              <a:pPr eaLnBrk="1" hangingPunct="1"/>
              <a:r>
                <a:rPr lang="fr-FR" altLang="fr-FR" sz="1600"/>
                <a:t>programmes doivent être exécutés : il faut sélectionner le programme puis utiliser la touche F8 ou cliquer sur l’icône</a:t>
              </a:r>
            </a:p>
            <a:p>
              <a:pPr eaLnBrk="1" hangingPunct="1"/>
              <a:r>
                <a:rPr lang="fr-FR" altLang="fr-FR" sz="1600"/>
                <a:t> 	</a:t>
              </a:r>
              <a:r>
                <a:rPr lang="fr-FR" altLang="fr-FR" sz="1600" b="1"/>
                <a:t>Log (ou journal)</a:t>
              </a:r>
            </a:p>
            <a:p>
              <a:pPr eaLnBrk="1" hangingPunct="1"/>
              <a:r>
                <a:rPr lang="fr-FR" altLang="fr-FR" sz="1600"/>
                <a:t>Cette fenêtre affiche les instructions saisies dans l’editor et soumises à SAS. Y sont affichées toutes les erreurs de syntaxe ainsi que les informations relatives aux traitements effectués. Il est indispensable de consulter le log à chaque fois qu’un programme est soumis.</a:t>
              </a:r>
            </a:p>
            <a:p>
              <a:pPr eaLnBrk="1" hangingPunct="1"/>
              <a:r>
                <a:rPr lang="fr-FR" altLang="fr-FR" sz="1600"/>
                <a:t> 	</a:t>
              </a:r>
              <a:r>
                <a:rPr lang="fr-FR" altLang="fr-FR" sz="1600" b="1"/>
                <a:t>Output (ou sortie)</a:t>
              </a:r>
            </a:p>
            <a:p>
              <a:pPr eaLnBrk="1" hangingPunct="1"/>
              <a:r>
                <a:rPr lang="fr-FR" altLang="fr-FR" sz="1600"/>
                <a:t>C’est la fenêtre d’affichage des résultats (tableaux…).</a:t>
              </a:r>
            </a:p>
            <a:p>
              <a:pPr eaLnBrk="1" hangingPunct="1"/>
              <a:r>
                <a:rPr lang="fr-FR" altLang="fr-FR" sz="1600" b="1"/>
                <a:t>	Explorer (ou explorateur)</a:t>
              </a:r>
            </a:p>
            <a:p>
              <a:pPr eaLnBrk="1" hangingPunct="1"/>
              <a:r>
                <a:rPr lang="fr-FR" altLang="fr-FR" sz="1600"/>
                <a:t>Accessible via l’icône           , l’explorer permet de visualiser les librairies de SAS.</a:t>
              </a:r>
            </a:p>
            <a:p>
              <a:pPr eaLnBrk="1" hangingPunct="1"/>
              <a:r>
                <a:rPr lang="fr-FR" altLang="fr-FR" sz="1600"/>
                <a:t>Un double-clic sur une library l’ouvre et indique les bases de données qu’elle contient.</a:t>
              </a:r>
            </a:p>
            <a:p>
              <a:pPr eaLnBrk="1" hangingPunct="1"/>
              <a:r>
                <a:rPr lang="fr-FR" altLang="fr-FR" sz="1600"/>
                <a:t>Un clic droit sur une base de données puis "open" (ou un double clic) permet de visualiser la base. Un clic droit sur une base de données puis "view columns" permet notamment de visualiser :</a:t>
              </a:r>
            </a:p>
            <a:p>
              <a:pPr eaLnBrk="1" hangingPunct="1"/>
              <a:r>
                <a:rPr lang="fr-FR" altLang="fr-FR" sz="1600"/>
                <a:t>- la liste des variables contenues dans la base</a:t>
              </a:r>
            </a:p>
            <a:p>
              <a:pPr eaLnBrk="1" hangingPunct="1"/>
              <a:r>
                <a:rPr lang="fr-FR" altLang="fr-FR" sz="1600"/>
                <a:t>- le type des variables (text/number)</a:t>
              </a:r>
            </a:p>
            <a:p>
              <a:pPr eaLnBrk="1" hangingPunct="1"/>
              <a:r>
                <a:rPr lang="fr-FR" altLang="fr-FR" sz="1600"/>
                <a:t>- la longueur à réserver pour stocker les données</a:t>
              </a:r>
            </a:p>
            <a:p>
              <a:pPr eaLnBrk="1" hangingPunct="1"/>
              <a:r>
                <a:rPr lang="fr-FR" altLang="fr-FR" sz="1600"/>
                <a:t>- un label (=intitulé complet "en clair" de la variable)</a:t>
              </a:r>
            </a:p>
            <a:p>
              <a:pPr eaLnBrk="1" hangingPunct="1"/>
              <a:r>
                <a:rPr lang="fr-FR" altLang="fr-FR" sz="1600"/>
                <a:t> 	</a:t>
              </a:r>
              <a:r>
                <a:rPr lang="fr-FR" altLang="fr-FR" sz="1600" b="1"/>
                <a:t>Results (ou résultats)</a:t>
              </a:r>
            </a:p>
            <a:p>
              <a:pPr eaLnBrk="1" hangingPunct="1"/>
              <a:r>
                <a:rPr lang="fr-FR" altLang="fr-FR" sz="1600"/>
                <a:t>Permet de visualiser rapidement les résultats obtenus au cours de la session.</a:t>
              </a:r>
              <a:endParaRPr lang="fr-FR" altLang="fr-FR" sz="1400" b="1"/>
            </a:p>
          </p:txBody>
        </p:sp>
        <p:pic>
          <p:nvPicPr>
            <p:cNvPr id="51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 y="1380"/>
              <a:ext cx="258"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8" y="2614"/>
              <a:ext cx="222"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112713"/>
            <a:ext cx="8229600" cy="652462"/>
          </a:xfrm>
          <a:noFill/>
        </p:spPr>
        <p:txBody>
          <a:bodyPr/>
          <a:lstStyle/>
          <a:p>
            <a:pPr eaLnBrk="1" hangingPunct="1"/>
            <a:r>
              <a:rPr lang="fr-FR" altLang="fr-FR" sz="3600" smtClean="0"/>
              <a:t>Présentation du logiciel (3/4)</a:t>
            </a:r>
          </a:p>
        </p:txBody>
      </p:sp>
      <p:grpSp>
        <p:nvGrpSpPr>
          <p:cNvPr id="6147" name="Group 3"/>
          <p:cNvGrpSpPr>
            <a:grpSpLocks/>
          </p:cNvGrpSpPr>
          <p:nvPr/>
        </p:nvGrpSpPr>
        <p:grpSpPr bwMode="auto">
          <a:xfrm>
            <a:off x="0" y="706438"/>
            <a:ext cx="9144000" cy="6188075"/>
            <a:chOff x="0" y="445"/>
            <a:chExt cx="5760" cy="3898"/>
          </a:xfrm>
        </p:grpSpPr>
        <p:sp>
          <p:nvSpPr>
            <p:cNvPr id="6148" name="Rectangle 4"/>
            <p:cNvSpPr>
              <a:spLocks noChangeArrowheads="1"/>
            </p:cNvSpPr>
            <p:nvPr/>
          </p:nvSpPr>
          <p:spPr bwMode="auto">
            <a:xfrm>
              <a:off x="0" y="445"/>
              <a:ext cx="5760" cy="3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u="sng"/>
                <a:t>Étapes de traitement de données</a:t>
              </a:r>
            </a:p>
            <a:p>
              <a:pPr eaLnBrk="1" hangingPunct="1"/>
              <a:r>
                <a:rPr lang="fr-FR" altLang="fr-FR" sz="1600"/>
                <a:t>Les programmes SAS comportent deux types d’étapes :</a:t>
              </a:r>
            </a:p>
            <a:p>
              <a:pPr eaLnBrk="1" hangingPunct="1"/>
              <a:r>
                <a:rPr lang="fr-FR" altLang="fr-FR" sz="1600" b="1"/>
                <a:t>Les étapes DATA servent à créer ou modifier des tables SAS :</a:t>
              </a:r>
            </a:p>
            <a:p>
              <a:pPr lvl="1" eaLnBrk="1" hangingPunct="1">
                <a:buFontTx/>
                <a:buChar char="•"/>
              </a:pPr>
              <a:r>
                <a:rPr lang="fr-FR" altLang="fr-FR" sz="1600"/>
                <a:t> Création de tables SAS</a:t>
              </a:r>
            </a:p>
            <a:p>
              <a:pPr lvl="1" eaLnBrk="1" hangingPunct="1">
                <a:buFontTx/>
                <a:buChar char="•"/>
              </a:pPr>
              <a:r>
                <a:rPr lang="fr-FR" altLang="fr-FR" sz="1600"/>
                <a:t> Modification des tables SAS existantes (création de variables, fusion de tables…)</a:t>
              </a:r>
            </a:p>
            <a:p>
              <a:pPr lvl="1" eaLnBrk="1" hangingPunct="1">
                <a:buFontTx/>
                <a:buChar char="•"/>
              </a:pPr>
              <a:r>
                <a:rPr lang="fr-FR" altLang="fr-FR" sz="1600"/>
                <a:t> Exportation des tables vers d’autres logiciels</a:t>
              </a:r>
            </a:p>
            <a:p>
              <a:pPr eaLnBrk="1" hangingPunct="1"/>
              <a:r>
                <a:rPr lang="fr-FR" altLang="fr-FR" sz="1600"/>
                <a:t>Une étape DATA commence par le mot clé DATA et se termine par RUN ;</a:t>
              </a:r>
            </a:p>
            <a:p>
              <a:pPr eaLnBrk="1" hangingPunct="1"/>
              <a:endParaRPr lang="fr-FR" altLang="fr-FR" sz="700"/>
            </a:p>
            <a:p>
              <a:pPr eaLnBrk="1" hangingPunct="1"/>
              <a:r>
                <a:rPr lang="fr-FR" altLang="fr-FR" sz="1600" b="1"/>
                <a:t>Les étapes PROC permettent d’analyser les données :</a:t>
              </a:r>
            </a:p>
            <a:p>
              <a:pPr lvl="1" eaLnBrk="1" hangingPunct="1">
                <a:buFontTx/>
                <a:buChar char="•"/>
              </a:pPr>
              <a:r>
                <a:rPr lang="fr-FR" altLang="fr-FR" sz="1600"/>
                <a:t> Production de statistiques : FREQ, UNIVARIATE, MEANS, COOR…</a:t>
              </a:r>
            </a:p>
            <a:p>
              <a:pPr lvl="1" eaLnBrk="1" hangingPunct="1">
                <a:buFontTx/>
                <a:buChar char="•"/>
              </a:pPr>
              <a:r>
                <a:rPr lang="fr-FR" altLang="fr-FR" sz="1600"/>
                <a:t> Gestion de bases de données : SORT, CONTENTS…</a:t>
              </a:r>
            </a:p>
            <a:p>
              <a:pPr lvl="1" eaLnBrk="1" hangingPunct="1">
                <a:buFontTx/>
                <a:buChar char="•"/>
              </a:pPr>
              <a:r>
                <a:rPr lang="fr-FR" altLang="fr-FR" sz="1600"/>
                <a:t> Affichage et mise en forme des données : FORMAT, PRINT, TABULATE</a:t>
              </a:r>
            </a:p>
            <a:p>
              <a:pPr eaLnBrk="1" hangingPunct="1"/>
              <a:r>
                <a:rPr lang="fr-FR" altLang="fr-FR" sz="1600"/>
                <a:t>Une étape PROC commence par le mot clé PROC et se termine par RUN ;</a:t>
              </a:r>
            </a:p>
            <a:p>
              <a:pPr eaLnBrk="1" hangingPunct="1"/>
              <a:endParaRPr lang="fr-FR" altLang="fr-FR" sz="800"/>
            </a:p>
            <a:p>
              <a:pPr eaLnBrk="1" hangingPunct="1"/>
              <a:r>
                <a:rPr lang="fr-FR" altLang="fr-FR" sz="1600" b="1" u="sng"/>
                <a:t>Les instructions et les procédures</a:t>
              </a:r>
            </a:p>
            <a:p>
              <a:pPr eaLnBrk="1" hangingPunct="1"/>
              <a:r>
                <a:rPr lang="fr-FR" altLang="fr-FR" sz="1600"/>
                <a:t>Écrites dans l’editor, les instructions indiquent à SAS le travail à effectuer. Elles commencent</a:t>
              </a:r>
            </a:p>
            <a:p>
              <a:pPr eaLnBrk="1" hangingPunct="1"/>
              <a:r>
                <a:rPr lang="fr-FR" altLang="fr-FR" sz="1600"/>
                <a:t>par un nom de commande SAS et se terminent par un point virgule.</a:t>
              </a:r>
            </a:p>
            <a:p>
              <a:pPr eaLnBrk="1" hangingPunct="1"/>
              <a:r>
                <a:rPr lang="fr-FR" altLang="fr-FR" sz="1600"/>
                <a:t>Une procédure est une suite d’instructions, elle se termine par le mot-clé RUN suivi d’un point-virgule.</a:t>
              </a:r>
            </a:p>
            <a:p>
              <a:pPr eaLnBrk="1" hangingPunct="1"/>
              <a:r>
                <a:rPr lang="fr-FR" altLang="fr-FR" sz="1600"/>
                <a:t>L’exécution des programmes se fait par la touche F8 ou par le bouton .</a:t>
              </a:r>
            </a:p>
            <a:p>
              <a:pPr eaLnBrk="1" hangingPunct="1"/>
              <a:r>
                <a:rPr lang="fr-FR" altLang="fr-FR" sz="1600" b="1" u="sng"/>
                <a:t>Les commentaires</a:t>
              </a:r>
            </a:p>
            <a:p>
              <a:pPr eaLnBrk="1" hangingPunct="1"/>
              <a:r>
                <a:rPr lang="fr-FR" altLang="fr-FR" sz="1600"/>
                <a:t>Il est souvent utile d’insérer des commentaires lors de la rédaction des procédures.</a:t>
              </a:r>
            </a:p>
            <a:p>
              <a:pPr eaLnBrk="1" hangingPunct="1"/>
              <a:r>
                <a:rPr lang="fr-FR" altLang="fr-FR" sz="1600"/>
                <a:t>S’il n’y a qu’une ligne de commentaires, on ouvre la ligne de commentaires par une étoile et</a:t>
              </a:r>
            </a:p>
            <a:p>
              <a:pPr eaLnBrk="1" hangingPunct="1"/>
              <a:r>
                <a:rPr lang="fr-FR" altLang="fr-FR" sz="1600"/>
                <a:t>on la ferme par un point virgule. Exemple : </a:t>
              </a:r>
              <a:r>
                <a:rPr lang="fr-FR" altLang="fr-FR" sz="1600" i="1"/>
                <a:t>* une ligne de commentaire ;</a:t>
              </a:r>
            </a:p>
            <a:p>
              <a:pPr eaLnBrk="1" hangingPunct="1"/>
              <a:r>
                <a:rPr lang="fr-FR" altLang="fr-FR" sz="1600"/>
                <a:t>Si on écrit plusieurs lignes de commentaires, ils seront encadrés au début par /* et à la fin</a:t>
              </a:r>
            </a:p>
            <a:p>
              <a:pPr eaLnBrk="1" hangingPunct="1"/>
              <a:r>
                <a:rPr lang="fr-FR" altLang="fr-FR" sz="1600"/>
                <a:t>par */ Exemple : </a:t>
              </a:r>
              <a:r>
                <a:rPr lang="fr-FR" altLang="fr-FR" sz="1600" i="1"/>
                <a:t>/*plusieurs lignes de commentaire */</a:t>
              </a:r>
              <a:endParaRPr lang="fr-FR" altLang="fr-FR" sz="1200" b="1"/>
            </a:p>
          </p:txBody>
        </p:sp>
        <p:pic>
          <p:nvPicPr>
            <p:cNvPr id="614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4" y="3203"/>
              <a:ext cx="258"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112713"/>
            <a:ext cx="8229600" cy="652462"/>
          </a:xfrm>
          <a:noFill/>
        </p:spPr>
        <p:txBody>
          <a:bodyPr/>
          <a:lstStyle/>
          <a:p>
            <a:pPr eaLnBrk="1" hangingPunct="1"/>
            <a:r>
              <a:rPr lang="fr-FR" altLang="fr-FR" sz="3600" smtClean="0"/>
              <a:t>Présentation du logiciel (4/4)</a:t>
            </a:r>
          </a:p>
        </p:txBody>
      </p:sp>
      <p:sp>
        <p:nvSpPr>
          <p:cNvPr id="7171" name="Rectangle 3"/>
          <p:cNvSpPr>
            <a:spLocks noChangeArrowheads="1"/>
          </p:cNvSpPr>
          <p:nvPr/>
        </p:nvSpPr>
        <p:spPr bwMode="auto">
          <a:xfrm>
            <a:off x="0" y="706438"/>
            <a:ext cx="9144000" cy="547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a:t>Accès aux données : la notion de library</a:t>
            </a:r>
          </a:p>
          <a:p>
            <a:pPr eaLnBrk="1" hangingPunct="1"/>
            <a:r>
              <a:rPr lang="fr-FR" altLang="fr-FR" sz="1600"/>
              <a:t>Pour accéder aux fichiers il faut indiquer à SAS où ils sont situés sur le disque dur de</a:t>
            </a:r>
          </a:p>
          <a:p>
            <a:pPr eaLnBrk="1" hangingPunct="1"/>
            <a:r>
              <a:rPr lang="fr-FR" altLang="fr-FR" sz="1600"/>
              <a:t>l’ordinateur. SAS utilise pour cela la notion de library. Il s’agit de définir un nom qui servira de résumé pour désigner le répertoire contenant les données et son chemin d’accès.</a:t>
            </a:r>
          </a:p>
          <a:p>
            <a:pPr eaLnBrk="1" hangingPunct="1"/>
            <a:endParaRPr lang="fr-FR" altLang="fr-FR" sz="1600"/>
          </a:p>
          <a:p>
            <a:pPr eaLnBrk="1" hangingPunct="1"/>
            <a:r>
              <a:rPr lang="fr-FR" altLang="fr-FR" sz="1600"/>
              <a:t>Il existe deux manières de définir une library :</a:t>
            </a:r>
          </a:p>
          <a:p>
            <a:pPr eaLnBrk="1" hangingPunct="1"/>
            <a:endParaRPr lang="fr-FR" altLang="fr-FR" sz="800"/>
          </a:p>
          <a:p>
            <a:pPr lvl="1" eaLnBrk="1" hangingPunct="1">
              <a:buFontTx/>
              <a:buChar char="•"/>
            </a:pPr>
            <a:r>
              <a:rPr lang="fr-FR" altLang="fr-FR" sz="1600"/>
              <a:t> Utiliser l’explorer interne de SAS, accessible via l’icône </a:t>
            </a:r>
          </a:p>
          <a:p>
            <a:pPr eaLnBrk="1" hangingPunct="1"/>
            <a:r>
              <a:rPr lang="fr-FR" altLang="fr-FR" sz="1600"/>
              <a:t>Il suffit ensuite de donner un nom à la library (rubrique "name") et d’indiquer le chemin</a:t>
            </a:r>
          </a:p>
          <a:p>
            <a:pPr eaLnBrk="1" hangingPunct="1"/>
            <a:r>
              <a:rPr lang="fr-FR" altLang="fr-FR" sz="1600"/>
              <a:t>d’accès au répertoire qui contient les données (rubrique "path" – puis cliquer sur "browse" et aller chercher le répertoire).</a:t>
            </a:r>
          </a:p>
          <a:p>
            <a:pPr eaLnBrk="1" hangingPunct="1"/>
            <a:endParaRPr lang="fr-FR" altLang="fr-FR" sz="800"/>
          </a:p>
          <a:p>
            <a:pPr lvl="1" eaLnBrk="1" hangingPunct="1">
              <a:buFontTx/>
              <a:buChar char="•"/>
            </a:pPr>
            <a:r>
              <a:rPr lang="fr-FR" altLang="fr-FR" sz="1600"/>
              <a:t> Utiliser l’instruction </a:t>
            </a:r>
            <a:r>
              <a:rPr lang="fr-FR" altLang="fr-FR" sz="1600">
                <a:solidFill>
                  <a:schemeClr val="accent2"/>
                </a:solidFill>
              </a:rPr>
              <a:t>libname</a:t>
            </a:r>
            <a:r>
              <a:rPr lang="fr-FR" altLang="fr-FR" sz="1600"/>
              <a:t> (à taper dans l’editor de SAS) :</a:t>
            </a:r>
          </a:p>
          <a:p>
            <a:pPr eaLnBrk="1" hangingPunct="1"/>
            <a:r>
              <a:rPr lang="fr-FR" altLang="fr-FR" sz="1600"/>
              <a:t>libname nom ‘chemin du répertoire contenant les données’ ;</a:t>
            </a:r>
          </a:p>
          <a:p>
            <a:pPr eaLnBrk="1" hangingPunct="1"/>
            <a:r>
              <a:rPr lang="fr-FR" altLang="fr-FR" sz="1600"/>
              <a:t>Exemple : </a:t>
            </a:r>
            <a:r>
              <a:rPr lang="fr-FR" altLang="fr-FR" sz="1600">
                <a:solidFill>
                  <a:schemeClr val="accent2"/>
                </a:solidFill>
              </a:rPr>
              <a:t>libname emploi ‘c:\mesdocuments\enquetes’ ;</a:t>
            </a:r>
          </a:p>
          <a:p>
            <a:pPr eaLnBrk="1" hangingPunct="1"/>
            <a:r>
              <a:rPr lang="fr-FR" altLang="fr-FR" sz="1600"/>
              <a:t>Il faut définir les library à chaque nouvelle session SAS.</a:t>
            </a:r>
          </a:p>
          <a:p>
            <a:pPr eaLnBrk="1" hangingPunct="1"/>
            <a:endParaRPr lang="fr-FR" altLang="fr-FR" sz="1600"/>
          </a:p>
          <a:p>
            <a:pPr eaLnBrk="1" hangingPunct="1"/>
            <a:r>
              <a:rPr lang="fr-FR" altLang="fr-FR" sz="1600"/>
              <a:t>Remarques:</a:t>
            </a:r>
          </a:p>
          <a:p>
            <a:pPr lvl="1" eaLnBrk="1" hangingPunct="1">
              <a:buFontTx/>
              <a:buChar char="•"/>
            </a:pPr>
            <a:r>
              <a:rPr lang="fr-FR" altLang="fr-FR" sz="1600"/>
              <a:t> un nom de library ne doit pas dépasser 8 caractères</a:t>
            </a:r>
          </a:p>
          <a:p>
            <a:pPr lvl="1" eaLnBrk="1" hangingPunct="1">
              <a:buFontTx/>
              <a:buChar char="•"/>
            </a:pPr>
            <a:r>
              <a:rPr lang="fr-FR" altLang="fr-FR" sz="1600"/>
              <a:t> par défaut toutes les tables SAS sont crées dans la library WORK de SAS. Cette library est temporaire : lorsque l’on quitte SAS toutes les tables contenues dans la WORK sont effacées.</a:t>
            </a:r>
          </a:p>
          <a:p>
            <a:pPr eaLnBrk="1" hangingPunct="1"/>
            <a:endParaRPr lang="fr-FR" altLang="fr-FR" sz="1600"/>
          </a:p>
          <a:p>
            <a:pPr eaLnBrk="1" hangingPunct="1"/>
            <a:r>
              <a:rPr lang="fr-FR" altLang="fr-FR" sz="1600" i="1"/>
              <a:t>Application : créer une library « TP_SAS »</a:t>
            </a:r>
          </a:p>
        </p:txBody>
      </p:sp>
      <p:pic>
        <p:nvPicPr>
          <p:cNvPr id="7172"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724525" y="1989138"/>
            <a:ext cx="425450" cy="379412"/>
          </a:xfr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112713"/>
            <a:ext cx="8229600" cy="579437"/>
          </a:xfrm>
          <a:noFill/>
        </p:spPr>
        <p:txBody>
          <a:bodyPr/>
          <a:lstStyle/>
          <a:p>
            <a:pPr eaLnBrk="1" hangingPunct="1"/>
            <a:r>
              <a:rPr lang="fr-FR" altLang="fr-FR" sz="3600" smtClean="0"/>
              <a:t>Importation de Données (1/5)</a:t>
            </a:r>
          </a:p>
        </p:txBody>
      </p:sp>
      <p:sp>
        <p:nvSpPr>
          <p:cNvPr id="8195" name="Rectangle 3"/>
          <p:cNvSpPr>
            <a:spLocks noChangeArrowheads="1"/>
          </p:cNvSpPr>
          <p:nvPr/>
        </p:nvSpPr>
        <p:spPr bwMode="auto">
          <a:xfrm>
            <a:off x="0" y="706438"/>
            <a:ext cx="9144000" cy="6142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a:t>SAS ne travaille qu’avec des bases de données SAS. Habituellement on travaille avec des bases qui ont déjà le format SAS. Mais on peut avoir besoin d’importer des données qui ne sont pas des données SAS et les transformer en "SAS DATA SET". Les étapes DATA permettent de créer des bases de données SAS à partir de données existant sous un autre format : données contenues dans un tableur Excel, données listées avec ou sans séparateur…</a:t>
            </a:r>
          </a:p>
          <a:p>
            <a:pPr eaLnBrk="1" hangingPunct="1"/>
            <a:endParaRPr lang="fr-FR" altLang="fr-FR" sz="1600"/>
          </a:p>
          <a:p>
            <a:pPr eaLnBrk="1" hangingPunct="1"/>
            <a:r>
              <a:rPr lang="fr-FR" altLang="fr-FR" sz="1600" b="1"/>
              <a:t>Questions à se poser lors de la création d’une base SAS à partir de données externes : </a:t>
            </a:r>
            <a:endParaRPr lang="fr-FR" altLang="fr-FR" sz="1600"/>
          </a:p>
          <a:p>
            <a:pPr eaLnBrk="1" hangingPunct="1">
              <a:buFontTx/>
              <a:buChar char="•"/>
            </a:pPr>
            <a:r>
              <a:rPr lang="fr-FR" altLang="fr-FR" sz="1600"/>
              <a:t> Quel nom donne-t-on à la base qui va être créée ? </a:t>
            </a:r>
          </a:p>
          <a:p>
            <a:pPr eaLnBrk="1" hangingPunct="1">
              <a:buFontTx/>
              <a:buChar char="•"/>
            </a:pPr>
            <a:r>
              <a:rPr lang="fr-FR" altLang="fr-FR" sz="1600"/>
              <a:t> Le fichier sera-t-il temporaire ou permanent ? </a:t>
            </a:r>
          </a:p>
          <a:p>
            <a:pPr eaLnBrk="1" hangingPunct="1"/>
            <a:r>
              <a:rPr lang="fr-FR" altLang="fr-FR" sz="1600"/>
              <a:t>	Les fichiers temporaires seront créés dans la library "work" et seront effacés automatiquement à la fin de la session de travail SAS </a:t>
            </a:r>
          </a:p>
          <a:p>
            <a:pPr eaLnBrk="1" hangingPunct="1"/>
            <a:r>
              <a:rPr lang="fr-FR" altLang="fr-FR" sz="1600"/>
              <a:t>	Si on souhaite conserver les fichiers créés, il faut créer une library puis créer les fichiers dans cette library </a:t>
            </a:r>
          </a:p>
          <a:p>
            <a:pPr eaLnBrk="1" hangingPunct="1">
              <a:buFontTx/>
              <a:buChar char="•"/>
            </a:pPr>
            <a:r>
              <a:rPr lang="fr-FR" altLang="fr-FR" sz="1600"/>
              <a:t> Où se trouvent les données ? </a:t>
            </a:r>
          </a:p>
          <a:p>
            <a:pPr eaLnBrk="1" hangingPunct="1"/>
            <a:r>
              <a:rPr lang="fr-FR" altLang="fr-FR" sz="1600"/>
              <a:t>	Dans un fichier externe</a:t>
            </a:r>
          </a:p>
          <a:p>
            <a:pPr eaLnBrk="1" hangingPunct="1"/>
            <a:r>
              <a:rPr lang="fr-FR" altLang="fr-FR" sz="1600"/>
              <a:t>	Dans le programme SAS </a:t>
            </a:r>
          </a:p>
          <a:p>
            <a:pPr eaLnBrk="1" hangingPunct="1">
              <a:buFontTx/>
              <a:buChar char="•"/>
            </a:pPr>
            <a:r>
              <a:rPr lang="fr-FR" altLang="fr-FR" sz="1600"/>
              <a:t> Quelle est la nature des données et comment sont-elles organisées ? </a:t>
            </a:r>
          </a:p>
          <a:p>
            <a:pPr eaLnBrk="1" hangingPunct="1"/>
            <a:r>
              <a:rPr lang="fr-FR" altLang="fr-FR" sz="1600"/>
              <a:t>	Données de type Excel, dbase…</a:t>
            </a:r>
          </a:p>
          <a:p>
            <a:pPr eaLnBrk="1" hangingPunct="1"/>
            <a:r>
              <a:rPr lang="fr-FR" altLang="fr-FR" sz="1600"/>
              <a:t>	Données dans un fichier texte délimitées par un séparateur </a:t>
            </a:r>
          </a:p>
          <a:p>
            <a:pPr eaLnBrk="1" hangingPunct="1"/>
            <a:r>
              <a:rPr lang="fr-FR" altLang="fr-FR" sz="1600"/>
              <a:t>	Données dans un fichier texte non-délimitées par un séparateur mais ordonnées dans des colonnes distinctes</a:t>
            </a:r>
          </a:p>
          <a:p>
            <a:pPr eaLnBrk="1" hangingPunct="1"/>
            <a:endParaRPr lang="fr-FR" altLang="fr-FR" sz="1600"/>
          </a:p>
          <a:p>
            <a:pPr eaLnBrk="1" hangingPunct="1"/>
            <a:r>
              <a:rPr lang="fr-FR" altLang="fr-FR" sz="1600" b="1"/>
              <a:t>La réponse à ces questions engendrera des procédures d’importation de données différentes.</a:t>
            </a:r>
            <a:endParaRPr lang="fr-FR" altLang="fr-FR" sz="1600"/>
          </a:p>
          <a:p>
            <a:pPr eaLnBrk="1" hangingPunct="1"/>
            <a:endParaRPr lang="fr-FR" altLang="fr-FR" sz="120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112713"/>
            <a:ext cx="8229600" cy="579437"/>
          </a:xfrm>
          <a:noFill/>
        </p:spPr>
        <p:txBody>
          <a:bodyPr/>
          <a:lstStyle/>
          <a:p>
            <a:pPr eaLnBrk="1" hangingPunct="1"/>
            <a:r>
              <a:rPr lang="fr-FR" altLang="fr-FR" sz="3600" smtClean="0"/>
              <a:t>Importation de Données (2/5)</a:t>
            </a:r>
          </a:p>
        </p:txBody>
      </p:sp>
      <p:sp>
        <p:nvSpPr>
          <p:cNvPr id="9219" name="Rectangle 3"/>
          <p:cNvSpPr>
            <a:spLocks noChangeArrowheads="1"/>
          </p:cNvSpPr>
          <p:nvPr/>
        </p:nvSpPr>
        <p:spPr bwMode="auto">
          <a:xfrm>
            <a:off x="0" y="765175"/>
            <a:ext cx="9144000" cy="575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Arial" panose="020B0604020202020204" pitchFamily="34" charset="0"/>
              </a:defRPr>
            </a:lvl1pPr>
            <a:lvl2pPr marL="800100" indent="-342900" eaLnBrk="0" hangingPunct="0">
              <a:defRPr>
                <a:solidFill>
                  <a:schemeClr val="tx1"/>
                </a:solidFill>
                <a:latin typeface="Arial" panose="020B0604020202020204" pitchFamily="34" charset="0"/>
              </a:defRPr>
            </a:lvl2pPr>
            <a:lvl3pPr marL="1257300" indent="-342900" eaLnBrk="0" hangingPunct="0">
              <a:defRPr>
                <a:solidFill>
                  <a:schemeClr val="tx1"/>
                </a:solidFill>
                <a:latin typeface="Arial" panose="020B0604020202020204" pitchFamily="34" charset="0"/>
              </a:defRPr>
            </a:lvl3pPr>
            <a:lvl4pPr marL="1714500" indent="-342900" eaLnBrk="0" hangingPunct="0">
              <a:defRPr>
                <a:solidFill>
                  <a:schemeClr val="tx1"/>
                </a:solidFill>
                <a:latin typeface="Arial" panose="020B0604020202020204" pitchFamily="34" charset="0"/>
              </a:defRPr>
            </a:lvl4pPr>
            <a:lvl5pPr marL="2171700" indent="-342900" eaLnBrk="0" hangingPunct="0">
              <a:defRPr>
                <a:solidFill>
                  <a:schemeClr val="tx1"/>
                </a:solidFill>
                <a:latin typeface="Arial" panose="020B0604020202020204" pitchFamily="34" charset="0"/>
              </a:defRPr>
            </a:lvl5pPr>
            <a:lvl6pPr marL="2628900" indent="-342900" eaLnBrk="0" fontAlgn="base" hangingPunct="0">
              <a:spcBef>
                <a:spcPct val="0"/>
              </a:spcBef>
              <a:spcAft>
                <a:spcPct val="0"/>
              </a:spcAft>
              <a:defRPr>
                <a:solidFill>
                  <a:schemeClr val="tx1"/>
                </a:solidFill>
                <a:latin typeface="Arial" panose="020B0604020202020204" pitchFamily="34" charset="0"/>
              </a:defRPr>
            </a:lvl6pPr>
            <a:lvl7pPr marL="3086100" indent="-342900" eaLnBrk="0" fontAlgn="base" hangingPunct="0">
              <a:spcBef>
                <a:spcPct val="0"/>
              </a:spcBef>
              <a:spcAft>
                <a:spcPct val="0"/>
              </a:spcAft>
              <a:defRPr>
                <a:solidFill>
                  <a:schemeClr val="tx1"/>
                </a:solidFill>
                <a:latin typeface="Arial" panose="020B0604020202020204" pitchFamily="34" charset="0"/>
              </a:defRPr>
            </a:lvl7pPr>
            <a:lvl8pPr marL="3543300" indent="-342900" eaLnBrk="0" fontAlgn="base" hangingPunct="0">
              <a:spcBef>
                <a:spcPct val="0"/>
              </a:spcBef>
              <a:spcAft>
                <a:spcPct val="0"/>
              </a:spcAft>
              <a:defRPr>
                <a:solidFill>
                  <a:schemeClr val="tx1"/>
                </a:solidFill>
                <a:latin typeface="Arial" panose="020B0604020202020204" pitchFamily="34" charset="0"/>
              </a:defRPr>
            </a:lvl8pPr>
            <a:lvl9pPr marL="4000500"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AutoNum type="arabicPeriod"/>
            </a:pPr>
            <a:r>
              <a:rPr lang="fr-FR" altLang="fr-FR" sz="1600" b="1" u="sng"/>
              <a:t>Importer des données d’Excel </a:t>
            </a:r>
          </a:p>
          <a:p>
            <a:pPr eaLnBrk="1" hangingPunct="1"/>
            <a:r>
              <a:rPr lang="fr-FR" altLang="fr-FR" sz="1600"/>
              <a:t>Un assistant facilite l’importation des données d’Excel.</a:t>
            </a:r>
          </a:p>
          <a:p>
            <a:pPr eaLnBrk="1" hangingPunct="1"/>
            <a:r>
              <a:rPr lang="fr-FR" altLang="fr-FR" sz="1600"/>
              <a:t>Il est accessible via le menu "File" puis "import DATA". Il faut que le fichier se présente ainsi :</a:t>
            </a:r>
          </a:p>
          <a:p>
            <a:pPr eaLnBrk="1" hangingPunct="1"/>
            <a:r>
              <a:rPr lang="fr-FR" altLang="fr-FR" sz="1600"/>
              <a:t>chaque observation (individu, ménage, entreprise…) représente une ligne, et les variables sont en </a:t>
            </a:r>
          </a:p>
          <a:p>
            <a:pPr eaLnBrk="1" hangingPunct="1"/>
            <a:r>
              <a:rPr lang="fr-FR" altLang="fr-FR" sz="1600"/>
              <a:t>colonne. </a:t>
            </a:r>
          </a:p>
          <a:p>
            <a:pPr eaLnBrk="1" hangingPunct="1"/>
            <a:r>
              <a:rPr lang="fr-FR" altLang="fr-FR" sz="1600"/>
              <a:t>Il faut alors préciser dans les fenêtres de dialogue successives : </a:t>
            </a:r>
          </a:p>
          <a:p>
            <a:pPr eaLnBrk="1" hangingPunct="1">
              <a:buFontTx/>
              <a:buChar char="•"/>
            </a:pPr>
            <a:r>
              <a:rPr lang="fr-FR" altLang="fr-FR" sz="1600"/>
              <a:t>le type des données sources : ici Excel, mais on peut également importer des données txt</a:t>
            </a:r>
          </a:p>
          <a:p>
            <a:pPr eaLnBrk="1" hangingPunct="1">
              <a:buFontTx/>
              <a:buChar char="•"/>
            </a:pPr>
            <a:r>
              <a:rPr lang="fr-FR" altLang="fr-FR" sz="1600"/>
              <a:t>la localisation des données : il faut indiquer où sont situées les données Excel </a:t>
            </a:r>
          </a:p>
          <a:p>
            <a:pPr eaLnBrk="1" hangingPunct="1">
              <a:buFontTx/>
              <a:buChar char="•"/>
            </a:pPr>
            <a:r>
              <a:rPr lang="fr-FR" altLang="fr-FR" sz="1600"/>
              <a:t>L’étape suivante consiste à indiquer la feuille du classeur Excel qu’on souhaite importer 􀂃</a:t>
            </a:r>
          </a:p>
          <a:p>
            <a:pPr eaLnBrk="1" hangingPunct="1">
              <a:buFontTx/>
              <a:buChar char="•"/>
            </a:pPr>
            <a:r>
              <a:rPr lang="fr-FR" altLang="fr-FR" sz="1600"/>
              <a:t>Le bouton "options" permet de préciser si, dans le fichier d’origine, le nom des variables figure - ou non – sur la première ligne du ficher de données. Il faut alors cocher – ou non – l’option "Use DATA in the first row as SAS variable names" </a:t>
            </a:r>
          </a:p>
          <a:p>
            <a:pPr eaLnBrk="1" hangingPunct="1">
              <a:buFontTx/>
              <a:buChar char="•"/>
            </a:pPr>
            <a:r>
              <a:rPr lang="fr-FR" altLang="fr-FR" sz="1600"/>
              <a:t>Il faut ensuite choisir l’emplacement dans SAS où sera créée la base de données : il faut indiquer la library (celle que vous avez déjà créée ou la library par défaut "work") et attribuer un nom à cette nouvelle base de données (dans la rubrique "member"). </a:t>
            </a:r>
          </a:p>
          <a:p>
            <a:pPr eaLnBrk="1" hangingPunct="1">
              <a:buFontTx/>
              <a:buChar char="•"/>
            </a:pPr>
            <a:r>
              <a:rPr lang="fr-FR" altLang="fr-FR" sz="1600"/>
              <a:t>Enfin, une dernière fenêtre permet d’enregistrer si on le souhaite la procédure d’importation (pour la réutiliser par exemple) : SAS créera alors un fichier en extension "</a:t>
            </a:r>
            <a:r>
              <a:rPr lang="fr-FR" altLang="fr-FR" sz="1600" b="1"/>
              <a:t>.</a:t>
            </a:r>
            <a:r>
              <a:rPr lang="fr-FR" altLang="fr-FR" sz="1600"/>
              <a:t>sas" qui contiendra cette procédure (un proc import). Si on souhaite que ce fichier soit créé, il faut lui donner un nom et définir un emplacement sur le disque dur pour qu’il soit enregistré. L’explorer de SAS permet de vérifier que la base a bien été créée sous le nom choisi et dans la library désignée.</a:t>
            </a:r>
          </a:p>
          <a:p>
            <a:pPr eaLnBrk="1" hangingPunct="1"/>
            <a:endParaRPr lang="fr-FR" altLang="fr-FR" sz="1000"/>
          </a:p>
          <a:p>
            <a:pPr eaLnBrk="1" hangingPunct="1"/>
            <a:r>
              <a:rPr lang="fr-FR" altLang="fr-FR" sz="1600"/>
              <a:t>L’explorer de SAS permet de vérifier que la base a bien été créée sous le nom choisi et </a:t>
            </a:r>
          </a:p>
          <a:p>
            <a:pPr eaLnBrk="1" hangingPunct="1"/>
            <a:r>
              <a:rPr lang="fr-FR" altLang="fr-FR" sz="1600"/>
              <a:t>dans la library désignée.</a:t>
            </a:r>
          </a:p>
          <a:p>
            <a:pPr eaLnBrk="1" hangingPunct="1"/>
            <a:endParaRPr lang="fr-FR" altLang="fr-FR" sz="9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112713"/>
            <a:ext cx="8229600" cy="579437"/>
          </a:xfrm>
          <a:noFill/>
        </p:spPr>
        <p:txBody>
          <a:bodyPr/>
          <a:lstStyle/>
          <a:p>
            <a:pPr eaLnBrk="1" hangingPunct="1"/>
            <a:r>
              <a:rPr lang="fr-FR" altLang="fr-FR" sz="3600" smtClean="0"/>
              <a:t>Importation de Données (3/5)</a:t>
            </a:r>
          </a:p>
        </p:txBody>
      </p:sp>
      <p:sp>
        <p:nvSpPr>
          <p:cNvPr id="10243" name="Rectangle 3"/>
          <p:cNvSpPr>
            <a:spLocks noChangeArrowheads="1"/>
          </p:cNvSpPr>
          <p:nvPr/>
        </p:nvSpPr>
        <p:spPr bwMode="auto">
          <a:xfrm>
            <a:off x="0" y="765175"/>
            <a:ext cx="9144000" cy="607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800100" indent="-342900" eaLnBrk="0" hangingPunct="0">
              <a:defRPr>
                <a:solidFill>
                  <a:schemeClr val="tx1"/>
                </a:solidFill>
                <a:latin typeface="Arial" panose="020B0604020202020204" pitchFamily="34" charset="0"/>
              </a:defRPr>
            </a:lvl2pPr>
            <a:lvl3pPr marL="1311275" indent="-342900" eaLnBrk="0" hangingPunct="0">
              <a:defRPr>
                <a:solidFill>
                  <a:schemeClr val="tx1"/>
                </a:solidFill>
                <a:latin typeface="Arial" panose="020B0604020202020204" pitchFamily="34" charset="0"/>
              </a:defRPr>
            </a:lvl3pPr>
            <a:lvl4pPr marL="1833563" indent="-342900" eaLnBrk="0" hangingPunct="0">
              <a:defRPr>
                <a:solidFill>
                  <a:schemeClr val="tx1"/>
                </a:solidFill>
                <a:latin typeface="Arial" panose="020B0604020202020204" pitchFamily="34" charset="0"/>
              </a:defRPr>
            </a:lvl4pPr>
            <a:lvl5pPr marL="2355850" indent="-342900" eaLnBrk="0" hangingPunct="0">
              <a:defRPr>
                <a:solidFill>
                  <a:schemeClr val="tx1"/>
                </a:solidFill>
                <a:latin typeface="Arial" panose="020B0604020202020204" pitchFamily="34" charset="0"/>
              </a:defRPr>
            </a:lvl5pPr>
            <a:lvl6pPr marL="2813050" indent="-342900" eaLnBrk="0" fontAlgn="base" hangingPunct="0">
              <a:spcBef>
                <a:spcPct val="0"/>
              </a:spcBef>
              <a:spcAft>
                <a:spcPct val="0"/>
              </a:spcAft>
              <a:defRPr>
                <a:solidFill>
                  <a:schemeClr val="tx1"/>
                </a:solidFill>
                <a:latin typeface="Arial" panose="020B0604020202020204" pitchFamily="34" charset="0"/>
              </a:defRPr>
            </a:lvl6pPr>
            <a:lvl7pPr marL="3270250" indent="-342900" eaLnBrk="0" fontAlgn="base" hangingPunct="0">
              <a:spcBef>
                <a:spcPct val="0"/>
              </a:spcBef>
              <a:spcAft>
                <a:spcPct val="0"/>
              </a:spcAft>
              <a:defRPr>
                <a:solidFill>
                  <a:schemeClr val="tx1"/>
                </a:solidFill>
                <a:latin typeface="Arial" panose="020B0604020202020204" pitchFamily="34" charset="0"/>
              </a:defRPr>
            </a:lvl7pPr>
            <a:lvl8pPr marL="3727450" indent="-342900" eaLnBrk="0" fontAlgn="base" hangingPunct="0">
              <a:spcBef>
                <a:spcPct val="0"/>
              </a:spcBef>
              <a:spcAft>
                <a:spcPct val="0"/>
              </a:spcAft>
              <a:defRPr>
                <a:solidFill>
                  <a:schemeClr val="tx1"/>
                </a:solidFill>
                <a:latin typeface="Arial" panose="020B0604020202020204" pitchFamily="34" charset="0"/>
              </a:defRPr>
            </a:lvl8pPr>
            <a:lvl9pPr marL="4184650"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a:t>2. </a:t>
            </a:r>
            <a:r>
              <a:rPr lang="fr-FR" altLang="fr-FR" sz="1600" b="1" u="sng"/>
              <a:t>Importer des données en mode « liste »</a:t>
            </a:r>
          </a:p>
          <a:p>
            <a:pPr eaLnBrk="1" hangingPunct="1"/>
            <a:r>
              <a:rPr lang="fr-FR" altLang="fr-FR" sz="1600"/>
              <a:t>On dispose de données qui sont rangées, "listées" (d’où l’appellation "mode liste") les unes à la suite des autres, les variables étant distinguées par un "séparateur", c’est-à-dire un espace, un point-virgule … Les valeurs manquantes sont remplacées par un point. </a:t>
            </a:r>
          </a:p>
          <a:p>
            <a:pPr eaLnBrk="1" hangingPunct="1"/>
            <a:endParaRPr lang="fr-FR" altLang="fr-FR" sz="1600"/>
          </a:p>
          <a:p>
            <a:pPr eaLnBrk="1" hangingPunct="1"/>
            <a:r>
              <a:rPr lang="fr-FR" altLang="fr-FR" sz="1600" i="1"/>
              <a:t>Exemple de données : </a:t>
            </a:r>
          </a:p>
          <a:p>
            <a:pPr eaLnBrk="1" hangingPunct="1"/>
            <a:r>
              <a:rPr lang="fr-FR" altLang="fr-FR" sz="1600" i="1"/>
              <a:t>1 abraham 59000 1 13 40 150 </a:t>
            </a:r>
          </a:p>
          <a:p>
            <a:pPr eaLnBrk="1" hangingPunct="1"/>
            <a:r>
              <a:rPr lang="fr-FR" altLang="fr-FR" sz="1600" i="1"/>
              <a:t>2 benjamine 59650 2 13 45 155 </a:t>
            </a:r>
          </a:p>
          <a:p>
            <a:pPr eaLnBrk="1" hangingPunct="1"/>
            <a:r>
              <a:rPr lang="fr-FR" altLang="fr-FR" sz="1600" i="1"/>
              <a:t>3 colin 59650 1 9 35 130 </a:t>
            </a:r>
          </a:p>
          <a:p>
            <a:pPr eaLnBrk="1" hangingPunct="1"/>
            <a:r>
              <a:rPr lang="fr-FR" altLang="fr-FR" sz="1600" i="1"/>
              <a:t>4 dorien 59650 1 10 30 135 </a:t>
            </a:r>
          </a:p>
          <a:p>
            <a:pPr eaLnBrk="1" hangingPunct="1"/>
            <a:endParaRPr lang="fr-FR" altLang="fr-FR" sz="800" b="1" i="1"/>
          </a:p>
          <a:p>
            <a:pPr eaLnBrk="1" hangingPunct="1"/>
            <a:r>
              <a:rPr lang="fr-FR" altLang="fr-FR" sz="1600"/>
              <a:t>Les différentes étapes à respecter pour créer une base de données sont :</a:t>
            </a:r>
          </a:p>
          <a:p>
            <a:pPr eaLnBrk="1" hangingPunct="1">
              <a:buFontTx/>
              <a:buChar char="•"/>
            </a:pPr>
            <a:r>
              <a:rPr lang="fr-FR" altLang="fr-FR" sz="1600" b="1"/>
              <a:t>Nommer le fichier (data)</a:t>
            </a:r>
            <a:endParaRPr lang="fr-FR" altLang="fr-FR" sz="1600"/>
          </a:p>
          <a:p>
            <a:pPr eaLnBrk="1" hangingPunct="1">
              <a:buFontTx/>
              <a:buChar char="•"/>
            </a:pPr>
            <a:r>
              <a:rPr lang="fr-FR" altLang="fr-FR" sz="1600" b="1"/>
              <a:t>Décrire la nature et l’organisation des données (input)</a:t>
            </a:r>
            <a:endParaRPr lang="fr-FR" altLang="fr-FR" sz="1600"/>
          </a:p>
          <a:p>
            <a:pPr eaLnBrk="1" hangingPunct="1">
              <a:buFontTx/>
              <a:buChar char="•"/>
            </a:pPr>
            <a:r>
              <a:rPr lang="fr-FR" altLang="fr-FR" sz="1600" b="1"/>
              <a:t>Définir la localisation des données</a:t>
            </a:r>
            <a:endParaRPr lang="fr-FR" altLang="fr-FR" sz="1600"/>
          </a:p>
          <a:p>
            <a:pPr eaLnBrk="1" hangingPunct="1"/>
            <a:r>
              <a:rPr lang="fr-FR" altLang="fr-FR" sz="1600" b="1"/>
              <a:t>	</a:t>
            </a:r>
            <a:r>
              <a:rPr lang="fr-FR" altLang="fr-FR" sz="1600" b="1" u="sng"/>
              <a:t>1er cas</a:t>
            </a:r>
            <a:r>
              <a:rPr lang="fr-FR" altLang="fr-FR" sz="1600" b="1"/>
              <a:t> : on copie les données dans l’editor : l’instruction cards permet d’introduire les données</a:t>
            </a:r>
            <a:endParaRPr lang="fr-FR" altLang="fr-FR" sz="1600"/>
          </a:p>
          <a:p>
            <a:pPr eaLnBrk="1" hangingPunct="1"/>
            <a:r>
              <a:rPr lang="fr-FR" altLang="fr-FR" sz="1600"/>
              <a:t>				</a:t>
            </a:r>
            <a:r>
              <a:rPr lang="fr-FR" altLang="fr-FR" sz="1400" i="1">
                <a:solidFill>
                  <a:schemeClr val="accent2"/>
                </a:solidFill>
              </a:rPr>
              <a:t>DATA club1 ; </a:t>
            </a:r>
          </a:p>
          <a:p>
            <a:pPr eaLnBrk="1" hangingPunct="1"/>
            <a:r>
              <a:rPr lang="fr-FR" altLang="fr-FR" sz="1400" i="1">
                <a:solidFill>
                  <a:schemeClr val="accent2"/>
                </a:solidFill>
              </a:rPr>
              <a:t>				input ident prenom $ codpost sexe $ age poids taille ; 					cards ; </a:t>
            </a:r>
          </a:p>
          <a:p>
            <a:pPr eaLnBrk="1" hangingPunct="1"/>
            <a:r>
              <a:rPr lang="fr-FR" altLang="fr-FR" sz="1400" i="1">
                <a:solidFill>
                  <a:schemeClr val="accent2"/>
                </a:solidFill>
              </a:rPr>
              <a:t>				1 abraham 59000 1 13 40 150 </a:t>
            </a:r>
          </a:p>
          <a:p>
            <a:pPr eaLnBrk="1" hangingPunct="1"/>
            <a:r>
              <a:rPr lang="fr-FR" altLang="fr-FR" sz="1400" i="1">
                <a:solidFill>
                  <a:schemeClr val="accent2"/>
                </a:solidFill>
              </a:rPr>
              <a:t>				2 benjamine 59650 2 13 45 155 </a:t>
            </a:r>
          </a:p>
          <a:p>
            <a:pPr eaLnBrk="1" hangingPunct="1"/>
            <a:r>
              <a:rPr lang="fr-FR" altLang="fr-FR" sz="1400" i="1">
                <a:solidFill>
                  <a:schemeClr val="accent2"/>
                </a:solidFill>
              </a:rPr>
              <a:t>				3 colin 59650 1 9 35 130 </a:t>
            </a:r>
          </a:p>
          <a:p>
            <a:pPr eaLnBrk="1" hangingPunct="1"/>
            <a:r>
              <a:rPr lang="fr-FR" altLang="fr-FR" sz="1400" i="1">
                <a:solidFill>
                  <a:schemeClr val="accent2"/>
                </a:solidFill>
              </a:rPr>
              <a:t>				4 dorien 59650 1 10 30 135 </a:t>
            </a:r>
          </a:p>
          <a:p>
            <a:pPr eaLnBrk="1" hangingPunct="1"/>
            <a:r>
              <a:rPr lang="fr-FR" altLang="fr-FR" sz="1400" i="1">
                <a:solidFill>
                  <a:schemeClr val="accent2"/>
                </a:solidFill>
              </a:rPr>
              <a:t>				; </a:t>
            </a:r>
          </a:p>
          <a:p>
            <a:pPr eaLnBrk="1" hangingPunct="1"/>
            <a:r>
              <a:rPr lang="fr-FR" altLang="fr-FR" sz="1400" i="1">
                <a:solidFill>
                  <a:schemeClr val="accent2"/>
                </a:solidFill>
              </a:rPr>
              <a:t>				run ;</a:t>
            </a:r>
            <a:endParaRPr lang="fr-FR" altLang="fr-FR" sz="1400" b="1" i="1">
              <a:solidFill>
                <a:schemeClr val="accent2"/>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112713"/>
            <a:ext cx="8229600" cy="579437"/>
          </a:xfrm>
          <a:noFill/>
        </p:spPr>
        <p:txBody>
          <a:bodyPr/>
          <a:lstStyle/>
          <a:p>
            <a:pPr eaLnBrk="1" hangingPunct="1"/>
            <a:r>
              <a:rPr lang="fr-FR" altLang="fr-FR" sz="3600" smtClean="0"/>
              <a:t>Importation de Données (4/5)</a:t>
            </a:r>
          </a:p>
        </p:txBody>
      </p:sp>
      <p:sp>
        <p:nvSpPr>
          <p:cNvPr id="11267" name="Rectangle 3"/>
          <p:cNvSpPr>
            <a:spLocks noChangeArrowheads="1"/>
          </p:cNvSpPr>
          <p:nvPr/>
        </p:nvSpPr>
        <p:spPr bwMode="auto">
          <a:xfrm>
            <a:off x="0" y="692150"/>
            <a:ext cx="9144000" cy="605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Arial" panose="020B0604020202020204" pitchFamily="34" charset="0"/>
              </a:defRPr>
            </a:lvl1pPr>
            <a:lvl2pPr marL="800100" indent="-342900" eaLnBrk="0" hangingPunct="0">
              <a:defRPr>
                <a:solidFill>
                  <a:schemeClr val="tx1"/>
                </a:solidFill>
                <a:latin typeface="Arial" panose="020B0604020202020204" pitchFamily="34" charset="0"/>
              </a:defRPr>
            </a:lvl2pPr>
            <a:lvl3pPr marL="1257300" indent="-342900" eaLnBrk="0" hangingPunct="0">
              <a:defRPr>
                <a:solidFill>
                  <a:schemeClr val="tx1"/>
                </a:solidFill>
                <a:latin typeface="Arial" panose="020B0604020202020204" pitchFamily="34" charset="0"/>
              </a:defRPr>
            </a:lvl3pPr>
            <a:lvl4pPr marL="1714500" indent="-342900" eaLnBrk="0" hangingPunct="0">
              <a:defRPr>
                <a:solidFill>
                  <a:schemeClr val="tx1"/>
                </a:solidFill>
                <a:latin typeface="Arial" panose="020B0604020202020204" pitchFamily="34" charset="0"/>
              </a:defRPr>
            </a:lvl4pPr>
            <a:lvl5pPr marL="2171700" indent="-342900" eaLnBrk="0" hangingPunct="0">
              <a:defRPr>
                <a:solidFill>
                  <a:schemeClr val="tx1"/>
                </a:solidFill>
                <a:latin typeface="Arial" panose="020B0604020202020204" pitchFamily="34" charset="0"/>
              </a:defRPr>
            </a:lvl5pPr>
            <a:lvl6pPr marL="2628900" indent="-342900" eaLnBrk="0" fontAlgn="base" hangingPunct="0">
              <a:spcBef>
                <a:spcPct val="0"/>
              </a:spcBef>
              <a:spcAft>
                <a:spcPct val="0"/>
              </a:spcAft>
              <a:defRPr>
                <a:solidFill>
                  <a:schemeClr val="tx1"/>
                </a:solidFill>
                <a:latin typeface="Arial" panose="020B0604020202020204" pitchFamily="34" charset="0"/>
              </a:defRPr>
            </a:lvl6pPr>
            <a:lvl7pPr marL="3086100" indent="-342900" eaLnBrk="0" fontAlgn="base" hangingPunct="0">
              <a:spcBef>
                <a:spcPct val="0"/>
              </a:spcBef>
              <a:spcAft>
                <a:spcPct val="0"/>
              </a:spcAft>
              <a:defRPr>
                <a:solidFill>
                  <a:schemeClr val="tx1"/>
                </a:solidFill>
                <a:latin typeface="Arial" panose="020B0604020202020204" pitchFamily="34" charset="0"/>
              </a:defRPr>
            </a:lvl7pPr>
            <a:lvl8pPr marL="3543300" indent="-342900" eaLnBrk="0" fontAlgn="base" hangingPunct="0">
              <a:spcBef>
                <a:spcPct val="0"/>
              </a:spcBef>
              <a:spcAft>
                <a:spcPct val="0"/>
              </a:spcAft>
              <a:defRPr>
                <a:solidFill>
                  <a:schemeClr val="tx1"/>
                </a:solidFill>
                <a:latin typeface="Arial" panose="020B0604020202020204" pitchFamily="34" charset="0"/>
              </a:defRPr>
            </a:lvl8pPr>
            <a:lvl9pPr marL="4000500"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400" b="1"/>
              <a:t>	</a:t>
            </a:r>
            <a:r>
              <a:rPr lang="fr-FR" altLang="fr-FR" sz="1600" b="1" u="sng"/>
              <a:t>2ème cas</a:t>
            </a:r>
            <a:r>
              <a:rPr lang="fr-FR" altLang="fr-FR" sz="1600" b="1"/>
              <a:t> : les données sont stockées dans un fichier externe à SAS</a:t>
            </a:r>
            <a:endParaRPr lang="fr-FR" altLang="fr-FR" sz="1600"/>
          </a:p>
          <a:p>
            <a:pPr eaLnBrk="1" hangingPunct="1"/>
            <a:r>
              <a:rPr lang="fr-FR" altLang="fr-FR" sz="1600"/>
              <a:t>Il faut alors utiliser l’instruction </a:t>
            </a:r>
            <a:r>
              <a:rPr lang="fr-FR" altLang="fr-FR" sz="1600" i="1">
                <a:solidFill>
                  <a:schemeClr val="accent2"/>
                </a:solidFill>
              </a:rPr>
              <a:t>infile</a:t>
            </a:r>
            <a:r>
              <a:rPr lang="fr-FR" altLang="fr-FR" sz="1600"/>
              <a:t>. Cette instruction suit toujours la ligne de programmation </a:t>
            </a:r>
          </a:p>
          <a:p>
            <a:pPr eaLnBrk="1" hangingPunct="1"/>
            <a:r>
              <a:rPr lang="fr-FR" altLang="fr-FR" sz="1600"/>
              <a:t>commençant par </a:t>
            </a:r>
            <a:r>
              <a:rPr lang="fr-FR" altLang="fr-FR" sz="1600" i="1">
                <a:solidFill>
                  <a:schemeClr val="accent2"/>
                </a:solidFill>
              </a:rPr>
              <a:t>DATA</a:t>
            </a:r>
            <a:r>
              <a:rPr lang="fr-FR" altLang="fr-FR" sz="1600"/>
              <a:t> et précède toujours la ligne de programmation commençant par </a:t>
            </a:r>
            <a:r>
              <a:rPr lang="fr-FR" altLang="fr-FR" sz="1600" i="1">
                <a:solidFill>
                  <a:schemeClr val="accent2"/>
                </a:solidFill>
              </a:rPr>
              <a:t>input</a:t>
            </a:r>
            <a:r>
              <a:rPr lang="fr-FR" altLang="fr-FR" sz="1600"/>
              <a:t>. </a:t>
            </a:r>
          </a:p>
          <a:p>
            <a:pPr eaLnBrk="1" hangingPunct="1"/>
            <a:r>
              <a:rPr lang="fr-FR" altLang="fr-FR" sz="1600"/>
              <a:t>Après le mot-clé </a:t>
            </a:r>
            <a:r>
              <a:rPr lang="fr-FR" altLang="fr-FR" sz="1600" i="1">
                <a:solidFill>
                  <a:schemeClr val="accent2"/>
                </a:solidFill>
              </a:rPr>
              <a:t>infile</a:t>
            </a:r>
            <a:r>
              <a:rPr lang="fr-FR" altLang="fr-FR" sz="1600"/>
              <a:t> il faut indiquer le nom du fichier de données avec son chemin d’accès.</a:t>
            </a:r>
          </a:p>
          <a:p>
            <a:pPr eaLnBrk="1" hangingPunct="1"/>
            <a:r>
              <a:rPr lang="fr-FR" altLang="fr-FR" sz="1400" i="1"/>
              <a:t>				</a:t>
            </a:r>
            <a:r>
              <a:rPr lang="fr-FR" altLang="fr-FR" sz="1400" i="1">
                <a:solidFill>
                  <a:schemeClr val="accent2"/>
                </a:solidFill>
              </a:rPr>
              <a:t>DATA club2 ; </a:t>
            </a:r>
          </a:p>
          <a:p>
            <a:pPr eaLnBrk="1" hangingPunct="1"/>
            <a:r>
              <a:rPr lang="fr-FR" altLang="fr-FR" sz="1400" i="1">
                <a:solidFill>
                  <a:schemeClr val="accent2"/>
                </a:solidFill>
              </a:rPr>
              <a:t>				infile ‘c://mesdocuments/données/club.txt’ ; </a:t>
            </a:r>
          </a:p>
          <a:p>
            <a:pPr eaLnBrk="1" hangingPunct="1"/>
            <a:r>
              <a:rPr lang="fr-FR" altLang="fr-FR" sz="1400" i="1">
                <a:solidFill>
                  <a:schemeClr val="accent2"/>
                </a:solidFill>
              </a:rPr>
              <a:t>				input ident prenom $ codpost sexe $ age poids taille ; </a:t>
            </a:r>
          </a:p>
          <a:p>
            <a:pPr eaLnBrk="1" hangingPunct="1"/>
            <a:r>
              <a:rPr lang="fr-FR" altLang="fr-FR" sz="1400" i="1">
                <a:solidFill>
                  <a:schemeClr val="accent2"/>
                </a:solidFill>
              </a:rPr>
              <a:t>				run ;</a:t>
            </a:r>
          </a:p>
          <a:p>
            <a:pPr eaLnBrk="1" hangingPunct="1"/>
            <a:r>
              <a:rPr lang="fr-FR" altLang="fr-FR" sz="1600" b="1"/>
              <a:t>L’instruction </a:t>
            </a:r>
            <a:r>
              <a:rPr lang="fr-FR" altLang="fr-FR" sz="1600" b="1" i="1">
                <a:solidFill>
                  <a:schemeClr val="accent2"/>
                </a:solidFill>
              </a:rPr>
              <a:t>infile</a:t>
            </a:r>
            <a:r>
              <a:rPr lang="fr-FR" altLang="fr-FR" sz="1600" b="1"/>
              <a:t> ne concerne que des fichiers externes à SAS et JAMAIS des </a:t>
            </a:r>
          </a:p>
          <a:p>
            <a:pPr eaLnBrk="1" hangingPunct="1"/>
            <a:r>
              <a:rPr lang="fr-FR" altLang="fr-FR" sz="1600" b="1"/>
              <a:t>fichiers qui sont déjà des fichiers SAS.</a:t>
            </a:r>
            <a:endParaRPr lang="fr-FR" altLang="fr-FR" sz="1600"/>
          </a:p>
          <a:p>
            <a:pPr eaLnBrk="1" hangingPunct="1"/>
            <a:endParaRPr lang="fr-FR" altLang="fr-FR" sz="800"/>
          </a:p>
          <a:p>
            <a:pPr eaLnBrk="1" hangingPunct="1"/>
            <a:r>
              <a:rPr lang="fr-FR" altLang="fr-FR" sz="1600" b="1" i="1"/>
              <a:t>Cas où le séparateur de données est un point-virgule</a:t>
            </a:r>
            <a:endParaRPr lang="fr-FR" altLang="fr-FR" sz="1600"/>
          </a:p>
          <a:p>
            <a:pPr eaLnBrk="1" hangingPunct="1"/>
            <a:r>
              <a:rPr lang="fr-FR" altLang="fr-FR" sz="1600"/>
              <a:t>On utilise l’instruction infile datalines4 dlm=’ ;’ ;</a:t>
            </a:r>
          </a:p>
          <a:p>
            <a:pPr eaLnBrk="1" hangingPunct="1"/>
            <a:r>
              <a:rPr lang="fr-FR" altLang="fr-FR" sz="1400" b="1" i="1"/>
              <a:t>			</a:t>
            </a:r>
            <a:r>
              <a:rPr lang="fr-FR" altLang="fr-FR" sz="1400" b="1" i="1">
                <a:solidFill>
                  <a:schemeClr val="accent2"/>
                </a:solidFill>
              </a:rPr>
              <a:t>DATA</a:t>
            </a:r>
            <a:r>
              <a:rPr lang="fr-FR" altLang="fr-FR" sz="1400" i="1">
                <a:solidFill>
                  <a:schemeClr val="accent2"/>
                </a:solidFill>
              </a:rPr>
              <a:t> club3 ;</a:t>
            </a:r>
          </a:p>
          <a:p>
            <a:pPr eaLnBrk="1" hangingPunct="1"/>
            <a:r>
              <a:rPr lang="fr-FR" altLang="fr-FR" sz="1400" i="1">
                <a:solidFill>
                  <a:schemeClr val="accent2"/>
                </a:solidFill>
              </a:rPr>
              <a:t>			infile datalines4 dlm=’ ;’ ;</a:t>
            </a:r>
          </a:p>
          <a:p>
            <a:pPr eaLnBrk="1" hangingPunct="1"/>
            <a:r>
              <a:rPr lang="fr-FR" altLang="fr-FR" sz="1400" i="1">
                <a:solidFill>
                  <a:schemeClr val="accent2"/>
                </a:solidFill>
              </a:rPr>
              <a:t>			input ident prenom $ codpost sexe $ age poids taille ;</a:t>
            </a:r>
          </a:p>
          <a:p>
            <a:pPr eaLnBrk="1" hangingPunct="1"/>
            <a:r>
              <a:rPr lang="fr-FR" altLang="fr-FR" sz="1400" i="1">
                <a:solidFill>
                  <a:schemeClr val="accent2"/>
                </a:solidFill>
              </a:rPr>
              <a:t>			datalines4 ; </a:t>
            </a:r>
          </a:p>
          <a:p>
            <a:pPr eaLnBrk="1" hangingPunct="1"/>
            <a:r>
              <a:rPr lang="fr-FR" altLang="fr-FR" sz="1400" i="1">
                <a:solidFill>
                  <a:schemeClr val="accent2"/>
                </a:solidFill>
              </a:rPr>
              <a:t>			1;Abraham;59000;H;13;40;150 </a:t>
            </a:r>
          </a:p>
          <a:p>
            <a:pPr eaLnBrk="1" hangingPunct="1"/>
            <a:r>
              <a:rPr lang="fr-FR" altLang="fr-FR" sz="1400" i="1">
                <a:solidFill>
                  <a:schemeClr val="accent2"/>
                </a:solidFill>
              </a:rPr>
              <a:t>			2;Benjamine;59650;F;13;45;155 </a:t>
            </a:r>
          </a:p>
          <a:p>
            <a:pPr eaLnBrk="1" hangingPunct="1"/>
            <a:r>
              <a:rPr lang="fr-FR" altLang="fr-FR" sz="1400" i="1">
                <a:solidFill>
                  <a:schemeClr val="accent2"/>
                </a:solidFill>
              </a:rPr>
              <a:t>			3;Colin;59650;H;9;35;130 </a:t>
            </a:r>
          </a:p>
          <a:p>
            <a:pPr eaLnBrk="1" hangingPunct="1"/>
            <a:r>
              <a:rPr lang="fr-FR" altLang="fr-FR" sz="1400" i="1">
                <a:solidFill>
                  <a:schemeClr val="accent2"/>
                </a:solidFill>
              </a:rPr>
              <a:t>			4;Dorien;59650;H;10;30;135 </a:t>
            </a:r>
          </a:p>
          <a:p>
            <a:pPr eaLnBrk="1" hangingPunct="1"/>
            <a:r>
              <a:rPr lang="fr-FR" altLang="fr-FR" sz="1400" i="1">
                <a:solidFill>
                  <a:schemeClr val="accent2"/>
                </a:solidFill>
              </a:rPr>
              <a:t>			;;;; </a:t>
            </a:r>
          </a:p>
          <a:p>
            <a:pPr eaLnBrk="1" hangingPunct="1"/>
            <a:r>
              <a:rPr lang="fr-FR" altLang="fr-FR" sz="1400" i="1">
                <a:solidFill>
                  <a:schemeClr val="accent2"/>
                </a:solidFill>
              </a:rPr>
              <a:t>			run;</a:t>
            </a:r>
          </a:p>
          <a:p>
            <a:pPr eaLnBrk="1" hangingPunct="1"/>
            <a:endParaRPr lang="fr-FR" altLang="fr-FR" sz="400" i="1">
              <a:solidFill>
                <a:schemeClr val="accent2"/>
              </a:solidFill>
            </a:endParaRPr>
          </a:p>
          <a:p>
            <a:pPr eaLnBrk="1" hangingPunct="1"/>
            <a:r>
              <a:rPr lang="fr-FR" altLang="fr-FR" sz="1400" i="1">
                <a:solidFill>
                  <a:schemeClr val="accent2"/>
                </a:solidFill>
              </a:rPr>
              <a:t>			DATA club4 ; </a:t>
            </a:r>
          </a:p>
          <a:p>
            <a:pPr eaLnBrk="1" hangingPunct="1"/>
            <a:r>
              <a:rPr lang="fr-FR" altLang="fr-FR" sz="1400" i="1">
                <a:solidFill>
                  <a:schemeClr val="accent2"/>
                </a:solidFill>
              </a:rPr>
              <a:t>			infile ‘c://mesdocuments/données/club.txt’ DLM=’ ;’ ; </a:t>
            </a:r>
          </a:p>
          <a:p>
            <a:pPr eaLnBrk="1" hangingPunct="1"/>
            <a:r>
              <a:rPr lang="fr-FR" altLang="fr-FR" sz="1400" i="1">
                <a:solidFill>
                  <a:schemeClr val="accent2"/>
                </a:solidFill>
              </a:rPr>
              <a:t>			input ident prenom $ codpost sexe $ age poids taille ; </a:t>
            </a:r>
          </a:p>
          <a:p>
            <a:pPr eaLnBrk="1" hangingPunct="1"/>
            <a:r>
              <a:rPr lang="fr-FR" altLang="fr-FR" sz="1400" i="1">
                <a:solidFill>
                  <a:schemeClr val="accent2"/>
                </a:solidFill>
              </a:rPr>
              <a:t>			run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112713"/>
            <a:ext cx="8229600" cy="579437"/>
          </a:xfrm>
          <a:noFill/>
        </p:spPr>
        <p:txBody>
          <a:bodyPr/>
          <a:lstStyle/>
          <a:p>
            <a:pPr eaLnBrk="1" hangingPunct="1"/>
            <a:r>
              <a:rPr lang="fr-FR" altLang="fr-FR" sz="3600" smtClean="0"/>
              <a:t>Importation de Données (5/5)</a:t>
            </a:r>
          </a:p>
        </p:txBody>
      </p:sp>
      <p:sp>
        <p:nvSpPr>
          <p:cNvPr id="12291" name="Rectangle 3"/>
          <p:cNvSpPr>
            <a:spLocks noChangeArrowheads="1"/>
          </p:cNvSpPr>
          <p:nvPr/>
        </p:nvSpPr>
        <p:spPr bwMode="auto">
          <a:xfrm>
            <a:off x="0" y="692150"/>
            <a:ext cx="9144000" cy="613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Arial" panose="020B0604020202020204" pitchFamily="34" charset="0"/>
              </a:defRPr>
            </a:lvl1pPr>
            <a:lvl2pPr marL="800100" indent="-342900" eaLnBrk="0" hangingPunct="0">
              <a:defRPr>
                <a:solidFill>
                  <a:schemeClr val="tx1"/>
                </a:solidFill>
                <a:latin typeface="Arial" panose="020B0604020202020204" pitchFamily="34" charset="0"/>
              </a:defRPr>
            </a:lvl2pPr>
            <a:lvl3pPr marL="1257300" indent="-342900" eaLnBrk="0" hangingPunct="0">
              <a:defRPr>
                <a:solidFill>
                  <a:schemeClr val="tx1"/>
                </a:solidFill>
                <a:latin typeface="Arial" panose="020B0604020202020204" pitchFamily="34" charset="0"/>
              </a:defRPr>
            </a:lvl3pPr>
            <a:lvl4pPr marL="1714500" indent="-342900" eaLnBrk="0" hangingPunct="0">
              <a:defRPr>
                <a:solidFill>
                  <a:schemeClr val="tx1"/>
                </a:solidFill>
                <a:latin typeface="Arial" panose="020B0604020202020204" pitchFamily="34" charset="0"/>
              </a:defRPr>
            </a:lvl4pPr>
            <a:lvl5pPr marL="2171700" indent="-342900" eaLnBrk="0" hangingPunct="0">
              <a:defRPr>
                <a:solidFill>
                  <a:schemeClr val="tx1"/>
                </a:solidFill>
                <a:latin typeface="Arial" panose="020B0604020202020204" pitchFamily="34" charset="0"/>
              </a:defRPr>
            </a:lvl5pPr>
            <a:lvl6pPr marL="2628900" indent="-342900" eaLnBrk="0" fontAlgn="base" hangingPunct="0">
              <a:spcBef>
                <a:spcPct val="0"/>
              </a:spcBef>
              <a:spcAft>
                <a:spcPct val="0"/>
              </a:spcAft>
              <a:defRPr>
                <a:solidFill>
                  <a:schemeClr val="tx1"/>
                </a:solidFill>
                <a:latin typeface="Arial" panose="020B0604020202020204" pitchFamily="34" charset="0"/>
              </a:defRPr>
            </a:lvl6pPr>
            <a:lvl7pPr marL="3086100" indent="-342900" eaLnBrk="0" fontAlgn="base" hangingPunct="0">
              <a:spcBef>
                <a:spcPct val="0"/>
              </a:spcBef>
              <a:spcAft>
                <a:spcPct val="0"/>
              </a:spcAft>
              <a:defRPr>
                <a:solidFill>
                  <a:schemeClr val="tx1"/>
                </a:solidFill>
                <a:latin typeface="Arial" panose="020B0604020202020204" pitchFamily="34" charset="0"/>
              </a:defRPr>
            </a:lvl7pPr>
            <a:lvl8pPr marL="3543300" indent="-342900" eaLnBrk="0" fontAlgn="base" hangingPunct="0">
              <a:spcBef>
                <a:spcPct val="0"/>
              </a:spcBef>
              <a:spcAft>
                <a:spcPct val="0"/>
              </a:spcAft>
              <a:defRPr>
                <a:solidFill>
                  <a:schemeClr val="tx1"/>
                </a:solidFill>
                <a:latin typeface="Arial" panose="020B0604020202020204" pitchFamily="34" charset="0"/>
              </a:defRPr>
            </a:lvl8pPr>
            <a:lvl9pPr marL="4000500"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400" b="1"/>
              <a:t>	</a:t>
            </a:r>
            <a:r>
              <a:rPr lang="fr-FR" altLang="fr-FR" sz="1600" b="1" u="sng"/>
              <a:t>3ème cas</a:t>
            </a:r>
            <a:r>
              <a:rPr lang="fr-FR" altLang="fr-FR" sz="1600" b="1"/>
              <a:t> : importer des données en mode colonne</a:t>
            </a:r>
            <a:endParaRPr lang="fr-FR" altLang="fr-FR" sz="1600"/>
          </a:p>
          <a:p>
            <a:pPr eaLnBrk="1" hangingPunct="1"/>
            <a:r>
              <a:rPr lang="fr-FR" altLang="fr-FR" sz="1600"/>
              <a:t>Dans le cas de données en mode "colonne", on dispose de données qui sont rangées les unes à la</a:t>
            </a:r>
          </a:p>
          <a:p>
            <a:pPr eaLnBrk="1" hangingPunct="1"/>
            <a:r>
              <a:rPr lang="fr-FR" altLang="fr-FR" sz="1600"/>
              <a:t> suite des autres, et l’emplacement des valeurs dans les colonnes de chaque ligne est identique.</a:t>
            </a:r>
          </a:p>
          <a:p>
            <a:pPr eaLnBrk="1" hangingPunct="1"/>
            <a:r>
              <a:rPr lang="fr-FR" altLang="fr-FR" sz="1600"/>
              <a:t> Il va falloir indiquer à SAS dans quelles colonnes précises se trouvent les données. </a:t>
            </a:r>
          </a:p>
          <a:p>
            <a:pPr eaLnBrk="1" hangingPunct="1"/>
            <a:r>
              <a:rPr lang="fr-FR" altLang="fr-FR" sz="1600"/>
              <a:t>Particularité : l’ordre dans lequel on choisit les variables n’a pas d’importance.</a:t>
            </a:r>
          </a:p>
          <a:p>
            <a:pPr eaLnBrk="1" hangingPunct="1"/>
            <a:r>
              <a:rPr lang="fr-FR" altLang="fr-FR" sz="1600"/>
              <a:t>Exemple de données : </a:t>
            </a:r>
          </a:p>
          <a:p>
            <a:pPr eaLnBrk="1" hangingPunct="1"/>
            <a:r>
              <a:rPr lang="fr-FR" altLang="fr-FR" sz="1400"/>
              <a:t>				1     Abraham     H     13    40     150 </a:t>
            </a:r>
          </a:p>
          <a:p>
            <a:pPr eaLnBrk="1" hangingPunct="1"/>
            <a:r>
              <a:rPr lang="fr-FR" altLang="fr-FR" sz="1400"/>
              <a:t>				2     Benjamine   F     13    45     155 </a:t>
            </a:r>
          </a:p>
          <a:p>
            <a:pPr eaLnBrk="1" hangingPunct="1"/>
            <a:r>
              <a:rPr lang="fr-FR" altLang="fr-FR" sz="1400"/>
              <a:t>				3     Dorien         H     10    30     135 </a:t>
            </a:r>
          </a:p>
          <a:p>
            <a:pPr eaLnBrk="1" hangingPunct="1"/>
            <a:r>
              <a:rPr lang="fr-FR" altLang="fr-FR" sz="1400"/>
              <a:t>				4     Elanie          F     11    30     135</a:t>
            </a:r>
          </a:p>
          <a:p>
            <a:pPr eaLnBrk="1" hangingPunct="1"/>
            <a:endParaRPr lang="fr-FR" altLang="fr-FR" sz="1400"/>
          </a:p>
          <a:p>
            <a:pPr eaLnBrk="1" hangingPunct="1"/>
            <a:r>
              <a:rPr lang="fr-FR" altLang="fr-FR" sz="1600"/>
              <a:t>Comme en mode liste, il faut nommer les variables qu’on veut importer (instruction input), et </a:t>
            </a:r>
          </a:p>
          <a:p>
            <a:pPr eaLnBrk="1" hangingPunct="1"/>
            <a:r>
              <a:rPr lang="fr-FR" altLang="fr-FR" sz="1600"/>
              <a:t>préciser le type de chaque variable : lorsqu’une variable est de type caractère, il faudra faire suivre</a:t>
            </a:r>
          </a:p>
          <a:p>
            <a:pPr eaLnBrk="1" hangingPunct="1"/>
            <a:r>
              <a:rPr lang="fr-FR" altLang="fr-FR" sz="1600"/>
              <a:t>le nom de la variable du signe $. Attention ici les données sont situées dans des colonnes : il faut </a:t>
            </a:r>
          </a:p>
          <a:p>
            <a:pPr eaLnBrk="1" hangingPunct="1"/>
            <a:r>
              <a:rPr lang="fr-FR" altLang="fr-FR" sz="1600"/>
              <a:t>indiquer à SAS précisément dans quelles colonnes se trouvent les variables qu’on veut importer. </a:t>
            </a:r>
          </a:p>
          <a:p>
            <a:pPr eaLnBrk="1" hangingPunct="1"/>
            <a:r>
              <a:rPr lang="fr-FR" altLang="fr-FR" sz="1600"/>
              <a:t>Pour identifier les numéros de colonne, le plus simple est d’inscrire une ligne de nombres. Cela va </a:t>
            </a:r>
          </a:p>
          <a:p>
            <a:pPr eaLnBrk="1" hangingPunct="1"/>
            <a:r>
              <a:rPr lang="fr-FR" altLang="fr-FR" sz="1600"/>
              <a:t>servir à numéroter les colonnes et donc à pouvoir identifier plus facilement l’emplacement des </a:t>
            </a:r>
          </a:p>
          <a:p>
            <a:pPr eaLnBrk="1" hangingPunct="1"/>
            <a:r>
              <a:rPr lang="fr-FR" altLang="fr-FR" sz="1600"/>
              <a:t>variables.</a:t>
            </a:r>
          </a:p>
          <a:p>
            <a:pPr eaLnBrk="1" hangingPunct="1"/>
            <a:r>
              <a:rPr lang="fr-FR" altLang="fr-FR" sz="1600"/>
              <a:t>Le début de la programmation sera donc la suivante : </a:t>
            </a:r>
          </a:p>
          <a:p>
            <a:pPr eaLnBrk="1" hangingPunct="1"/>
            <a:r>
              <a:rPr lang="fr-FR" altLang="fr-FR" sz="1400" i="1"/>
              <a:t>	</a:t>
            </a:r>
            <a:r>
              <a:rPr lang="fr-FR" altLang="fr-FR" sz="1400" i="1">
                <a:solidFill>
                  <a:schemeClr val="accent2"/>
                </a:solidFill>
              </a:rPr>
              <a:t>			DATA club5 ;</a:t>
            </a:r>
          </a:p>
          <a:p>
            <a:pPr eaLnBrk="1" hangingPunct="1"/>
            <a:r>
              <a:rPr lang="fr-FR" altLang="fr-FR" sz="1400" i="1">
                <a:solidFill>
                  <a:schemeClr val="accent2"/>
                </a:solidFill>
              </a:rPr>
              <a:t>				input num 1 prenom $ 7-18 sexe $ 19 age 25-26 poids 31-32 taille 38-40 ; run;</a:t>
            </a:r>
          </a:p>
          <a:p>
            <a:pPr eaLnBrk="1" hangingPunct="1"/>
            <a:endParaRPr lang="fr-FR" altLang="fr-FR" sz="1600" i="1">
              <a:solidFill>
                <a:schemeClr val="accent2"/>
              </a:solidFill>
            </a:endParaRPr>
          </a:p>
          <a:p>
            <a:pPr eaLnBrk="1" hangingPunct="1"/>
            <a:r>
              <a:rPr lang="fr-FR" altLang="fr-FR" sz="1600" u="sng"/>
              <a:t>Si les données sont stockées dans un fichier externe:</a:t>
            </a:r>
          </a:p>
          <a:p>
            <a:pPr eaLnBrk="1" hangingPunct="1"/>
            <a:r>
              <a:rPr lang="fr-FR" altLang="fr-FR" sz="1400" i="1">
                <a:solidFill>
                  <a:schemeClr val="accent2"/>
                </a:solidFill>
              </a:rPr>
              <a:t>				DATA club7 ;</a:t>
            </a:r>
          </a:p>
          <a:p>
            <a:pPr eaLnBrk="1" hangingPunct="1"/>
            <a:r>
              <a:rPr lang="fr-FR" altLang="fr-FR" sz="1400" i="1">
                <a:solidFill>
                  <a:schemeClr val="accent2"/>
                </a:solidFill>
              </a:rPr>
              <a:t>				infile ‘c://mesdocuments/données/club.txt’ ;</a:t>
            </a:r>
          </a:p>
          <a:p>
            <a:pPr eaLnBrk="1" hangingPunct="1"/>
            <a:r>
              <a:rPr lang="fr-FR" altLang="fr-FR" sz="1400" i="1">
                <a:solidFill>
                  <a:schemeClr val="accent2"/>
                </a:solidFill>
              </a:rPr>
              <a:t>				input num 1 prenom $ 7-18 sexe $ 19 age 25-26 poids 31-32 taille 38-40 ; run;</a:t>
            </a:r>
            <a:endParaRPr lang="fr-FR" altLang="fr-FR" sz="900" i="1">
              <a:solidFill>
                <a:schemeClr val="accent2"/>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0" y="708025"/>
            <a:ext cx="9144000" cy="616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887413" indent="-342900" eaLnBrk="0" hangingPunct="0">
              <a:defRPr>
                <a:solidFill>
                  <a:schemeClr val="tx1"/>
                </a:solidFill>
                <a:latin typeface="Arial" panose="020B0604020202020204" pitchFamily="34" charset="0"/>
              </a:defRPr>
            </a:lvl2pPr>
            <a:lvl3pPr marL="1409700" indent="-342900" eaLnBrk="0" hangingPunct="0">
              <a:defRPr>
                <a:solidFill>
                  <a:schemeClr val="tx1"/>
                </a:solidFill>
                <a:latin typeface="Arial" panose="020B0604020202020204" pitchFamily="34" charset="0"/>
              </a:defRPr>
            </a:lvl3pPr>
            <a:lvl4pPr marL="1931988" indent="-342900" eaLnBrk="0" hangingPunct="0">
              <a:defRPr>
                <a:solidFill>
                  <a:schemeClr val="tx1"/>
                </a:solidFill>
                <a:latin typeface="Arial" panose="020B0604020202020204" pitchFamily="34" charset="0"/>
              </a:defRPr>
            </a:lvl4pPr>
            <a:lvl5pPr marL="2454275" indent="-342900" eaLnBrk="0" hangingPunct="0">
              <a:defRPr>
                <a:solidFill>
                  <a:schemeClr val="tx1"/>
                </a:solidFill>
                <a:latin typeface="Arial" panose="020B0604020202020204" pitchFamily="34" charset="0"/>
              </a:defRPr>
            </a:lvl5pPr>
            <a:lvl6pPr marL="2911475" indent="-342900" eaLnBrk="0" fontAlgn="base" hangingPunct="0">
              <a:spcBef>
                <a:spcPct val="0"/>
              </a:spcBef>
              <a:spcAft>
                <a:spcPct val="0"/>
              </a:spcAft>
              <a:defRPr>
                <a:solidFill>
                  <a:schemeClr val="tx1"/>
                </a:solidFill>
                <a:latin typeface="Arial" panose="020B0604020202020204" pitchFamily="34" charset="0"/>
              </a:defRPr>
            </a:lvl6pPr>
            <a:lvl7pPr marL="3368675" indent="-342900" eaLnBrk="0" fontAlgn="base" hangingPunct="0">
              <a:spcBef>
                <a:spcPct val="0"/>
              </a:spcBef>
              <a:spcAft>
                <a:spcPct val="0"/>
              </a:spcAft>
              <a:defRPr>
                <a:solidFill>
                  <a:schemeClr val="tx1"/>
                </a:solidFill>
                <a:latin typeface="Arial" panose="020B0604020202020204" pitchFamily="34" charset="0"/>
              </a:defRPr>
            </a:lvl7pPr>
            <a:lvl8pPr marL="3825875" indent="-342900" eaLnBrk="0" fontAlgn="base" hangingPunct="0">
              <a:spcBef>
                <a:spcPct val="0"/>
              </a:spcBef>
              <a:spcAft>
                <a:spcPct val="0"/>
              </a:spcAft>
              <a:defRPr>
                <a:solidFill>
                  <a:schemeClr val="tx1"/>
                </a:solidFill>
                <a:latin typeface="Arial" panose="020B0604020202020204" pitchFamily="34" charset="0"/>
              </a:defRPr>
            </a:lvl8pPr>
            <a:lvl9pPr marL="4283075"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a:t>L’étape Data est la base de la programmation en langage SAS.</a:t>
            </a:r>
          </a:p>
          <a:p>
            <a:pPr eaLnBrk="1" hangingPunct="1"/>
            <a:r>
              <a:rPr lang="fr-FR" altLang="fr-FR" sz="1600"/>
              <a:t>Cette étape permet de créer des tables et de les modifier (ajout de variables, suppression de lignes, renommer des variables).</a:t>
            </a:r>
          </a:p>
          <a:p>
            <a:pPr eaLnBrk="1" hangingPunct="1"/>
            <a:r>
              <a:rPr lang="fr-FR" altLang="fr-FR" sz="1600"/>
              <a:t>Il est possible de créer (ou modifier) des tables SAS à partir de tables SAS existantes (instruction set).</a:t>
            </a:r>
            <a:endParaRPr lang="fr-FR" altLang="fr-FR" sz="800"/>
          </a:p>
          <a:p>
            <a:pPr eaLnBrk="1" hangingPunct="1"/>
            <a:r>
              <a:rPr lang="fr-FR" altLang="fr-FR" sz="1600" i="1"/>
              <a:t>Syntaxe:</a:t>
            </a:r>
          </a:p>
          <a:p>
            <a:pPr eaLnBrk="1" hangingPunct="1"/>
            <a:r>
              <a:rPr lang="fr-FR" altLang="fr-FR" sz="1400" i="1"/>
              <a:t>					</a:t>
            </a:r>
            <a:r>
              <a:rPr lang="fr-FR" altLang="fr-FR" sz="1400" i="1">
                <a:solidFill>
                  <a:schemeClr val="accent2"/>
                </a:solidFill>
              </a:rPr>
              <a:t>Data B; set A;</a:t>
            </a:r>
          </a:p>
          <a:p>
            <a:pPr eaLnBrk="1" hangingPunct="1"/>
            <a:r>
              <a:rPr lang="fr-FR" altLang="fr-FR" sz="1400" i="1">
                <a:solidFill>
                  <a:schemeClr val="accent2"/>
                </a:solidFill>
              </a:rPr>
              <a:t>					run;</a:t>
            </a:r>
          </a:p>
          <a:p>
            <a:pPr eaLnBrk="1" hangingPunct="1"/>
            <a:endParaRPr lang="fr-FR" altLang="fr-FR" sz="1400" i="1">
              <a:solidFill>
                <a:schemeClr val="accent2"/>
              </a:solidFill>
            </a:endParaRPr>
          </a:p>
          <a:p>
            <a:pPr eaLnBrk="1" hangingPunct="1"/>
            <a:r>
              <a:rPr lang="fr-FR" altLang="fr-FR" sz="1600"/>
              <a:t>Ici, on crée la table B qui est identique à la table A.</a:t>
            </a:r>
          </a:p>
          <a:p>
            <a:pPr eaLnBrk="1" hangingPunct="1"/>
            <a:endParaRPr lang="fr-FR" altLang="fr-FR" sz="800"/>
          </a:p>
          <a:p>
            <a:pPr eaLnBrk="1" hangingPunct="1"/>
            <a:r>
              <a:rPr lang="fr-FR" altLang="fr-FR" sz="1600"/>
              <a:t>Il est possible de rajouter des lignes de programmation au sein d’un étape Data pour modifier la table existante.</a:t>
            </a:r>
          </a:p>
          <a:p>
            <a:pPr eaLnBrk="1" hangingPunct="1"/>
            <a:r>
              <a:rPr lang="fr-FR" altLang="fr-FR" sz="1600" i="1"/>
              <a:t>Exemple:</a:t>
            </a:r>
          </a:p>
          <a:p>
            <a:pPr eaLnBrk="1" hangingPunct="1"/>
            <a:r>
              <a:rPr lang="fr-FR" altLang="fr-FR" sz="1400"/>
              <a:t>					</a:t>
            </a:r>
            <a:r>
              <a:rPr lang="fr-FR" altLang="fr-FR" sz="1400" i="1">
                <a:solidFill>
                  <a:schemeClr val="accent2"/>
                </a:solidFill>
              </a:rPr>
              <a:t>Data B; set A;</a:t>
            </a:r>
          </a:p>
          <a:p>
            <a:pPr eaLnBrk="1" hangingPunct="1"/>
            <a:r>
              <a:rPr lang="fr-FR" altLang="fr-FR" sz="1400" i="1">
                <a:solidFill>
                  <a:schemeClr val="accent2"/>
                </a:solidFill>
              </a:rPr>
              <a:t>					var3=var1+var2;</a:t>
            </a:r>
          </a:p>
          <a:p>
            <a:pPr eaLnBrk="1" hangingPunct="1"/>
            <a:r>
              <a:rPr lang="fr-FR" altLang="fr-FR" sz="1400" i="1">
                <a:solidFill>
                  <a:schemeClr val="accent2"/>
                </a:solidFill>
              </a:rPr>
              <a:t>					run;</a:t>
            </a:r>
          </a:p>
          <a:p>
            <a:pPr eaLnBrk="1" hangingPunct="1"/>
            <a:endParaRPr lang="fr-FR" altLang="fr-FR" sz="800" i="1">
              <a:solidFill>
                <a:schemeClr val="accent2"/>
              </a:solidFill>
            </a:endParaRPr>
          </a:p>
          <a:p>
            <a:pPr eaLnBrk="1" hangingPunct="1"/>
            <a:r>
              <a:rPr lang="fr-FR" altLang="fr-FR" sz="1600"/>
              <a:t>Ici, on crée la table B à partir de la table A en ajoutant la variable Var3 qui est la somme de Var1 et Var2.</a:t>
            </a:r>
          </a:p>
          <a:p>
            <a:pPr eaLnBrk="1" hangingPunct="1"/>
            <a:endParaRPr lang="fr-FR" altLang="fr-FR" sz="800"/>
          </a:p>
          <a:p>
            <a:pPr eaLnBrk="1" hangingPunct="1"/>
            <a:r>
              <a:rPr lang="fr-FR" altLang="fr-FR" sz="1600"/>
              <a:t>Il est également possible d’ajouter des opérateurs logiques au sein d’une étape data :</a:t>
            </a:r>
          </a:p>
          <a:p>
            <a:pPr eaLnBrk="1" hangingPunct="1"/>
            <a:r>
              <a:rPr lang="fr-FR" altLang="fr-FR" sz="1600"/>
              <a:t>	Si (</a:t>
            </a:r>
            <a:r>
              <a:rPr lang="fr-FR" altLang="fr-FR" sz="1600" i="1"/>
              <a:t>condition=vraie)</a:t>
            </a:r>
            <a:r>
              <a:rPr lang="fr-FR" altLang="fr-FR" sz="1600"/>
              <a:t> Alors (</a:t>
            </a:r>
            <a:r>
              <a:rPr lang="fr-FR" altLang="fr-FR" sz="1600" i="1"/>
              <a:t>Action1</a:t>
            </a:r>
            <a:r>
              <a:rPr lang="fr-FR" altLang="fr-FR" sz="1600"/>
              <a:t>) Sinon (</a:t>
            </a:r>
            <a:r>
              <a:rPr lang="fr-FR" altLang="fr-FR" sz="1600" i="1"/>
              <a:t>Action2</a:t>
            </a:r>
            <a:r>
              <a:rPr lang="fr-FR" altLang="fr-FR" sz="1600"/>
              <a:t>) (cf chapitre opérateurs logiques)</a:t>
            </a:r>
          </a:p>
          <a:p>
            <a:pPr eaLnBrk="1" hangingPunct="1"/>
            <a:endParaRPr lang="fr-FR" altLang="fr-FR" sz="800"/>
          </a:p>
          <a:p>
            <a:pPr eaLnBrk="1" hangingPunct="1"/>
            <a:r>
              <a:rPr lang="fr-FR" altLang="fr-FR" sz="1600" b="1"/>
              <a:t>Il est aussi possible d’écraser une table en la modifiant</a:t>
            </a:r>
            <a:r>
              <a:rPr lang="fr-FR" altLang="fr-FR" sz="1600"/>
              <a:t>:</a:t>
            </a:r>
          </a:p>
          <a:p>
            <a:pPr eaLnBrk="1" hangingPunct="1"/>
            <a:r>
              <a:rPr lang="fr-FR" altLang="fr-FR" sz="1400"/>
              <a:t>					</a:t>
            </a:r>
            <a:r>
              <a:rPr lang="fr-FR" altLang="fr-FR" sz="1400" i="1">
                <a:solidFill>
                  <a:schemeClr val="accent2"/>
                </a:solidFill>
              </a:rPr>
              <a:t>Data A; set A;</a:t>
            </a:r>
          </a:p>
          <a:p>
            <a:pPr eaLnBrk="1" hangingPunct="1"/>
            <a:r>
              <a:rPr lang="fr-FR" altLang="fr-FR" sz="1400" i="1">
                <a:solidFill>
                  <a:schemeClr val="accent2"/>
                </a:solidFill>
              </a:rPr>
              <a:t>					var3=var1+var2;</a:t>
            </a:r>
          </a:p>
          <a:p>
            <a:pPr eaLnBrk="1" hangingPunct="1"/>
            <a:r>
              <a:rPr lang="fr-FR" altLang="fr-FR" sz="1400" i="1">
                <a:solidFill>
                  <a:schemeClr val="accent2"/>
                </a:solidFill>
              </a:rPr>
              <a:t>					run;</a:t>
            </a:r>
            <a:endParaRPr lang="fr-FR" altLang="fr-FR" sz="1400">
              <a:solidFill>
                <a:schemeClr val="accent2"/>
              </a:solidFill>
            </a:endParaRPr>
          </a:p>
        </p:txBody>
      </p:sp>
      <p:sp>
        <p:nvSpPr>
          <p:cNvPr id="13315" name="Rectangle 3"/>
          <p:cNvSpPr>
            <a:spLocks noGrp="1" noChangeArrowheads="1"/>
          </p:cNvSpPr>
          <p:nvPr>
            <p:ph type="title"/>
          </p:nvPr>
        </p:nvSpPr>
        <p:spPr>
          <a:xfrm>
            <a:off x="0" y="112713"/>
            <a:ext cx="9144000" cy="579437"/>
          </a:xfrm>
          <a:noFill/>
        </p:spPr>
        <p:txBody>
          <a:bodyPr/>
          <a:lstStyle/>
          <a:p>
            <a:pPr eaLnBrk="1" hangingPunct="1"/>
            <a:r>
              <a:rPr lang="fr-FR" altLang="fr-FR" sz="3200" smtClean="0"/>
              <a:t>L’étape DATA et les proc print et contents(1/2)</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0" y="44450"/>
            <a:ext cx="9144000" cy="579438"/>
          </a:xfrm>
          <a:noFill/>
        </p:spPr>
        <p:txBody>
          <a:bodyPr/>
          <a:lstStyle/>
          <a:p>
            <a:pPr eaLnBrk="1" hangingPunct="1"/>
            <a:r>
              <a:rPr lang="fr-FR" altLang="fr-FR" sz="3200" smtClean="0"/>
              <a:t>L’étape DATA et les proc print et contents(2/2)</a:t>
            </a:r>
          </a:p>
        </p:txBody>
      </p:sp>
      <p:sp>
        <p:nvSpPr>
          <p:cNvPr id="14339" name="Rectangle 3"/>
          <p:cNvSpPr>
            <a:spLocks noChangeArrowheads="1"/>
          </p:cNvSpPr>
          <p:nvPr/>
        </p:nvSpPr>
        <p:spPr bwMode="auto">
          <a:xfrm>
            <a:off x="0" y="692150"/>
            <a:ext cx="9144000" cy="613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887413" indent="-342900" eaLnBrk="0" hangingPunct="0">
              <a:defRPr>
                <a:solidFill>
                  <a:schemeClr val="tx1"/>
                </a:solidFill>
                <a:latin typeface="Arial" panose="020B0604020202020204" pitchFamily="34" charset="0"/>
              </a:defRPr>
            </a:lvl2pPr>
            <a:lvl3pPr marL="1409700" indent="-342900" eaLnBrk="0" hangingPunct="0">
              <a:defRPr>
                <a:solidFill>
                  <a:schemeClr val="tx1"/>
                </a:solidFill>
                <a:latin typeface="Arial" panose="020B0604020202020204" pitchFamily="34" charset="0"/>
              </a:defRPr>
            </a:lvl3pPr>
            <a:lvl4pPr marL="1931988" indent="-342900" eaLnBrk="0" hangingPunct="0">
              <a:defRPr>
                <a:solidFill>
                  <a:schemeClr val="tx1"/>
                </a:solidFill>
                <a:latin typeface="Arial" panose="020B0604020202020204" pitchFamily="34" charset="0"/>
              </a:defRPr>
            </a:lvl4pPr>
            <a:lvl5pPr marL="2454275" indent="-342900" eaLnBrk="0" hangingPunct="0">
              <a:defRPr>
                <a:solidFill>
                  <a:schemeClr val="tx1"/>
                </a:solidFill>
                <a:latin typeface="Arial" panose="020B0604020202020204" pitchFamily="34" charset="0"/>
              </a:defRPr>
            </a:lvl5pPr>
            <a:lvl6pPr marL="2911475" indent="-342900" eaLnBrk="0" fontAlgn="base" hangingPunct="0">
              <a:spcBef>
                <a:spcPct val="0"/>
              </a:spcBef>
              <a:spcAft>
                <a:spcPct val="0"/>
              </a:spcAft>
              <a:defRPr>
                <a:solidFill>
                  <a:schemeClr val="tx1"/>
                </a:solidFill>
                <a:latin typeface="Arial" panose="020B0604020202020204" pitchFamily="34" charset="0"/>
              </a:defRPr>
            </a:lvl6pPr>
            <a:lvl7pPr marL="3368675" indent="-342900" eaLnBrk="0" fontAlgn="base" hangingPunct="0">
              <a:spcBef>
                <a:spcPct val="0"/>
              </a:spcBef>
              <a:spcAft>
                <a:spcPct val="0"/>
              </a:spcAft>
              <a:defRPr>
                <a:solidFill>
                  <a:schemeClr val="tx1"/>
                </a:solidFill>
                <a:latin typeface="Arial" panose="020B0604020202020204" pitchFamily="34" charset="0"/>
              </a:defRPr>
            </a:lvl7pPr>
            <a:lvl8pPr marL="3825875" indent="-342900" eaLnBrk="0" fontAlgn="base" hangingPunct="0">
              <a:spcBef>
                <a:spcPct val="0"/>
              </a:spcBef>
              <a:spcAft>
                <a:spcPct val="0"/>
              </a:spcAft>
              <a:defRPr>
                <a:solidFill>
                  <a:schemeClr val="tx1"/>
                </a:solidFill>
                <a:latin typeface="Arial" panose="020B0604020202020204" pitchFamily="34" charset="0"/>
              </a:defRPr>
            </a:lvl8pPr>
            <a:lvl9pPr marL="4283075"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a:t>Quelques mots clés indispensables dans les étapes Data:</a:t>
            </a:r>
          </a:p>
          <a:p>
            <a:pPr lvl="1" eaLnBrk="1" hangingPunct="1">
              <a:buFontTx/>
              <a:buChar char="•"/>
            </a:pPr>
            <a:r>
              <a:rPr lang="fr-FR" altLang="fr-FR" sz="1600" b="1">
                <a:solidFill>
                  <a:schemeClr val="accent2"/>
                </a:solidFill>
              </a:rPr>
              <a:t>Keep</a:t>
            </a:r>
            <a:r>
              <a:rPr lang="fr-FR" altLang="fr-FR" sz="1600"/>
              <a:t> var1 var2 var3 : permet de ne prendre que les variables var1 var2 var3 dans la nouvelle table.</a:t>
            </a:r>
          </a:p>
          <a:p>
            <a:pPr lvl="1" eaLnBrk="1" hangingPunct="1">
              <a:buFontTx/>
              <a:buChar char="•"/>
            </a:pPr>
            <a:r>
              <a:rPr lang="fr-FR" altLang="fr-FR" sz="1600" b="1">
                <a:solidFill>
                  <a:schemeClr val="accent2"/>
                </a:solidFill>
              </a:rPr>
              <a:t>Drop</a:t>
            </a:r>
            <a:r>
              <a:rPr lang="fr-FR" altLang="fr-FR" sz="1600"/>
              <a:t> var4 : permet de supprimer la variable Var4 dans la nouvelle table.</a:t>
            </a:r>
          </a:p>
          <a:p>
            <a:pPr lvl="1" eaLnBrk="1" hangingPunct="1">
              <a:buFontTx/>
              <a:buChar char="•"/>
            </a:pPr>
            <a:r>
              <a:rPr lang="fr-FR" altLang="fr-FR" sz="1600" b="1">
                <a:solidFill>
                  <a:schemeClr val="accent2"/>
                </a:solidFill>
              </a:rPr>
              <a:t>Rename</a:t>
            </a:r>
            <a:r>
              <a:rPr lang="fr-FR" altLang="fr-FR" sz="1600"/>
              <a:t> ancien_Var = new_var : permet de renommer la variable anicen_var en new_var.</a:t>
            </a:r>
          </a:p>
          <a:p>
            <a:pPr lvl="1" eaLnBrk="1" hangingPunct="1">
              <a:buFontTx/>
              <a:buChar char="•"/>
            </a:pPr>
            <a:r>
              <a:rPr lang="fr-FR" altLang="fr-FR" sz="1600" b="1">
                <a:solidFill>
                  <a:schemeClr val="accent2"/>
                </a:solidFill>
              </a:rPr>
              <a:t>Where</a:t>
            </a:r>
            <a:r>
              <a:rPr lang="fr-FR" altLang="fr-FR" sz="1600"/>
              <a:t> variable = condition : permet de sélectionner les lignes remplissant la condition</a:t>
            </a:r>
          </a:p>
          <a:p>
            <a:pPr eaLnBrk="1" hangingPunct="1"/>
            <a:r>
              <a:rPr lang="fr-FR" altLang="fr-FR" sz="1600" i="1"/>
              <a:t>Exemple :</a:t>
            </a:r>
            <a:r>
              <a:rPr lang="fr-FR" altLang="fr-FR" sz="1600"/>
              <a:t> </a:t>
            </a:r>
          </a:p>
          <a:p>
            <a:pPr eaLnBrk="1" hangingPunct="1"/>
            <a:r>
              <a:rPr lang="fr-FR" altLang="fr-FR" sz="1400" i="1"/>
              <a:t>			</a:t>
            </a:r>
            <a:r>
              <a:rPr lang="fr-FR" altLang="fr-FR" sz="1400" i="1">
                <a:solidFill>
                  <a:schemeClr val="accent2"/>
                </a:solidFill>
              </a:rPr>
              <a:t>	Data B; set A;</a:t>
            </a:r>
          </a:p>
          <a:p>
            <a:pPr eaLnBrk="1" hangingPunct="1"/>
            <a:r>
              <a:rPr lang="fr-FR" altLang="fr-FR" sz="1400" i="1">
                <a:solidFill>
                  <a:schemeClr val="accent2"/>
                </a:solidFill>
              </a:rPr>
              <a:t>				Var3 = Var1 + Var2;</a:t>
            </a:r>
          </a:p>
          <a:p>
            <a:pPr eaLnBrk="1" hangingPunct="1"/>
            <a:r>
              <a:rPr lang="fr-FR" altLang="fr-FR" sz="1400" i="1">
                <a:solidFill>
                  <a:schemeClr val="accent2"/>
                </a:solidFill>
              </a:rPr>
              <a:t>				rename var2 = var4;</a:t>
            </a:r>
          </a:p>
          <a:p>
            <a:pPr eaLnBrk="1" hangingPunct="1"/>
            <a:r>
              <a:rPr lang="fr-FR" altLang="fr-FR" sz="1400" i="1">
                <a:solidFill>
                  <a:schemeClr val="accent2"/>
                </a:solidFill>
              </a:rPr>
              <a:t>				where var1 = 10;</a:t>
            </a:r>
          </a:p>
          <a:p>
            <a:pPr eaLnBrk="1" hangingPunct="1"/>
            <a:r>
              <a:rPr lang="fr-FR" altLang="fr-FR" sz="1400" i="1">
                <a:solidFill>
                  <a:schemeClr val="accent2"/>
                </a:solidFill>
              </a:rPr>
              <a:t>				keep var3 var4;</a:t>
            </a:r>
          </a:p>
          <a:p>
            <a:pPr eaLnBrk="1" hangingPunct="1"/>
            <a:r>
              <a:rPr lang="fr-FR" altLang="fr-FR" sz="1400" i="1">
                <a:solidFill>
                  <a:schemeClr val="accent2"/>
                </a:solidFill>
              </a:rPr>
              <a:t>				run;</a:t>
            </a:r>
          </a:p>
          <a:p>
            <a:pPr eaLnBrk="1" hangingPunct="1"/>
            <a:r>
              <a:rPr lang="fr-FR" altLang="fr-FR" sz="1600" b="1"/>
              <a:t>La proc print : </a:t>
            </a:r>
          </a:p>
          <a:p>
            <a:pPr eaLnBrk="1" hangingPunct="1"/>
            <a:r>
              <a:rPr lang="fr-FR" altLang="fr-FR" sz="1600"/>
              <a:t>Elle permet d’afficher dans la fenêtre results la table SAS souhaitée.</a:t>
            </a:r>
          </a:p>
          <a:p>
            <a:pPr eaLnBrk="1" hangingPunct="1"/>
            <a:r>
              <a:rPr lang="fr-FR" altLang="fr-FR" sz="1600" u="sng"/>
              <a:t>Attention</a:t>
            </a:r>
            <a:r>
              <a:rPr lang="fr-FR" altLang="fr-FR" sz="1600"/>
              <a:t> : par défaut la proc print affiche toutes les lignes de la table (gênant pour les grandes tables). Il faut utliser l’option obs=</a:t>
            </a:r>
            <a:r>
              <a:rPr lang="fr-FR" altLang="fr-FR" sz="1600" i="1"/>
              <a:t>nb observations </a:t>
            </a:r>
            <a:r>
              <a:rPr lang="fr-FR" altLang="fr-FR" sz="1600"/>
              <a:t>pour afficher quelques obervations.</a:t>
            </a:r>
          </a:p>
          <a:p>
            <a:pPr eaLnBrk="1" hangingPunct="1"/>
            <a:r>
              <a:rPr lang="fr-FR" altLang="fr-FR" sz="1600"/>
              <a:t>Exemple: </a:t>
            </a:r>
          </a:p>
          <a:p>
            <a:pPr eaLnBrk="1" hangingPunct="1"/>
            <a:r>
              <a:rPr lang="fr-FR" altLang="fr-FR" sz="1400">
                <a:solidFill>
                  <a:schemeClr val="accent2"/>
                </a:solidFill>
              </a:rPr>
              <a:t>				</a:t>
            </a:r>
            <a:r>
              <a:rPr lang="fr-FR" altLang="fr-FR" sz="1400" i="1">
                <a:solidFill>
                  <a:schemeClr val="accent2"/>
                </a:solidFill>
              </a:rPr>
              <a:t>proc print data= A (obs=5);</a:t>
            </a:r>
          </a:p>
          <a:p>
            <a:pPr eaLnBrk="1" hangingPunct="1"/>
            <a:r>
              <a:rPr lang="fr-FR" altLang="fr-FR" sz="1400" i="1">
                <a:solidFill>
                  <a:schemeClr val="accent2"/>
                </a:solidFill>
              </a:rPr>
              <a:t>				Run;</a:t>
            </a:r>
          </a:p>
          <a:p>
            <a:pPr eaLnBrk="1" hangingPunct="1"/>
            <a:r>
              <a:rPr lang="fr-FR" altLang="fr-FR" sz="1600" b="1"/>
              <a:t>La proc contents : </a:t>
            </a:r>
          </a:p>
          <a:p>
            <a:pPr eaLnBrk="1" hangingPunct="1"/>
            <a:r>
              <a:rPr lang="fr-FR" altLang="fr-FR" sz="1600"/>
              <a:t>Elle permet d’afficher dans la fenêtre results les caractéristiques de la table (nom des variables, nombre de lignes)</a:t>
            </a:r>
          </a:p>
          <a:p>
            <a:pPr eaLnBrk="1" hangingPunct="1"/>
            <a:r>
              <a:rPr lang="fr-FR" altLang="fr-FR" sz="1400">
                <a:solidFill>
                  <a:schemeClr val="accent2"/>
                </a:solidFill>
              </a:rPr>
              <a:t>				</a:t>
            </a:r>
            <a:r>
              <a:rPr lang="fr-FR" altLang="fr-FR" sz="1400" i="1">
                <a:solidFill>
                  <a:schemeClr val="accent2"/>
                </a:solidFill>
              </a:rPr>
              <a:t>proc contents data= A;</a:t>
            </a:r>
          </a:p>
          <a:p>
            <a:pPr eaLnBrk="1" hangingPunct="1"/>
            <a:r>
              <a:rPr lang="fr-FR" altLang="fr-FR" sz="1400" i="1">
                <a:solidFill>
                  <a:schemeClr val="accent2"/>
                </a:solidFill>
              </a:rPr>
              <a:t>				Run;</a:t>
            </a:r>
            <a:endParaRPr lang="fr-FR" altLang="fr-FR" sz="1400">
              <a:solidFill>
                <a:schemeClr val="accent2"/>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58738"/>
            <a:ext cx="9144000" cy="633412"/>
          </a:xfrm>
          <a:noFill/>
        </p:spPr>
        <p:txBody>
          <a:bodyPr/>
          <a:lstStyle/>
          <a:p>
            <a:pPr marL="762000" indent="-762000" eaLnBrk="1" hangingPunct="1"/>
            <a:r>
              <a:rPr lang="fr-FR" altLang="fr-FR" sz="2800" smtClean="0">
                <a:solidFill>
                  <a:schemeClr val="tx1"/>
                </a:solidFill>
              </a:rPr>
              <a:t>Les opérateurs arithmétiques et les fonctions SAS (1/2)</a:t>
            </a:r>
          </a:p>
        </p:txBody>
      </p:sp>
      <p:sp>
        <p:nvSpPr>
          <p:cNvPr id="15363" name="Text Box 3"/>
          <p:cNvSpPr txBox="1">
            <a:spLocks noChangeArrowheads="1"/>
          </p:cNvSpPr>
          <p:nvPr/>
        </p:nvSpPr>
        <p:spPr bwMode="auto">
          <a:xfrm>
            <a:off x="0" y="908050"/>
            <a:ext cx="9144000" cy="583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a:t>OPERATEURS ARITHMETIQUES</a:t>
            </a:r>
          </a:p>
          <a:p>
            <a:pPr eaLnBrk="1" hangingPunct="1"/>
            <a:endParaRPr lang="fr-FR" altLang="fr-FR" sz="800" b="1"/>
          </a:p>
          <a:p>
            <a:pPr eaLnBrk="1" hangingPunct="1"/>
            <a:r>
              <a:rPr lang="fr-FR" altLang="fr-FR" sz="1600" i="1"/>
              <a:t>SYMBOLE     SIGNIFICATION                     EXEMPLES</a:t>
            </a:r>
          </a:p>
          <a:p>
            <a:pPr eaLnBrk="1" hangingPunct="1"/>
            <a:r>
              <a:rPr lang="fr-FR" altLang="fr-FR" sz="1600" b="1"/>
              <a:t>**                   </a:t>
            </a:r>
            <a:r>
              <a:rPr lang="fr-FR" altLang="fr-FR" sz="1600"/>
              <a:t>Exponentiation                        Y = X**2;</a:t>
            </a:r>
          </a:p>
          <a:p>
            <a:pPr eaLnBrk="1" hangingPunct="1"/>
            <a:r>
              <a:rPr lang="fr-FR" altLang="fr-FR" sz="1600" b="1"/>
              <a:t>*                    </a:t>
            </a:r>
            <a:r>
              <a:rPr lang="fr-FR" altLang="fr-FR" sz="1600"/>
              <a:t>Multiplication                            Y = A*B;</a:t>
            </a:r>
          </a:p>
          <a:p>
            <a:pPr eaLnBrk="1" hangingPunct="1"/>
            <a:r>
              <a:rPr lang="fr-FR" altLang="fr-FR" sz="1600" b="1"/>
              <a:t>/                     </a:t>
            </a:r>
            <a:r>
              <a:rPr lang="fr-FR" altLang="fr-FR" sz="1600"/>
              <a:t>Division                                   Y = A / B;</a:t>
            </a:r>
          </a:p>
          <a:p>
            <a:pPr eaLnBrk="1" hangingPunct="1"/>
            <a:r>
              <a:rPr lang="fr-FR" altLang="fr-FR" sz="1600" b="1"/>
              <a:t>+                   </a:t>
            </a:r>
            <a:r>
              <a:rPr lang="fr-FR" altLang="fr-FR" sz="1600"/>
              <a:t>Addition                                   Y = A + B;</a:t>
            </a:r>
          </a:p>
          <a:p>
            <a:pPr eaLnBrk="1" hangingPunct="1"/>
            <a:r>
              <a:rPr lang="fr-FR" altLang="fr-FR" sz="1600" b="1"/>
              <a:t>-                    </a:t>
            </a:r>
            <a:r>
              <a:rPr lang="fr-FR" altLang="fr-FR" sz="1600"/>
              <a:t>Soustraction                             Y = A - B;</a:t>
            </a:r>
          </a:p>
          <a:p>
            <a:pPr eaLnBrk="1" hangingPunct="1"/>
            <a:endParaRPr lang="fr-FR" altLang="fr-FR" sz="1600" b="1"/>
          </a:p>
          <a:p>
            <a:pPr eaLnBrk="1" hangingPunct="1"/>
            <a:r>
              <a:rPr lang="fr-FR" altLang="fr-FR" sz="1600" b="1"/>
              <a:t>OPERATEURS DE COMPARAISON</a:t>
            </a:r>
          </a:p>
          <a:p>
            <a:pPr eaLnBrk="1" hangingPunct="1"/>
            <a:r>
              <a:rPr lang="fr-FR" altLang="fr-FR" sz="1600" b="1"/>
              <a:t>= ou EQ </a:t>
            </a:r>
            <a:r>
              <a:rPr lang="fr-FR" altLang="fr-FR" sz="1600"/>
              <a:t>Egal à</a:t>
            </a:r>
          </a:p>
          <a:p>
            <a:pPr eaLnBrk="1" hangingPunct="1"/>
            <a:r>
              <a:rPr lang="fr-FR" altLang="fr-FR" sz="1600" b="1"/>
              <a:t>NE </a:t>
            </a:r>
            <a:r>
              <a:rPr lang="fr-FR" altLang="fr-FR" sz="1600"/>
              <a:t>Différent de</a:t>
            </a:r>
          </a:p>
          <a:p>
            <a:pPr eaLnBrk="1" hangingPunct="1"/>
            <a:r>
              <a:rPr lang="fr-FR" altLang="fr-FR" sz="1600" b="1"/>
              <a:t>&gt; ou GT </a:t>
            </a:r>
            <a:r>
              <a:rPr lang="fr-FR" altLang="fr-FR" sz="1600"/>
              <a:t>Supérieur à</a:t>
            </a:r>
          </a:p>
          <a:p>
            <a:pPr eaLnBrk="1" hangingPunct="1"/>
            <a:r>
              <a:rPr lang="fr-FR" altLang="fr-FR" sz="1600" b="1"/>
              <a:t>&lt; ou LT </a:t>
            </a:r>
            <a:r>
              <a:rPr lang="fr-FR" altLang="fr-FR" sz="1600"/>
              <a:t>Inférieur à</a:t>
            </a:r>
          </a:p>
          <a:p>
            <a:pPr eaLnBrk="1" hangingPunct="1"/>
            <a:r>
              <a:rPr lang="fr-FR" altLang="fr-FR" sz="1600" b="1"/>
              <a:t>&gt;= ou GE </a:t>
            </a:r>
            <a:r>
              <a:rPr lang="fr-FR" altLang="fr-FR" sz="1600"/>
              <a:t>Supérieur à ou égal à</a:t>
            </a:r>
          </a:p>
          <a:p>
            <a:pPr eaLnBrk="1" hangingPunct="1"/>
            <a:r>
              <a:rPr lang="fr-FR" altLang="fr-FR" sz="1600" b="1"/>
              <a:t>&lt;= ou LE </a:t>
            </a:r>
            <a:r>
              <a:rPr lang="fr-FR" altLang="fr-FR" sz="1600"/>
              <a:t>Inférieur à ou égal à</a:t>
            </a:r>
          </a:p>
          <a:p>
            <a:pPr eaLnBrk="1" hangingPunct="1"/>
            <a:endParaRPr lang="fr-FR" altLang="fr-FR" sz="1600"/>
          </a:p>
          <a:p>
            <a:pPr eaLnBrk="1" hangingPunct="1"/>
            <a:r>
              <a:rPr lang="fr-FR" altLang="fr-FR" sz="1600" b="1"/>
              <a:t>OPERATEURS LOGIQUES</a:t>
            </a:r>
          </a:p>
          <a:p>
            <a:pPr eaLnBrk="1" hangingPunct="1"/>
            <a:r>
              <a:rPr lang="fr-FR" altLang="fr-FR" sz="1600" b="1"/>
              <a:t>AND </a:t>
            </a:r>
            <a:r>
              <a:rPr lang="fr-FR" altLang="fr-FR" sz="1600"/>
              <a:t>Et</a:t>
            </a:r>
          </a:p>
          <a:p>
            <a:pPr eaLnBrk="1" hangingPunct="1"/>
            <a:r>
              <a:rPr lang="fr-FR" altLang="fr-FR" sz="1600" b="1"/>
              <a:t>OR </a:t>
            </a:r>
            <a:r>
              <a:rPr lang="fr-FR" altLang="fr-FR" sz="1600"/>
              <a:t>Ou</a:t>
            </a:r>
          </a:p>
          <a:p>
            <a:pPr eaLnBrk="1" hangingPunct="1"/>
            <a:r>
              <a:rPr lang="fr-FR" altLang="fr-FR" sz="1600" b="1"/>
              <a:t>NOT </a:t>
            </a:r>
            <a:r>
              <a:rPr lang="fr-FR" altLang="fr-FR" sz="1600"/>
              <a:t>Non</a:t>
            </a:r>
          </a:p>
          <a:p>
            <a:pPr eaLnBrk="1" hangingPunct="1"/>
            <a:endParaRPr lang="fr-FR" altLang="fr-FR" sz="1600"/>
          </a:p>
          <a:p>
            <a:pPr eaLnBrk="1" hangingPunct="1"/>
            <a:r>
              <a:rPr lang="fr-FR" altLang="fr-FR" sz="1600" b="1"/>
              <a:t>OPERATEURS SUR VARIABLES CARACTERES</a:t>
            </a:r>
          </a:p>
          <a:p>
            <a:pPr eaLnBrk="1" hangingPunct="1"/>
            <a:r>
              <a:rPr lang="fr-FR" altLang="fr-FR" sz="1600" b="1"/>
              <a:t>||    </a:t>
            </a:r>
            <a:r>
              <a:rPr lang="fr-FR" altLang="fr-FR" sz="1600"/>
              <a:t>Concaténation</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58738"/>
            <a:ext cx="9144000" cy="633412"/>
          </a:xfrm>
          <a:noFill/>
        </p:spPr>
        <p:txBody>
          <a:bodyPr/>
          <a:lstStyle/>
          <a:p>
            <a:pPr marL="762000" indent="-762000" eaLnBrk="1" hangingPunct="1"/>
            <a:r>
              <a:rPr lang="fr-FR" altLang="fr-FR" sz="2800" smtClean="0">
                <a:solidFill>
                  <a:schemeClr val="tx1"/>
                </a:solidFill>
              </a:rPr>
              <a:t>Les opérateurs arithmétiques et les fonctions SAS (2/2)</a:t>
            </a:r>
          </a:p>
        </p:txBody>
      </p:sp>
      <p:sp>
        <p:nvSpPr>
          <p:cNvPr id="16387" name="Text Box 3"/>
          <p:cNvSpPr txBox="1">
            <a:spLocks noChangeArrowheads="1"/>
          </p:cNvSpPr>
          <p:nvPr/>
        </p:nvSpPr>
        <p:spPr bwMode="auto">
          <a:xfrm>
            <a:off x="0" y="908050"/>
            <a:ext cx="9144000" cy="485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fr-FR" altLang="fr-FR" sz="1600" b="1" u="sng"/>
              <a:t>Formule Générale:</a:t>
            </a:r>
          </a:p>
          <a:p>
            <a:pPr eaLnBrk="1" hangingPunct="1"/>
            <a:r>
              <a:rPr lang="fr-FR" altLang="fr-FR" sz="1600"/>
              <a:t>Variables = </a:t>
            </a:r>
            <a:r>
              <a:rPr lang="fr-FR" altLang="fr-FR" sz="1600" i="1"/>
              <a:t>Nom fonction</a:t>
            </a:r>
            <a:r>
              <a:rPr lang="fr-FR" altLang="fr-FR" sz="1600"/>
              <a:t> (Liste d'arguments);</a:t>
            </a:r>
          </a:p>
          <a:p>
            <a:pPr eaLnBrk="1" hangingPunct="1"/>
            <a:endParaRPr lang="fr-FR" altLang="fr-FR" sz="1600"/>
          </a:p>
          <a:p>
            <a:pPr eaLnBrk="1" hangingPunct="1"/>
            <a:r>
              <a:rPr lang="fr-FR" altLang="fr-FR" sz="1600"/>
              <a:t>SUM Somme (les données non manquantes)</a:t>
            </a:r>
          </a:p>
          <a:p>
            <a:pPr eaLnBrk="1" hangingPunct="1"/>
            <a:r>
              <a:rPr lang="fr-FR" altLang="fr-FR" sz="1600"/>
              <a:t>MEAN Moyenne</a:t>
            </a:r>
          </a:p>
          <a:p>
            <a:pPr eaLnBrk="1" hangingPunct="1"/>
            <a:r>
              <a:rPr lang="fr-FR" altLang="fr-FR" sz="1600"/>
              <a:t>MAX Maximum</a:t>
            </a:r>
          </a:p>
          <a:p>
            <a:pPr eaLnBrk="1" hangingPunct="1"/>
            <a:r>
              <a:rPr lang="fr-FR" altLang="fr-FR" sz="1600"/>
              <a:t>MIN Minimum</a:t>
            </a:r>
          </a:p>
          <a:p>
            <a:pPr eaLnBrk="1" hangingPunct="1"/>
            <a:r>
              <a:rPr lang="fr-FR" altLang="fr-FR" sz="1600"/>
              <a:t>RANGE Etendue (MAX-MIN)</a:t>
            </a:r>
          </a:p>
          <a:p>
            <a:pPr eaLnBrk="1" hangingPunct="1"/>
            <a:r>
              <a:rPr lang="fr-FR" altLang="fr-FR" sz="1600"/>
              <a:t>STD Ecart-type</a:t>
            </a:r>
          </a:p>
          <a:p>
            <a:pPr eaLnBrk="1" hangingPunct="1"/>
            <a:r>
              <a:rPr lang="fr-FR" altLang="fr-FR" sz="1600"/>
              <a:t>VAR Variance</a:t>
            </a:r>
          </a:p>
          <a:p>
            <a:pPr eaLnBrk="1" hangingPunct="1"/>
            <a:endParaRPr lang="fr-FR" altLang="fr-FR" sz="1600"/>
          </a:p>
          <a:p>
            <a:pPr eaLnBrk="1" hangingPunct="1"/>
            <a:r>
              <a:rPr lang="fr-FR" altLang="fr-FR" sz="1600" i="1"/>
              <a:t>EXEMPLES</a:t>
            </a:r>
          </a:p>
          <a:p>
            <a:pPr eaLnBrk="1" hangingPunct="1"/>
            <a:r>
              <a:rPr lang="fr-FR" altLang="fr-FR" sz="1600">
                <a:solidFill>
                  <a:schemeClr val="accent2"/>
                </a:solidFill>
              </a:rPr>
              <a:t>				</a:t>
            </a:r>
            <a:r>
              <a:rPr lang="fr-FR" altLang="fr-FR" sz="1400" i="1">
                <a:solidFill>
                  <a:schemeClr val="accent2"/>
                </a:solidFill>
              </a:rPr>
              <a:t>X = SUM (2,6); Résultat: X=8;</a:t>
            </a:r>
          </a:p>
          <a:p>
            <a:pPr eaLnBrk="1" hangingPunct="1"/>
            <a:r>
              <a:rPr lang="fr-FR" altLang="fr-FR" sz="1400" i="1">
                <a:solidFill>
                  <a:schemeClr val="accent2"/>
                </a:solidFill>
              </a:rPr>
              <a:t>				X = MEAN (2,6); X=4;</a:t>
            </a:r>
          </a:p>
          <a:p>
            <a:pPr eaLnBrk="1" hangingPunct="1"/>
            <a:r>
              <a:rPr lang="fr-FR" altLang="fr-FR" sz="1400" i="1">
                <a:solidFill>
                  <a:schemeClr val="accent2"/>
                </a:solidFill>
              </a:rPr>
              <a:t>				X = MIN (2,6); X=2;</a:t>
            </a:r>
          </a:p>
          <a:p>
            <a:pPr eaLnBrk="1" hangingPunct="1"/>
            <a:r>
              <a:rPr lang="fr-FR" altLang="fr-FR" sz="1400" i="1">
                <a:solidFill>
                  <a:schemeClr val="accent2"/>
                </a:solidFill>
              </a:rPr>
              <a:t>				X = RANGE (1,6); X=5;</a:t>
            </a:r>
          </a:p>
          <a:p>
            <a:pPr eaLnBrk="1" hangingPunct="1"/>
            <a:endParaRPr lang="fr-FR" altLang="fr-FR" sz="1400" i="1">
              <a:solidFill>
                <a:schemeClr val="accent2"/>
              </a:solidFill>
            </a:endParaRPr>
          </a:p>
          <a:p>
            <a:pPr eaLnBrk="1" hangingPunct="1"/>
            <a:r>
              <a:rPr lang="fr-FR" altLang="fr-FR" sz="1600"/>
              <a:t>Les arguments peuvent être des noms de variables.</a:t>
            </a:r>
          </a:p>
          <a:p>
            <a:pPr eaLnBrk="1" hangingPunct="1"/>
            <a:r>
              <a:rPr lang="fr-FR" altLang="fr-FR" sz="1600" i="1"/>
              <a:t>Exemple</a:t>
            </a:r>
            <a:r>
              <a:rPr lang="fr-FR" altLang="fr-FR" sz="1600"/>
              <a:t>:</a:t>
            </a:r>
          </a:p>
          <a:p>
            <a:pPr eaLnBrk="1" hangingPunct="1"/>
            <a:r>
              <a:rPr lang="fr-FR" altLang="fr-FR" sz="1600">
                <a:solidFill>
                  <a:schemeClr val="accent2"/>
                </a:solidFill>
              </a:rPr>
              <a:t>				</a:t>
            </a:r>
            <a:r>
              <a:rPr lang="fr-FR" altLang="fr-FR" sz="1400" i="1">
                <a:solidFill>
                  <a:schemeClr val="accent2"/>
                </a:solidFill>
              </a:rPr>
              <a:t>X=SUM(VAR1,VAR2,VAR3);</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4839</TotalTime>
  <Words>3199</Words>
  <Application>Microsoft Office PowerPoint</Application>
  <PresentationFormat>Affichage à l'écran (4:3)</PresentationFormat>
  <Paragraphs>311</Paragraphs>
  <Slides>15</Slides>
  <Notes>1</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15</vt:i4>
      </vt:variant>
    </vt:vector>
  </HeadingPairs>
  <TitlesOfParts>
    <vt:vector size="17" baseType="lpstr">
      <vt:lpstr>Arial</vt:lpstr>
      <vt:lpstr>Modèle par défaut</vt:lpstr>
      <vt:lpstr>INITIATION AU LOGICIEL SAS</vt:lpstr>
      <vt:lpstr>SOMMAIRE</vt:lpstr>
      <vt:lpstr>Présentation du logiciel (1/4)</vt:lpstr>
      <vt:lpstr>Présentation du logiciel (2/4)</vt:lpstr>
      <vt:lpstr>Présentation du logiciel (3/4)</vt:lpstr>
      <vt:lpstr>Présentation du logiciel (4/4)</vt:lpstr>
      <vt:lpstr>Importation de Données (1/5)</vt:lpstr>
      <vt:lpstr>Importation de Données (2/5)</vt:lpstr>
      <vt:lpstr>Importation de Données (3/5)</vt:lpstr>
      <vt:lpstr>Importation de Données (4/5)</vt:lpstr>
      <vt:lpstr>Importation de Données (5/5)</vt:lpstr>
      <vt:lpstr>L’étape DATA et les proc print et contents(1/2)</vt:lpstr>
      <vt:lpstr>L’étape DATA et les proc print et contents(2/2)</vt:lpstr>
      <vt:lpstr>Les opérateurs arithmétiques et les fonctions SAS (1/2)</vt:lpstr>
      <vt:lpstr>Les opérateurs arithmétiques et les fonctions SAS (2/2)</vt:lpstr>
    </vt:vector>
  </TitlesOfParts>
  <Company>perso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INITIATION AU LOGICIEL SAS</dc:title>
  <dc:creator>Nicolas CABAJ</dc:creator>
  <cp:lastModifiedBy>Nicolas CABAJ</cp:lastModifiedBy>
  <cp:revision>15</cp:revision>
  <dcterms:created xsi:type="dcterms:W3CDTF">2008-09-06T14:04:14Z</dcterms:created>
  <dcterms:modified xsi:type="dcterms:W3CDTF">2025-01-07T10:51:03Z</dcterms:modified>
</cp:coreProperties>
</file>