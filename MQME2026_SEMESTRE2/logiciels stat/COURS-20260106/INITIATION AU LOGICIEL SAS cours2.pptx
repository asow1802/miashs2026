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1" r:id="rId8"/>
    <p:sldId id="262" r:id="rId9"/>
    <p:sldId id="263" r:id="rId10"/>
    <p:sldId id="264" r:id="rId11"/>
    <p:sldId id="265" r:id="rId12"/>
  </p:sldIdLst>
  <p:sldSz cx="9144000" cy="6858000" type="screen4x3"/>
  <p:notesSz cx="6858000" cy="9144000"/>
  <p:defaultTextStyle>
    <a:defPPr>
      <a:defRPr lang="fr-FR"/>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40" autoAdjust="0"/>
    <p:restoredTop sz="94660"/>
  </p:normalViewPr>
  <p:slideViewPr>
    <p:cSldViewPr>
      <p:cViewPr varScale="1">
        <p:scale>
          <a:sx n="109" d="100"/>
          <a:sy n="109" d="100"/>
        </p:scale>
        <p:origin x="227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43000" y="1122363"/>
            <a:ext cx="6858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pPr>
              <a:defRPr/>
            </a:pPr>
            <a:fld id="{206CAB26-B6F0-4D71-83B7-6D37B910B9F5}" type="slidenum">
              <a:rPr lang="fr-FR" altLang="fr-FR"/>
              <a:pPr>
                <a:defRPr/>
              </a:pPr>
              <a:t>‹N°›</a:t>
            </a:fld>
            <a:endParaRPr lang="fr-FR" altLang="fr-FR"/>
          </a:p>
        </p:txBody>
      </p:sp>
    </p:spTree>
    <p:extLst>
      <p:ext uri="{BB962C8B-B14F-4D97-AF65-F5344CB8AC3E}">
        <p14:creationId xmlns:p14="http://schemas.microsoft.com/office/powerpoint/2010/main" val="3865406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pPr>
              <a:defRPr/>
            </a:pPr>
            <a:fld id="{10063F14-C159-4C37-BE7F-DD4316F631EE}" type="slidenum">
              <a:rPr lang="fr-FR" altLang="fr-FR"/>
              <a:pPr>
                <a:defRPr/>
              </a:pPr>
              <a:t>‹N°›</a:t>
            </a:fld>
            <a:endParaRPr lang="fr-FR" altLang="fr-FR"/>
          </a:p>
        </p:txBody>
      </p:sp>
    </p:spTree>
    <p:extLst>
      <p:ext uri="{BB962C8B-B14F-4D97-AF65-F5344CB8AC3E}">
        <p14:creationId xmlns:p14="http://schemas.microsoft.com/office/powerpoint/2010/main" val="2118200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623888" y="1709738"/>
            <a:ext cx="78867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fr-FR" smtClean="0"/>
              <a:t>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pPr>
              <a:defRPr/>
            </a:pPr>
            <a:fld id="{DEE729ED-12C8-4425-AE4C-AD11A5E2793A}" type="slidenum">
              <a:rPr lang="fr-FR" altLang="fr-FR"/>
              <a:pPr>
                <a:defRPr/>
              </a:pPr>
              <a:t>‹N°›</a:t>
            </a:fld>
            <a:endParaRPr lang="fr-FR" altLang="fr-FR"/>
          </a:p>
        </p:txBody>
      </p:sp>
    </p:spTree>
    <p:extLst>
      <p:ext uri="{BB962C8B-B14F-4D97-AF65-F5344CB8AC3E}">
        <p14:creationId xmlns:p14="http://schemas.microsoft.com/office/powerpoint/2010/main" val="505109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7" name="Rectangle 6"/>
          <p:cNvSpPr>
            <a:spLocks noGrp="1" noChangeArrowheads="1"/>
          </p:cNvSpPr>
          <p:nvPr>
            <p:ph type="sldNum" sz="quarter" idx="12"/>
          </p:nvPr>
        </p:nvSpPr>
        <p:spPr>
          <a:ln/>
        </p:spPr>
        <p:txBody>
          <a:bodyPr/>
          <a:lstStyle>
            <a:lvl1pPr>
              <a:defRPr/>
            </a:lvl1pPr>
          </a:lstStyle>
          <a:p>
            <a:pPr>
              <a:defRPr/>
            </a:pPr>
            <a:fld id="{838CB86E-C818-4701-A98A-88A9D216B9C6}" type="slidenum">
              <a:rPr lang="fr-FR" altLang="fr-FR"/>
              <a:pPr>
                <a:defRPr/>
              </a:pPr>
              <a:t>‹N°›</a:t>
            </a:fld>
            <a:endParaRPr lang="fr-FR" altLang="fr-FR"/>
          </a:p>
        </p:txBody>
      </p:sp>
    </p:spTree>
    <p:extLst>
      <p:ext uri="{BB962C8B-B14F-4D97-AF65-F5344CB8AC3E}">
        <p14:creationId xmlns:p14="http://schemas.microsoft.com/office/powerpoint/2010/main" val="2200445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0238" y="365125"/>
            <a:ext cx="78867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630238" y="2505075"/>
            <a:ext cx="386873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4629150" y="2505075"/>
            <a:ext cx="38877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8"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9" name="Rectangle 6"/>
          <p:cNvSpPr>
            <a:spLocks noGrp="1" noChangeArrowheads="1"/>
          </p:cNvSpPr>
          <p:nvPr>
            <p:ph type="sldNum" sz="quarter" idx="12"/>
          </p:nvPr>
        </p:nvSpPr>
        <p:spPr>
          <a:ln/>
        </p:spPr>
        <p:txBody>
          <a:bodyPr/>
          <a:lstStyle>
            <a:lvl1pPr>
              <a:defRPr/>
            </a:lvl1pPr>
          </a:lstStyle>
          <a:p>
            <a:pPr>
              <a:defRPr/>
            </a:pPr>
            <a:fld id="{5045A205-7093-4AA2-BFCA-CCA7AC28BD5C}" type="slidenum">
              <a:rPr lang="fr-FR" altLang="fr-FR"/>
              <a:pPr>
                <a:defRPr/>
              </a:pPr>
              <a:t>‹N°›</a:t>
            </a:fld>
            <a:endParaRPr lang="fr-FR" altLang="fr-FR"/>
          </a:p>
        </p:txBody>
      </p:sp>
    </p:spTree>
    <p:extLst>
      <p:ext uri="{BB962C8B-B14F-4D97-AF65-F5344CB8AC3E}">
        <p14:creationId xmlns:p14="http://schemas.microsoft.com/office/powerpoint/2010/main" val="3042328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4"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5" name="Rectangle 6"/>
          <p:cNvSpPr>
            <a:spLocks noGrp="1" noChangeArrowheads="1"/>
          </p:cNvSpPr>
          <p:nvPr>
            <p:ph type="sldNum" sz="quarter" idx="12"/>
          </p:nvPr>
        </p:nvSpPr>
        <p:spPr>
          <a:ln/>
        </p:spPr>
        <p:txBody>
          <a:bodyPr/>
          <a:lstStyle>
            <a:lvl1pPr>
              <a:defRPr/>
            </a:lvl1pPr>
          </a:lstStyle>
          <a:p>
            <a:pPr>
              <a:defRPr/>
            </a:pPr>
            <a:fld id="{3349FA2C-B615-49E2-8C0A-0A1DD7E24842}" type="slidenum">
              <a:rPr lang="fr-FR" altLang="fr-FR"/>
              <a:pPr>
                <a:defRPr/>
              </a:pPr>
              <a:t>‹N°›</a:t>
            </a:fld>
            <a:endParaRPr lang="fr-FR" altLang="fr-FR"/>
          </a:p>
        </p:txBody>
      </p:sp>
    </p:spTree>
    <p:extLst>
      <p:ext uri="{BB962C8B-B14F-4D97-AF65-F5344CB8AC3E}">
        <p14:creationId xmlns:p14="http://schemas.microsoft.com/office/powerpoint/2010/main" val="1052720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3"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4" name="Rectangle 6"/>
          <p:cNvSpPr>
            <a:spLocks noGrp="1" noChangeArrowheads="1"/>
          </p:cNvSpPr>
          <p:nvPr>
            <p:ph type="sldNum" sz="quarter" idx="12"/>
          </p:nvPr>
        </p:nvSpPr>
        <p:spPr>
          <a:ln/>
        </p:spPr>
        <p:txBody>
          <a:bodyPr/>
          <a:lstStyle>
            <a:lvl1pPr>
              <a:defRPr/>
            </a:lvl1pPr>
          </a:lstStyle>
          <a:p>
            <a:pPr>
              <a:defRPr/>
            </a:pPr>
            <a:fld id="{2C36FA87-FE64-4640-A08C-EC7DACD5BF19}" type="slidenum">
              <a:rPr lang="fr-FR" altLang="fr-FR"/>
              <a:pPr>
                <a:defRPr/>
              </a:pPr>
              <a:t>‹N°›</a:t>
            </a:fld>
            <a:endParaRPr lang="fr-FR" altLang="fr-FR"/>
          </a:p>
        </p:txBody>
      </p:sp>
    </p:spTree>
    <p:extLst>
      <p:ext uri="{BB962C8B-B14F-4D97-AF65-F5344CB8AC3E}">
        <p14:creationId xmlns:p14="http://schemas.microsoft.com/office/powerpoint/2010/main" val="277283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0238" y="457200"/>
            <a:ext cx="2949575"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7" name="Rectangle 6"/>
          <p:cNvSpPr>
            <a:spLocks noGrp="1" noChangeArrowheads="1"/>
          </p:cNvSpPr>
          <p:nvPr>
            <p:ph type="sldNum" sz="quarter" idx="12"/>
          </p:nvPr>
        </p:nvSpPr>
        <p:spPr>
          <a:ln/>
        </p:spPr>
        <p:txBody>
          <a:bodyPr/>
          <a:lstStyle>
            <a:lvl1pPr>
              <a:defRPr/>
            </a:lvl1pPr>
          </a:lstStyle>
          <a:p>
            <a:pPr>
              <a:defRPr/>
            </a:pPr>
            <a:fld id="{B6B7D8E3-508C-4C12-9A0B-E80B566FE1AD}" type="slidenum">
              <a:rPr lang="fr-FR" altLang="fr-FR"/>
              <a:pPr>
                <a:defRPr/>
              </a:pPr>
              <a:t>‹N°›</a:t>
            </a:fld>
            <a:endParaRPr lang="fr-FR" altLang="fr-FR"/>
          </a:p>
        </p:txBody>
      </p:sp>
    </p:spTree>
    <p:extLst>
      <p:ext uri="{BB962C8B-B14F-4D97-AF65-F5344CB8AC3E}">
        <p14:creationId xmlns:p14="http://schemas.microsoft.com/office/powerpoint/2010/main" val="467481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0238" y="457200"/>
            <a:ext cx="2949575"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7" name="Rectangle 6"/>
          <p:cNvSpPr>
            <a:spLocks noGrp="1" noChangeArrowheads="1"/>
          </p:cNvSpPr>
          <p:nvPr>
            <p:ph type="sldNum" sz="quarter" idx="12"/>
          </p:nvPr>
        </p:nvSpPr>
        <p:spPr>
          <a:ln/>
        </p:spPr>
        <p:txBody>
          <a:bodyPr/>
          <a:lstStyle>
            <a:lvl1pPr>
              <a:defRPr/>
            </a:lvl1pPr>
          </a:lstStyle>
          <a:p>
            <a:pPr>
              <a:defRPr/>
            </a:pPr>
            <a:fld id="{C75EC15B-56BF-470C-8DC1-DDF98A8175BA}" type="slidenum">
              <a:rPr lang="fr-FR" altLang="fr-FR"/>
              <a:pPr>
                <a:defRPr/>
              </a:pPr>
              <a:t>‹N°›</a:t>
            </a:fld>
            <a:endParaRPr lang="fr-FR" altLang="fr-FR"/>
          </a:p>
        </p:txBody>
      </p:sp>
    </p:spTree>
    <p:extLst>
      <p:ext uri="{BB962C8B-B14F-4D97-AF65-F5344CB8AC3E}">
        <p14:creationId xmlns:p14="http://schemas.microsoft.com/office/powerpoint/2010/main" val="163191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pPr>
              <a:defRPr/>
            </a:pPr>
            <a:fld id="{3DD64F6F-189C-418E-A4BC-F0A8FA98DB3D}" type="slidenum">
              <a:rPr lang="fr-FR" altLang="fr-FR"/>
              <a:pPr>
                <a:defRPr/>
              </a:pPr>
              <a:t>‹N°›</a:t>
            </a:fld>
            <a:endParaRPr lang="fr-FR" altLang="fr-FR"/>
          </a:p>
        </p:txBody>
      </p:sp>
    </p:spTree>
    <p:extLst>
      <p:ext uri="{BB962C8B-B14F-4D97-AF65-F5344CB8AC3E}">
        <p14:creationId xmlns:p14="http://schemas.microsoft.com/office/powerpoint/2010/main" val="3516422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pPr>
              <a:defRPr/>
            </a:pPr>
            <a:fld id="{37944CCF-C26C-4D1E-9102-0AAFA3EEE063}" type="slidenum">
              <a:rPr lang="fr-FR" altLang="fr-FR"/>
              <a:pPr>
                <a:defRPr/>
              </a:pPr>
              <a:t>‹N°›</a:t>
            </a:fld>
            <a:endParaRPr lang="fr-FR" altLang="fr-FR"/>
          </a:p>
        </p:txBody>
      </p:sp>
    </p:spTree>
    <p:extLst>
      <p:ext uri="{BB962C8B-B14F-4D97-AF65-F5344CB8AC3E}">
        <p14:creationId xmlns:p14="http://schemas.microsoft.com/office/powerpoint/2010/main" val="2467576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ltLang="fr-FR" smtClean="0"/>
              <a:t>Cliquez pour modifier le style du titre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a:defRPr/>
            </a:pPr>
            <a:endParaRPr lang="fr-FR" altLang="fr-F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a:defRPr/>
            </a:pPr>
            <a:endParaRPr lang="fr-FR" altLang="fr-F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BDBC239D-872C-4908-9478-7AC4373A2D4D}" type="slidenum">
              <a:rPr lang="fr-FR" altLang="fr-FR"/>
              <a:pPr>
                <a:defRPr/>
              </a:pPr>
              <a:t>‹N°›</a:t>
            </a:fld>
            <a:endParaRPr lang="fr-FR" alt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(1/11)</a:t>
            </a:r>
          </a:p>
        </p:txBody>
      </p:sp>
      <p:sp>
        <p:nvSpPr>
          <p:cNvPr id="2051" name="Rectangle 3"/>
          <p:cNvSpPr>
            <a:spLocks noChangeArrowheads="1"/>
          </p:cNvSpPr>
          <p:nvPr/>
        </p:nvSpPr>
        <p:spPr bwMode="auto">
          <a:xfrm>
            <a:off x="0" y="692150"/>
            <a:ext cx="9144000" cy="611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a:t>Les instructions conditionnelles permettent de provoquer des actions en fonction de la</a:t>
            </a:r>
          </a:p>
          <a:p>
            <a:pPr eaLnBrk="1" hangingPunct="1"/>
            <a:r>
              <a:rPr lang="fr-FR" altLang="fr-FR" sz="1600"/>
              <a:t>réalisation de conditions. Le principe d’une instruction conditionnelle est le suivant :</a:t>
            </a:r>
          </a:p>
          <a:p>
            <a:pPr algn="ctr" eaLnBrk="1" hangingPunct="1"/>
            <a:r>
              <a:rPr lang="fr-FR" altLang="fr-FR" sz="1600" b="1"/>
              <a:t>SI</a:t>
            </a:r>
            <a:r>
              <a:rPr lang="fr-FR" altLang="fr-FR" sz="1600"/>
              <a:t> condition vraie </a:t>
            </a:r>
            <a:r>
              <a:rPr lang="fr-FR" altLang="fr-FR" sz="1600" b="1"/>
              <a:t>ALORS</a:t>
            </a:r>
            <a:r>
              <a:rPr lang="fr-FR" altLang="fr-FR" sz="1600"/>
              <a:t> action1 </a:t>
            </a:r>
            <a:r>
              <a:rPr lang="fr-FR" altLang="fr-FR" sz="1600" b="1"/>
              <a:t>SINON</a:t>
            </a:r>
            <a:r>
              <a:rPr lang="fr-FR" altLang="fr-FR" sz="1600"/>
              <a:t> action2</a:t>
            </a:r>
          </a:p>
          <a:p>
            <a:pPr eaLnBrk="1" hangingPunct="1"/>
            <a:endParaRPr lang="fr-FR" altLang="fr-FR" sz="1600"/>
          </a:p>
          <a:p>
            <a:pPr eaLnBrk="1" hangingPunct="1"/>
            <a:r>
              <a:rPr lang="fr-FR" altLang="fr-FR" sz="1600"/>
              <a:t>Les instructions conditionnelles servent à sélectionner des observations et à créer de nouvelles bases de données et de nouvelles variables en fonction de la valeur d’autres variables.</a:t>
            </a:r>
          </a:p>
          <a:p>
            <a:pPr eaLnBrk="1" hangingPunct="1"/>
            <a:r>
              <a:rPr lang="fr-FR" altLang="fr-FR" sz="1600"/>
              <a:t>Il existe différents types d’instructions conditionnelles :</a:t>
            </a:r>
          </a:p>
          <a:p>
            <a:pPr lvl="1" eaLnBrk="1" hangingPunct="1">
              <a:buFontTx/>
              <a:buChar char="•"/>
            </a:pPr>
            <a:r>
              <a:rPr lang="fr-FR" altLang="fr-FR" sz="1600"/>
              <a:t> L’instruction conditionnelle « </a:t>
            </a:r>
            <a:r>
              <a:rPr lang="fr-FR" altLang="fr-FR" sz="1600">
                <a:solidFill>
                  <a:schemeClr val="accent2"/>
                </a:solidFill>
              </a:rPr>
              <a:t>IF… THEN… ; ELSE… ;</a:t>
            </a:r>
            <a:r>
              <a:rPr lang="fr-FR" altLang="fr-FR" sz="1600"/>
              <a:t> »</a:t>
            </a:r>
          </a:p>
          <a:p>
            <a:pPr lvl="1" eaLnBrk="1" hangingPunct="1">
              <a:buFontTx/>
              <a:buChar char="•"/>
            </a:pPr>
            <a:r>
              <a:rPr lang="fr-FR" altLang="fr-FR" sz="1600"/>
              <a:t> L’instruction conditionnelle « </a:t>
            </a:r>
            <a:r>
              <a:rPr lang="fr-FR" altLang="fr-FR" sz="1600">
                <a:solidFill>
                  <a:schemeClr val="accent2"/>
                </a:solidFill>
              </a:rPr>
              <a:t>SELECT…END ; OTHERWISE…;</a:t>
            </a:r>
            <a:r>
              <a:rPr lang="fr-FR" altLang="fr-FR" sz="1600"/>
              <a:t> »</a:t>
            </a:r>
          </a:p>
          <a:p>
            <a:pPr lvl="1" eaLnBrk="1" hangingPunct="1">
              <a:buFontTx/>
              <a:buChar char="•"/>
            </a:pPr>
            <a:r>
              <a:rPr lang="fr-FR" altLang="fr-FR" sz="1600"/>
              <a:t> L’instruction conditionnelle « </a:t>
            </a:r>
            <a:r>
              <a:rPr lang="fr-FR" altLang="fr-FR" sz="1600">
                <a:solidFill>
                  <a:schemeClr val="accent2"/>
                </a:solidFill>
              </a:rPr>
              <a:t>WHERE</a:t>
            </a:r>
            <a:r>
              <a:rPr lang="fr-FR" altLang="fr-FR" sz="1600"/>
              <a:t> »</a:t>
            </a:r>
          </a:p>
          <a:p>
            <a:pPr eaLnBrk="1" hangingPunct="1"/>
            <a:endParaRPr lang="fr-FR" altLang="fr-FR" sz="1400"/>
          </a:p>
          <a:p>
            <a:pPr eaLnBrk="1" hangingPunct="1"/>
            <a:r>
              <a:rPr lang="fr-FR" altLang="fr-FR" sz="1600" b="1"/>
              <a:t>Opérateurs de comparaison</a:t>
            </a:r>
          </a:p>
          <a:p>
            <a:pPr lvl="1" eaLnBrk="1" hangingPunct="1">
              <a:buFontTx/>
              <a:buChar char="•"/>
            </a:pPr>
            <a:r>
              <a:rPr lang="fr-FR" altLang="fr-FR" sz="1600"/>
              <a:t> </a:t>
            </a:r>
            <a:r>
              <a:rPr lang="fr-FR" altLang="fr-FR" sz="1600" b="1">
                <a:solidFill>
                  <a:schemeClr val="accent2"/>
                </a:solidFill>
              </a:rPr>
              <a:t>=</a:t>
            </a:r>
            <a:r>
              <a:rPr lang="fr-FR" altLang="fr-FR" sz="1600"/>
              <a:t> ou </a:t>
            </a:r>
            <a:r>
              <a:rPr lang="fr-FR" altLang="fr-FR" sz="1600" b="1">
                <a:solidFill>
                  <a:schemeClr val="accent2"/>
                </a:solidFill>
              </a:rPr>
              <a:t>EQ</a:t>
            </a:r>
            <a:r>
              <a:rPr lang="fr-FR" altLang="fr-FR" sz="1600"/>
              <a:t> : égal à</a:t>
            </a:r>
          </a:p>
          <a:p>
            <a:pPr lvl="1" eaLnBrk="1" hangingPunct="1">
              <a:buFontTx/>
              <a:buChar char="•"/>
            </a:pPr>
            <a:r>
              <a:rPr lang="fr-FR" altLang="fr-FR" sz="1600"/>
              <a:t> </a:t>
            </a:r>
            <a:r>
              <a:rPr lang="fr-FR" altLang="fr-FR" sz="1600" b="1">
                <a:solidFill>
                  <a:schemeClr val="accent2"/>
                </a:solidFill>
              </a:rPr>
              <a:t>^=</a:t>
            </a:r>
            <a:r>
              <a:rPr lang="fr-FR" altLang="fr-FR" sz="1600" b="1"/>
              <a:t> </a:t>
            </a:r>
            <a:r>
              <a:rPr lang="fr-FR" altLang="fr-FR" sz="1600"/>
              <a:t>ou </a:t>
            </a:r>
            <a:r>
              <a:rPr lang="fr-FR" altLang="fr-FR" sz="1600" b="1">
                <a:solidFill>
                  <a:schemeClr val="accent2"/>
                </a:solidFill>
              </a:rPr>
              <a:t>NE</a:t>
            </a:r>
            <a:r>
              <a:rPr lang="fr-FR" altLang="fr-FR" sz="1600"/>
              <a:t> : différent</a:t>
            </a:r>
          </a:p>
          <a:p>
            <a:pPr lvl="1" eaLnBrk="1" hangingPunct="1">
              <a:buFontTx/>
              <a:buChar char="•"/>
            </a:pPr>
            <a:r>
              <a:rPr lang="fr-FR" altLang="fr-FR" sz="1600"/>
              <a:t> </a:t>
            </a:r>
            <a:r>
              <a:rPr lang="fr-FR" altLang="fr-FR" sz="1600" b="1">
                <a:solidFill>
                  <a:schemeClr val="accent2"/>
                </a:solidFill>
              </a:rPr>
              <a:t>&gt;</a:t>
            </a:r>
            <a:r>
              <a:rPr lang="fr-FR" altLang="fr-FR" sz="1600" b="1"/>
              <a:t> </a:t>
            </a:r>
            <a:r>
              <a:rPr lang="fr-FR" altLang="fr-FR" sz="1600"/>
              <a:t>ou </a:t>
            </a:r>
            <a:r>
              <a:rPr lang="fr-FR" altLang="fr-FR" sz="1600" b="1">
                <a:solidFill>
                  <a:schemeClr val="accent2"/>
                </a:solidFill>
              </a:rPr>
              <a:t>GT</a:t>
            </a:r>
            <a:r>
              <a:rPr lang="fr-FR" altLang="fr-FR" sz="1600"/>
              <a:t> : plus grand que</a:t>
            </a:r>
          </a:p>
          <a:p>
            <a:pPr lvl="1" eaLnBrk="1" hangingPunct="1">
              <a:buFontTx/>
              <a:buChar char="•"/>
            </a:pPr>
            <a:r>
              <a:rPr lang="fr-FR" altLang="fr-FR" sz="1600"/>
              <a:t> </a:t>
            </a:r>
            <a:r>
              <a:rPr lang="fr-FR" altLang="fr-FR" sz="1600" b="1">
                <a:solidFill>
                  <a:schemeClr val="accent2"/>
                </a:solidFill>
              </a:rPr>
              <a:t>&lt;</a:t>
            </a:r>
            <a:r>
              <a:rPr lang="fr-FR" altLang="fr-FR" sz="1600" b="1"/>
              <a:t> </a:t>
            </a:r>
            <a:r>
              <a:rPr lang="fr-FR" altLang="fr-FR" sz="1600"/>
              <a:t>ou </a:t>
            </a:r>
            <a:r>
              <a:rPr lang="fr-FR" altLang="fr-FR" sz="1600" b="1">
                <a:solidFill>
                  <a:schemeClr val="accent2"/>
                </a:solidFill>
              </a:rPr>
              <a:t>LT</a:t>
            </a:r>
            <a:r>
              <a:rPr lang="fr-FR" altLang="fr-FR" sz="1600"/>
              <a:t> : plus petit que</a:t>
            </a:r>
          </a:p>
          <a:p>
            <a:pPr lvl="1" eaLnBrk="1" hangingPunct="1">
              <a:buFontTx/>
              <a:buChar char="•"/>
            </a:pPr>
            <a:r>
              <a:rPr lang="fr-FR" altLang="fr-FR" sz="1600"/>
              <a:t> </a:t>
            </a:r>
            <a:r>
              <a:rPr lang="fr-FR" altLang="fr-FR" sz="1600" b="1">
                <a:solidFill>
                  <a:schemeClr val="accent2"/>
                </a:solidFill>
              </a:rPr>
              <a:t>&gt;=</a:t>
            </a:r>
            <a:r>
              <a:rPr lang="fr-FR" altLang="fr-FR" sz="1600" b="1"/>
              <a:t> </a:t>
            </a:r>
            <a:r>
              <a:rPr lang="fr-FR" altLang="fr-FR" sz="1600"/>
              <a:t>ou </a:t>
            </a:r>
            <a:r>
              <a:rPr lang="fr-FR" altLang="fr-FR" sz="1600" b="1">
                <a:solidFill>
                  <a:schemeClr val="accent2"/>
                </a:solidFill>
              </a:rPr>
              <a:t>GE</a:t>
            </a:r>
            <a:r>
              <a:rPr lang="fr-FR" altLang="fr-FR" sz="1600"/>
              <a:t> : plus grand ou égal</a:t>
            </a:r>
          </a:p>
          <a:p>
            <a:pPr lvl="1" eaLnBrk="1" hangingPunct="1">
              <a:buFontTx/>
              <a:buChar char="•"/>
            </a:pPr>
            <a:r>
              <a:rPr lang="fr-FR" altLang="fr-FR" sz="1600"/>
              <a:t> </a:t>
            </a:r>
            <a:r>
              <a:rPr lang="fr-FR" altLang="fr-FR" sz="1600" b="1">
                <a:solidFill>
                  <a:schemeClr val="accent2"/>
                </a:solidFill>
              </a:rPr>
              <a:t>&lt;=</a:t>
            </a:r>
            <a:r>
              <a:rPr lang="fr-FR" altLang="fr-FR" sz="1600" b="1"/>
              <a:t> </a:t>
            </a:r>
            <a:r>
              <a:rPr lang="fr-FR" altLang="fr-FR" sz="1600"/>
              <a:t>ou </a:t>
            </a:r>
            <a:r>
              <a:rPr lang="fr-FR" altLang="fr-FR" sz="1600" b="1">
                <a:solidFill>
                  <a:schemeClr val="accent2"/>
                </a:solidFill>
              </a:rPr>
              <a:t>LE</a:t>
            </a:r>
            <a:r>
              <a:rPr lang="fr-FR" altLang="fr-FR" sz="1600"/>
              <a:t> : plus petit ou égal</a:t>
            </a:r>
          </a:p>
          <a:p>
            <a:pPr lvl="1" eaLnBrk="1" hangingPunct="1">
              <a:buFontTx/>
              <a:buChar char="•"/>
            </a:pPr>
            <a:r>
              <a:rPr lang="fr-FR" altLang="fr-FR" sz="1600" b="1">
                <a:solidFill>
                  <a:schemeClr val="accent2"/>
                </a:solidFill>
              </a:rPr>
              <a:t>in</a:t>
            </a:r>
            <a:r>
              <a:rPr lang="fr-FR" altLang="fr-FR" sz="1600"/>
              <a:t> </a:t>
            </a:r>
            <a:r>
              <a:rPr lang="fr-FR" altLang="fr-FR" sz="1600" i="1"/>
              <a:t>(liste) </a:t>
            </a:r>
            <a:r>
              <a:rPr lang="fr-FR" altLang="fr-FR" sz="1600"/>
              <a:t>: présent dans la liste </a:t>
            </a:r>
          </a:p>
          <a:p>
            <a:pPr lvl="1" eaLnBrk="1" hangingPunct="1">
              <a:buFontTx/>
              <a:buChar char="•"/>
            </a:pPr>
            <a:endParaRPr lang="fr-FR" altLang="fr-FR" sz="1600"/>
          </a:p>
          <a:p>
            <a:pPr eaLnBrk="1" hangingPunct="1"/>
            <a:r>
              <a:rPr lang="fr-FR" altLang="fr-FR" sz="1600" b="1"/>
              <a:t>Opérateurs logiques</a:t>
            </a:r>
          </a:p>
          <a:p>
            <a:pPr lvl="1" eaLnBrk="1" hangingPunct="1">
              <a:buFontTx/>
              <a:buChar char="•"/>
            </a:pPr>
            <a:r>
              <a:rPr lang="fr-FR" altLang="fr-FR" sz="1600" b="1">
                <a:solidFill>
                  <a:schemeClr val="accent2"/>
                </a:solidFill>
              </a:rPr>
              <a:t>AND</a:t>
            </a:r>
            <a:r>
              <a:rPr lang="fr-FR" altLang="fr-FR" sz="1600"/>
              <a:t> : et </a:t>
            </a:r>
          </a:p>
          <a:p>
            <a:pPr lvl="1" eaLnBrk="1" hangingPunct="1">
              <a:buFontTx/>
              <a:buChar char="•"/>
            </a:pPr>
            <a:r>
              <a:rPr lang="fr-FR" altLang="fr-FR" sz="1600" b="1">
                <a:solidFill>
                  <a:schemeClr val="accent2"/>
                </a:solidFill>
              </a:rPr>
              <a:t>OR</a:t>
            </a:r>
            <a:r>
              <a:rPr lang="fr-FR" altLang="fr-FR" sz="1600"/>
              <a:t> : ou </a:t>
            </a:r>
          </a:p>
          <a:p>
            <a:pPr lvl="1" eaLnBrk="1" hangingPunct="1">
              <a:buFontTx/>
              <a:buChar char="•"/>
            </a:pPr>
            <a:r>
              <a:rPr lang="fr-FR" altLang="fr-FR" sz="1600" b="1">
                <a:solidFill>
                  <a:schemeClr val="accent2"/>
                </a:solidFill>
              </a:rPr>
              <a:t>NOT</a:t>
            </a:r>
            <a:r>
              <a:rPr lang="fr-FR" altLang="fr-FR" sz="1600"/>
              <a:t> : négation</a:t>
            </a:r>
          </a:p>
          <a:p>
            <a:pPr eaLnBrk="1" hangingPunct="1"/>
            <a:endParaRPr lang="fr-FR" altLang="fr-FR" sz="12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(2/11)</a:t>
            </a:r>
          </a:p>
        </p:txBody>
      </p:sp>
      <p:sp>
        <p:nvSpPr>
          <p:cNvPr id="3075" name="Rectangle 3"/>
          <p:cNvSpPr>
            <a:spLocks noChangeArrowheads="1"/>
          </p:cNvSpPr>
          <p:nvPr/>
        </p:nvSpPr>
        <p:spPr bwMode="auto">
          <a:xfrm>
            <a:off x="0" y="692150"/>
            <a:ext cx="9144000"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Les différents types de conditions</a:t>
            </a:r>
          </a:p>
          <a:p>
            <a:pPr eaLnBrk="1" hangingPunct="1"/>
            <a:r>
              <a:rPr lang="fr-FR" altLang="fr-FR" sz="1600"/>
              <a:t>Les instructions conditionnelles ont plusieurs applications :</a:t>
            </a:r>
          </a:p>
          <a:p>
            <a:pPr lvl="1" eaLnBrk="1" hangingPunct="1">
              <a:buFontTx/>
              <a:buChar char="•"/>
            </a:pPr>
            <a:r>
              <a:rPr lang="fr-FR" altLang="fr-FR" sz="1600"/>
              <a:t> </a:t>
            </a:r>
            <a:r>
              <a:rPr lang="fr-FR" altLang="fr-FR" sz="1600" b="1"/>
              <a:t>Comparer le contenu d’une variable et d’une constante</a:t>
            </a:r>
          </a:p>
          <a:p>
            <a:pPr eaLnBrk="1" hangingPunct="1"/>
            <a:r>
              <a:rPr lang="fr-FR" altLang="fr-FR" sz="1600" i="1"/>
              <a:t>Ex : </a:t>
            </a:r>
            <a:r>
              <a:rPr lang="fr-FR" altLang="fr-FR" sz="1600" i="1">
                <a:solidFill>
                  <a:schemeClr val="accent2"/>
                </a:solidFill>
              </a:rPr>
              <a:t>IF age &lt;35;</a:t>
            </a:r>
          </a:p>
          <a:p>
            <a:pPr eaLnBrk="1" hangingPunct="1"/>
            <a:r>
              <a:rPr lang="fr-FR" altLang="fr-FR" sz="1600" i="1"/>
              <a:t>Condition : l’âge doit être inférieur à 35 ans</a:t>
            </a:r>
          </a:p>
          <a:p>
            <a:pPr lvl="1" eaLnBrk="1" hangingPunct="1">
              <a:buFontTx/>
              <a:buChar char="•"/>
            </a:pPr>
            <a:r>
              <a:rPr lang="fr-FR" altLang="fr-FR" sz="1600" b="1"/>
              <a:t> Effectuer une comparaison entre le contenu d’une variable et le contenu d’une autre variable</a:t>
            </a:r>
          </a:p>
          <a:p>
            <a:pPr eaLnBrk="1" hangingPunct="1"/>
            <a:r>
              <a:rPr lang="fr-FR" altLang="fr-FR" sz="1600" i="1"/>
              <a:t>Ex : </a:t>
            </a:r>
            <a:r>
              <a:rPr lang="fr-FR" altLang="fr-FR" sz="1600" i="1">
                <a:solidFill>
                  <a:schemeClr val="accent2"/>
                </a:solidFill>
              </a:rPr>
              <a:t>IF hagemar &gt; fagemar</a:t>
            </a:r>
            <a:r>
              <a:rPr lang="fr-FR" altLang="fr-FR" sz="1600" i="1"/>
              <a:t>;</a:t>
            </a:r>
          </a:p>
          <a:p>
            <a:pPr eaLnBrk="1" hangingPunct="1"/>
            <a:r>
              <a:rPr lang="fr-FR" altLang="fr-FR" sz="1600" i="1"/>
              <a:t>Condition : l’âge au mariage de l’homme (hagemar) doit être supérieur à l’âge au mariage de la femme (fagemar)</a:t>
            </a:r>
          </a:p>
          <a:p>
            <a:pPr lvl="1" eaLnBrk="1" hangingPunct="1">
              <a:buFontTx/>
              <a:buChar char="•"/>
            </a:pPr>
            <a:r>
              <a:rPr lang="fr-FR" altLang="fr-FR" sz="1600"/>
              <a:t> </a:t>
            </a:r>
            <a:r>
              <a:rPr lang="fr-FR" altLang="fr-FR" sz="1600" b="1"/>
              <a:t>Tester le contenu d’une variable par rapport au résultat d’un calcul</a:t>
            </a:r>
          </a:p>
          <a:p>
            <a:pPr eaLnBrk="1" hangingPunct="1"/>
            <a:r>
              <a:rPr lang="fr-FR" altLang="fr-FR" sz="1600" i="1"/>
              <a:t>Ex : </a:t>
            </a:r>
            <a:r>
              <a:rPr lang="fr-FR" altLang="fr-FR" sz="1600" i="1">
                <a:solidFill>
                  <a:schemeClr val="accent2"/>
                </a:solidFill>
              </a:rPr>
              <a:t>IF salaire &lt; (2500+321);</a:t>
            </a:r>
          </a:p>
          <a:p>
            <a:pPr eaLnBrk="1" hangingPunct="1"/>
            <a:r>
              <a:rPr lang="fr-FR" altLang="fr-FR" sz="1600" i="1"/>
              <a:t>Condition : le salaire doit être inférieur à la somme indiquée (2821)</a:t>
            </a:r>
          </a:p>
          <a:p>
            <a:pPr lvl="1" eaLnBrk="1" hangingPunct="1">
              <a:buFontTx/>
              <a:buChar char="•"/>
            </a:pPr>
            <a:r>
              <a:rPr lang="fr-FR" altLang="fr-FR" sz="1600"/>
              <a:t> </a:t>
            </a:r>
            <a:r>
              <a:rPr lang="fr-FR" altLang="fr-FR" sz="1600" b="1"/>
              <a:t>Tester le contenu d’une variable par rapport à un ensemble de valeurs</a:t>
            </a:r>
          </a:p>
          <a:p>
            <a:pPr eaLnBrk="1" hangingPunct="1"/>
            <a:r>
              <a:rPr lang="fr-FR" altLang="fr-FR" sz="1600" i="1"/>
              <a:t>Ex : </a:t>
            </a:r>
            <a:r>
              <a:rPr lang="fr-FR" altLang="fr-FR" sz="1600" i="1">
                <a:solidFill>
                  <a:schemeClr val="accent2"/>
                </a:solidFill>
              </a:rPr>
              <a:t>IF age&lt;35 AND age &gt;15;</a:t>
            </a:r>
          </a:p>
          <a:p>
            <a:pPr eaLnBrk="1" hangingPunct="1"/>
            <a:r>
              <a:rPr lang="fr-FR" altLang="fr-FR" sz="1600" i="1"/>
              <a:t>Condition : l’âge doit être à la fois inférieur à 35 et supérieur à 15 ans</a:t>
            </a:r>
          </a:p>
          <a:p>
            <a:pPr lvl="1" eaLnBrk="1" hangingPunct="1">
              <a:buFontTx/>
              <a:buChar char="•"/>
            </a:pPr>
            <a:r>
              <a:rPr lang="fr-FR" altLang="fr-FR" sz="1600"/>
              <a:t> </a:t>
            </a:r>
            <a:r>
              <a:rPr lang="fr-FR" altLang="fr-FR" sz="1600" b="1"/>
              <a:t>Sélectionner des unités ou effectuer un test en utilisant plusieurs variables simultanément avec des opérateurs logiques</a:t>
            </a:r>
          </a:p>
          <a:p>
            <a:pPr eaLnBrk="1" hangingPunct="1"/>
            <a:r>
              <a:rPr lang="fr-FR" altLang="fr-FR" sz="1600" i="1"/>
              <a:t>Ex : </a:t>
            </a:r>
            <a:r>
              <a:rPr lang="fr-FR" altLang="fr-FR" sz="1600" i="1">
                <a:solidFill>
                  <a:schemeClr val="accent2"/>
                </a:solidFill>
              </a:rPr>
              <a:t>IF sexe=‘H’ AND age&gt;12;</a:t>
            </a:r>
          </a:p>
          <a:p>
            <a:pPr eaLnBrk="1" hangingPunct="1"/>
            <a:r>
              <a:rPr lang="fr-FR" altLang="fr-FR" sz="1600" i="1"/>
              <a:t>Condition : l’individu doit être un homme ET être âgé de plus de 12</a:t>
            </a:r>
          </a:p>
          <a:p>
            <a:pPr eaLnBrk="1" hangingPunct="1"/>
            <a:endParaRPr lang="fr-FR" altLang="fr-FR" sz="1000" i="1"/>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(3/11)</a:t>
            </a:r>
          </a:p>
        </p:txBody>
      </p:sp>
      <p:sp>
        <p:nvSpPr>
          <p:cNvPr id="4099" name="Rectangle 3"/>
          <p:cNvSpPr>
            <a:spLocks noChangeArrowheads="1"/>
          </p:cNvSpPr>
          <p:nvPr/>
        </p:nvSpPr>
        <p:spPr bwMode="auto">
          <a:xfrm>
            <a:off x="0" y="692150"/>
            <a:ext cx="9144000"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L’instruction conditionnelle </a:t>
            </a:r>
            <a:r>
              <a:rPr lang="fr-FR" altLang="fr-FR" sz="1600" b="1">
                <a:solidFill>
                  <a:schemeClr val="accent2"/>
                </a:solidFill>
              </a:rPr>
              <a:t>IF … THEN … ; ELSE … ;</a:t>
            </a:r>
          </a:p>
          <a:p>
            <a:pPr eaLnBrk="1" hangingPunct="1"/>
            <a:r>
              <a:rPr lang="fr-FR" altLang="fr-FR" sz="1600"/>
              <a:t>L’instruction </a:t>
            </a:r>
            <a:r>
              <a:rPr lang="fr-FR" altLang="fr-FR" sz="1600">
                <a:solidFill>
                  <a:schemeClr val="accent2"/>
                </a:solidFill>
              </a:rPr>
              <a:t>IF</a:t>
            </a:r>
            <a:r>
              <a:rPr lang="fr-FR" altLang="fr-FR" sz="1600"/>
              <a:t> est une instruction de l’étape DATA.</a:t>
            </a:r>
          </a:p>
          <a:p>
            <a:pPr eaLnBrk="1" hangingPunct="1"/>
            <a:r>
              <a:rPr lang="fr-FR" altLang="fr-FR" sz="1600"/>
              <a:t>Elle permet de tester une condition sur l’observation en cours de traitement : SAS vérifie si la condition est vérifiée pour la 1ère observation, si oui il la conserve, sinon il passe à l’observation suivante (etc.)</a:t>
            </a:r>
          </a:p>
          <a:p>
            <a:pPr eaLnBrk="1" hangingPunct="1"/>
            <a:endParaRPr lang="fr-FR" altLang="fr-FR" sz="800"/>
          </a:p>
          <a:p>
            <a:pPr eaLnBrk="1" hangingPunct="1"/>
            <a:r>
              <a:rPr lang="fr-FR" altLang="fr-FR" sz="1600" i="1"/>
              <a:t>Syntaxe : </a:t>
            </a:r>
            <a:r>
              <a:rPr lang="fr-FR" altLang="fr-FR" sz="1600" i="1">
                <a:solidFill>
                  <a:schemeClr val="accent2"/>
                </a:solidFill>
              </a:rPr>
              <a:t>IF condition THEN instruction1 ; ELSE instruction2 ;</a:t>
            </a:r>
          </a:p>
          <a:p>
            <a:pPr eaLnBrk="1" hangingPunct="1"/>
            <a:r>
              <a:rPr lang="fr-FR" altLang="fr-FR" sz="1600"/>
              <a:t>Principe d’écriture de la procédure : si (IF) la condition est vérifiée alors (THEN) l’instruction1 sera exécutée, sinon (ELSE) c’est l’instruction2 qui le sera.</a:t>
            </a:r>
          </a:p>
          <a:p>
            <a:pPr eaLnBrk="1" hangingPunct="1"/>
            <a:endParaRPr lang="fr-FR" altLang="fr-FR" sz="800" b="1"/>
          </a:p>
          <a:p>
            <a:pPr eaLnBrk="1" hangingPunct="1"/>
            <a:r>
              <a:rPr lang="fr-FR" altLang="fr-FR" sz="1600" b="1"/>
              <a:t>L’instruction conditionnelle peut servir à créer une nouvelle variable</a:t>
            </a:r>
            <a:r>
              <a:rPr lang="fr-FR" altLang="fr-FR" sz="1600"/>
              <a:t> en fonction des valeurs de variables existantes. L’instruction s’inscrit dans une étape DATA.</a:t>
            </a:r>
          </a:p>
          <a:p>
            <a:pPr eaLnBrk="1" hangingPunct="1"/>
            <a:endParaRPr lang="fr-FR" altLang="fr-FR" sz="800"/>
          </a:p>
          <a:p>
            <a:pPr eaLnBrk="1" hangingPunct="1"/>
            <a:r>
              <a:rPr lang="fr-FR" altLang="fr-FR" sz="1600" i="1" u="sng"/>
              <a:t>Exemple</a:t>
            </a:r>
            <a:r>
              <a:rPr lang="fr-FR" altLang="fr-FR" sz="1600"/>
              <a:t> : on souhaite calculer la variable "cotis" qui contiendra le montant de la cotisation due par l’enfant pour son adhésion à un club sportif. Ce montant vaut 40 pour les moins de 10 ans, 60 pour les enfants de 10 à moins de 12 ans, et 80 pour les autres.</a:t>
            </a:r>
          </a:p>
          <a:p>
            <a:pPr eaLnBrk="1" hangingPunct="1"/>
            <a:endParaRPr lang="fr-FR" altLang="fr-FR" sz="800"/>
          </a:p>
          <a:p>
            <a:pPr lvl="4" eaLnBrk="1" hangingPunct="1"/>
            <a:r>
              <a:rPr lang="fr-FR" altLang="fr-FR" sz="1600">
                <a:solidFill>
                  <a:schemeClr val="accent2"/>
                </a:solidFill>
              </a:rPr>
              <a:t>		</a:t>
            </a:r>
            <a:r>
              <a:rPr lang="fr-FR" altLang="fr-FR" sz="1400" i="1">
                <a:solidFill>
                  <a:schemeClr val="accent2"/>
                </a:solidFill>
              </a:rPr>
              <a:t>DATA club2 ;</a:t>
            </a:r>
          </a:p>
          <a:p>
            <a:pPr lvl="4" eaLnBrk="1" hangingPunct="1"/>
            <a:r>
              <a:rPr lang="fr-FR" altLang="fr-FR" sz="1400" i="1">
                <a:solidFill>
                  <a:schemeClr val="accent2"/>
                </a:solidFill>
              </a:rPr>
              <a:t>		set club ;</a:t>
            </a:r>
          </a:p>
          <a:p>
            <a:pPr lvl="4" eaLnBrk="1" hangingPunct="1"/>
            <a:r>
              <a:rPr lang="fr-FR" altLang="fr-FR" sz="1400" i="1">
                <a:solidFill>
                  <a:schemeClr val="accent2"/>
                </a:solidFill>
              </a:rPr>
              <a:t>		IF age &lt;10 THEN cotis=40 ;</a:t>
            </a:r>
          </a:p>
          <a:p>
            <a:pPr lvl="4" eaLnBrk="1" hangingPunct="1"/>
            <a:r>
              <a:rPr lang="fr-FR" altLang="fr-FR" sz="1400" i="1">
                <a:solidFill>
                  <a:schemeClr val="accent2"/>
                </a:solidFill>
              </a:rPr>
              <a:t>		ELSE IF age&gt;=10 and age&lt;12 then cotis=60;</a:t>
            </a:r>
          </a:p>
          <a:p>
            <a:pPr lvl="4" eaLnBrk="1" hangingPunct="1"/>
            <a:r>
              <a:rPr lang="fr-FR" altLang="fr-FR" sz="1400" i="1">
                <a:solidFill>
                  <a:schemeClr val="accent2"/>
                </a:solidFill>
              </a:rPr>
              <a:t>		ELSE cotis=80 ;</a:t>
            </a:r>
          </a:p>
          <a:p>
            <a:pPr lvl="4" eaLnBrk="1" hangingPunct="1"/>
            <a:r>
              <a:rPr lang="fr-FR" altLang="fr-FR" sz="1400" i="1">
                <a:solidFill>
                  <a:schemeClr val="accent2"/>
                </a:solidFill>
              </a:rPr>
              <a:t>		run ;</a:t>
            </a:r>
          </a:p>
          <a:p>
            <a:pPr lvl="4" eaLnBrk="1" hangingPunct="1"/>
            <a:endParaRPr lang="fr-FR" altLang="fr-FR" sz="800" i="1">
              <a:solidFill>
                <a:schemeClr val="accent2"/>
              </a:solidFill>
            </a:endParaRPr>
          </a:p>
          <a:p>
            <a:pPr eaLnBrk="1" hangingPunct="1"/>
            <a:endParaRPr lang="fr-FR" altLang="fr-FR" sz="1600"/>
          </a:p>
          <a:p>
            <a:pPr eaLnBrk="1" hangingPunct="1"/>
            <a:endParaRPr lang="fr-FR" altLang="fr-FR" sz="1200" i="1"/>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(4/11)</a:t>
            </a:r>
          </a:p>
        </p:txBody>
      </p:sp>
      <p:sp>
        <p:nvSpPr>
          <p:cNvPr id="5123" name="Rectangle 3"/>
          <p:cNvSpPr>
            <a:spLocks noChangeArrowheads="1"/>
          </p:cNvSpPr>
          <p:nvPr/>
        </p:nvSpPr>
        <p:spPr bwMode="auto">
          <a:xfrm>
            <a:off x="0" y="692150"/>
            <a:ext cx="9144000" cy="585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L’instruction conditionnelle peut servir à filtrer des observations, pour créer une nouvelle base de données</a:t>
            </a:r>
            <a:r>
              <a:rPr lang="fr-FR" altLang="fr-FR" sz="1600"/>
              <a:t> ne contenant que certaines observations.</a:t>
            </a:r>
          </a:p>
          <a:p>
            <a:pPr eaLnBrk="1" hangingPunct="1"/>
            <a:endParaRPr lang="fr-FR" altLang="fr-FR" sz="800"/>
          </a:p>
          <a:p>
            <a:pPr eaLnBrk="1" hangingPunct="1"/>
            <a:r>
              <a:rPr lang="fr-FR" altLang="fr-FR" sz="1600" i="1" u="sng"/>
              <a:t>Exemple</a:t>
            </a:r>
            <a:r>
              <a:rPr lang="fr-FR" altLang="fr-FR" sz="1600"/>
              <a:t> : on veut créer une table "junior" qui ne contient que les personnes de 12 ans et moins.</a:t>
            </a:r>
          </a:p>
          <a:p>
            <a:pPr eaLnBrk="1" hangingPunct="1"/>
            <a:r>
              <a:rPr lang="fr-FR" altLang="fr-FR" sz="1600"/>
              <a:t>2 solutions sont possibles :</a:t>
            </a:r>
          </a:p>
          <a:p>
            <a:pPr eaLnBrk="1" hangingPunct="1"/>
            <a:r>
              <a:rPr lang="fr-FR" altLang="fr-FR" sz="1400" i="1">
                <a:solidFill>
                  <a:schemeClr val="accent2"/>
                </a:solidFill>
              </a:rPr>
              <a:t>		data junior ;		data junior;</a:t>
            </a:r>
          </a:p>
          <a:p>
            <a:pPr eaLnBrk="1" hangingPunct="1"/>
            <a:r>
              <a:rPr lang="fr-FR" altLang="fr-FR" sz="1400" i="1">
                <a:solidFill>
                  <a:schemeClr val="accent2"/>
                </a:solidFill>
              </a:rPr>
              <a:t>		set club ;			set club;</a:t>
            </a:r>
          </a:p>
          <a:p>
            <a:pPr eaLnBrk="1" hangingPunct="1"/>
            <a:r>
              <a:rPr lang="fr-FR" altLang="fr-FR" sz="1400" i="1">
                <a:solidFill>
                  <a:schemeClr val="accent2"/>
                </a:solidFill>
              </a:rPr>
              <a:t>		if age &lt;=12;		if age&gt;12 then delete;</a:t>
            </a:r>
          </a:p>
          <a:p>
            <a:pPr eaLnBrk="1" hangingPunct="1"/>
            <a:r>
              <a:rPr lang="fr-FR" altLang="fr-FR" sz="1400" i="1">
                <a:solidFill>
                  <a:schemeClr val="accent2"/>
                </a:solidFill>
              </a:rPr>
              <a:t>		run;			run;</a:t>
            </a:r>
          </a:p>
          <a:p>
            <a:pPr eaLnBrk="1" hangingPunct="1"/>
            <a:endParaRPr lang="fr-FR" altLang="fr-FR" sz="800" i="1">
              <a:solidFill>
                <a:schemeClr val="accent2"/>
              </a:solidFill>
            </a:endParaRPr>
          </a:p>
          <a:p>
            <a:pPr eaLnBrk="1" hangingPunct="1"/>
            <a:endParaRPr lang="fr-FR" altLang="fr-FR" sz="800" i="1"/>
          </a:p>
          <a:p>
            <a:pPr eaLnBrk="1" hangingPunct="1"/>
            <a:r>
              <a:rPr lang="fr-FR" altLang="fr-FR" sz="1600" b="1"/>
              <a:t>On peut créer plusieurs bases dans la même étape DATA</a:t>
            </a:r>
            <a:r>
              <a:rPr lang="fr-FR" altLang="fr-FR" sz="1600"/>
              <a:t>. Dans ce cas on déclare sur la ligne débutant par DATA le nom des bases que l’on souhaite créer. Puis on écrit les instructions conditionnelles permettant d’affecter les observations dans ces nouvelles bases, en fonction de</a:t>
            </a:r>
          </a:p>
          <a:p>
            <a:pPr eaLnBrk="1" hangingPunct="1"/>
            <a:r>
              <a:rPr lang="fr-FR" altLang="fr-FR" sz="1600"/>
              <a:t>conditions que l’on définit.</a:t>
            </a:r>
          </a:p>
          <a:p>
            <a:pPr eaLnBrk="1" hangingPunct="1"/>
            <a:endParaRPr lang="fr-FR" altLang="fr-FR" sz="800"/>
          </a:p>
          <a:p>
            <a:pPr eaLnBrk="1" hangingPunct="1"/>
            <a:r>
              <a:rPr lang="fr-FR" altLang="fr-FR" sz="1600" i="1" u="sng"/>
              <a:t>Exemple</a:t>
            </a:r>
            <a:r>
              <a:rPr lang="fr-FR" altLang="fr-FR" sz="1600"/>
              <a:t> : on souhaite créer deux bases : la base «petits » et la base « grands » en fonction de la taille de l’enfant. Les observations pour lesquelles la taille est inférieure à 140 centimètres seront mises dans la base « petits », les autres seront mises dans la base « grands ».</a:t>
            </a:r>
          </a:p>
          <a:p>
            <a:pPr eaLnBrk="1" hangingPunct="1"/>
            <a:endParaRPr lang="fr-FR" altLang="fr-FR" sz="1600"/>
          </a:p>
          <a:p>
            <a:pPr eaLnBrk="1" hangingPunct="1"/>
            <a:r>
              <a:rPr lang="fr-FR" altLang="fr-FR" sz="1400" i="1">
                <a:solidFill>
                  <a:schemeClr val="accent2"/>
                </a:solidFill>
              </a:rPr>
              <a:t>				data petits grands ;</a:t>
            </a:r>
          </a:p>
          <a:p>
            <a:pPr eaLnBrk="1" hangingPunct="1"/>
            <a:r>
              <a:rPr lang="fr-FR" altLang="fr-FR" sz="1400" i="1">
                <a:solidFill>
                  <a:schemeClr val="accent2"/>
                </a:solidFill>
              </a:rPr>
              <a:t>				set club ;</a:t>
            </a:r>
          </a:p>
          <a:p>
            <a:pPr eaLnBrk="1" hangingPunct="1"/>
            <a:r>
              <a:rPr lang="fr-FR" altLang="fr-FR" sz="1400" i="1">
                <a:solidFill>
                  <a:schemeClr val="accent2"/>
                </a:solidFill>
              </a:rPr>
              <a:t>				if taille &lt;140 then output petits ;</a:t>
            </a:r>
          </a:p>
          <a:p>
            <a:pPr eaLnBrk="1" hangingPunct="1"/>
            <a:r>
              <a:rPr lang="fr-FR" altLang="fr-FR" sz="1400" i="1">
                <a:solidFill>
                  <a:schemeClr val="accent2"/>
                </a:solidFill>
              </a:rPr>
              <a:t>				else output grands ;</a:t>
            </a:r>
          </a:p>
          <a:p>
            <a:pPr eaLnBrk="1" hangingPunct="1"/>
            <a:r>
              <a:rPr lang="fr-FR" altLang="fr-FR" sz="1400" i="1">
                <a:solidFill>
                  <a:schemeClr val="accent2"/>
                </a:solidFill>
              </a:rPr>
              <a:t>				Run ;</a:t>
            </a:r>
          </a:p>
          <a:p>
            <a:pPr eaLnBrk="1" hangingPunct="1"/>
            <a:r>
              <a:rPr lang="fr-FR" altLang="fr-FR" sz="1400" i="1">
                <a:solidFill>
                  <a:schemeClr val="accent2"/>
                </a:solidFill>
              </a:rPr>
              <a:t>				proc delete data=club;</a:t>
            </a:r>
          </a:p>
          <a:p>
            <a:pPr eaLnBrk="1" hangingPunct="1"/>
            <a:r>
              <a:rPr lang="fr-FR" altLang="fr-FR" sz="1400" i="1">
                <a:solidFill>
                  <a:schemeClr val="accent2"/>
                </a:solidFill>
              </a:rPr>
              <a:t>				run;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(5/11)</a:t>
            </a:r>
          </a:p>
        </p:txBody>
      </p:sp>
      <p:sp>
        <p:nvSpPr>
          <p:cNvPr id="6147" name="Rectangle 3"/>
          <p:cNvSpPr>
            <a:spLocks noChangeArrowheads="1"/>
          </p:cNvSpPr>
          <p:nvPr/>
        </p:nvSpPr>
        <p:spPr bwMode="auto">
          <a:xfrm>
            <a:off x="0" y="692150"/>
            <a:ext cx="9144000" cy="369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Attention aux conditions imbriquées !</a:t>
            </a:r>
          </a:p>
          <a:p>
            <a:pPr eaLnBrk="1" hangingPunct="1"/>
            <a:r>
              <a:rPr lang="fr-FR" altLang="fr-FR" sz="1600"/>
              <a:t>L’instruction [ELSE] ne porte que sur le IF immédiatement précédent :</a:t>
            </a:r>
          </a:p>
          <a:p>
            <a:pPr eaLnBrk="1" hangingPunct="1"/>
            <a:r>
              <a:rPr lang="fr-FR" altLang="fr-FR" sz="1600"/>
              <a:t>Dans l’exemple suivant, l’instruction3 est vérifiée si l’instruction2 est non-vérifiée (que la condition1 soit vérifiée ou non) </a:t>
            </a:r>
          </a:p>
          <a:p>
            <a:pPr eaLnBrk="1" hangingPunct="1"/>
            <a:endParaRPr lang="fr-FR" altLang="fr-FR" sz="800"/>
          </a:p>
          <a:p>
            <a:pPr eaLnBrk="1" hangingPunct="1"/>
            <a:r>
              <a:rPr lang="fr-FR" altLang="fr-FR" sz="1600" i="1">
                <a:solidFill>
                  <a:schemeClr val="accent2"/>
                </a:solidFill>
              </a:rPr>
              <a:t>			IF condition1 THEN instruction1;</a:t>
            </a:r>
          </a:p>
          <a:p>
            <a:pPr eaLnBrk="1" hangingPunct="1"/>
            <a:r>
              <a:rPr lang="fr-FR" altLang="fr-FR" sz="1600" i="1">
                <a:solidFill>
                  <a:schemeClr val="accent2"/>
                </a:solidFill>
              </a:rPr>
              <a:t>			IF condition2 THEN instruction2;</a:t>
            </a:r>
          </a:p>
          <a:p>
            <a:pPr eaLnBrk="1" hangingPunct="1"/>
            <a:r>
              <a:rPr lang="fr-FR" altLang="fr-FR" sz="1600" i="1">
                <a:solidFill>
                  <a:schemeClr val="accent2"/>
                </a:solidFill>
              </a:rPr>
              <a:t>			ELSE instruction3 ;</a:t>
            </a:r>
          </a:p>
          <a:p>
            <a:pPr eaLnBrk="1" hangingPunct="1"/>
            <a:endParaRPr lang="fr-FR" altLang="fr-FR" sz="1600" i="1">
              <a:solidFill>
                <a:schemeClr val="accent2"/>
              </a:solidFill>
            </a:endParaRPr>
          </a:p>
          <a:p>
            <a:pPr eaLnBrk="1" hangingPunct="1"/>
            <a:r>
              <a:rPr lang="fr-FR" altLang="fr-FR" sz="1600"/>
              <a:t>Pour écrire le programme correctement, il faut écrire :</a:t>
            </a:r>
          </a:p>
          <a:p>
            <a:pPr eaLnBrk="1" hangingPunct="1"/>
            <a:endParaRPr lang="fr-FR" altLang="fr-FR" sz="800">
              <a:solidFill>
                <a:schemeClr val="accent2"/>
              </a:solidFill>
            </a:endParaRPr>
          </a:p>
          <a:p>
            <a:pPr lvl="4" eaLnBrk="1" hangingPunct="1"/>
            <a:r>
              <a:rPr lang="fr-FR" altLang="fr-FR" sz="1600" i="1">
                <a:solidFill>
                  <a:schemeClr val="accent2"/>
                </a:solidFill>
              </a:rPr>
              <a:t>		IF condition1 THEN instruction1;</a:t>
            </a:r>
          </a:p>
          <a:p>
            <a:pPr lvl="4" eaLnBrk="1" hangingPunct="1"/>
            <a:r>
              <a:rPr lang="fr-FR" altLang="fr-FR" sz="1600" i="1">
                <a:solidFill>
                  <a:schemeClr val="accent2"/>
                </a:solidFill>
              </a:rPr>
              <a:t>		ELSE IF condition2 THEN instruction2 ;</a:t>
            </a:r>
          </a:p>
          <a:p>
            <a:pPr lvl="4" eaLnBrk="1" hangingPunct="1"/>
            <a:r>
              <a:rPr lang="fr-FR" altLang="fr-FR" sz="1600" i="1">
                <a:solidFill>
                  <a:schemeClr val="accent2"/>
                </a:solidFill>
              </a:rPr>
              <a:t>		ELSE IF condition3 THEN instruction3 ;</a:t>
            </a:r>
          </a:p>
          <a:p>
            <a:pPr eaLnBrk="1" hangingPunct="1"/>
            <a:r>
              <a:rPr lang="fr-FR" altLang="fr-FR" sz="1600"/>
              <a:t>Dans ce cas, l’instruction3 ne sera réalisée que si les conditions 1 et 2 ne sont pas vérifiées.</a:t>
            </a:r>
          </a:p>
          <a:p>
            <a:pPr eaLnBrk="1" hangingPunct="1"/>
            <a:endParaRPr lang="fr-FR" altLang="fr-FR" sz="1200" i="1"/>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(6/11)</a:t>
            </a:r>
          </a:p>
        </p:txBody>
      </p:sp>
      <p:sp>
        <p:nvSpPr>
          <p:cNvPr id="7171" name="Rectangle 3"/>
          <p:cNvSpPr>
            <a:spLocks noChangeArrowheads="1"/>
          </p:cNvSpPr>
          <p:nvPr/>
        </p:nvSpPr>
        <p:spPr bwMode="auto">
          <a:xfrm>
            <a:off x="0" y="692150"/>
            <a:ext cx="91440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L’instruction conditionnelle </a:t>
            </a:r>
            <a:r>
              <a:rPr lang="fr-FR" altLang="fr-FR" sz="1600" b="1">
                <a:solidFill>
                  <a:schemeClr val="accent2"/>
                </a:solidFill>
              </a:rPr>
              <a:t>SELECT … END ;</a:t>
            </a:r>
          </a:p>
          <a:p>
            <a:pPr eaLnBrk="1" hangingPunct="1"/>
            <a:r>
              <a:rPr lang="fr-FR" altLang="fr-FR" sz="1600"/>
              <a:t>Lorsqu’on a plusieurs instructions imbriquées il est préférable d’utiliser l’instruction</a:t>
            </a:r>
          </a:p>
          <a:p>
            <a:pPr eaLnBrk="1" hangingPunct="1"/>
            <a:r>
              <a:rPr lang="fr-FR" altLang="fr-FR" sz="1600" i="1">
                <a:solidFill>
                  <a:schemeClr val="accent2"/>
                </a:solidFill>
              </a:rPr>
              <a:t>SELECT</a:t>
            </a:r>
            <a:r>
              <a:rPr lang="fr-FR" altLang="fr-FR" sz="1600"/>
              <a:t>. Cette instruction permet de sélectionner une variable, puis de dire pour chacune des modalités l’instruction qu’on veut lui associer. Cela simplifie la procédure et évite l’écriture de nombreuses lignes de programmation.</a:t>
            </a:r>
          </a:p>
          <a:p>
            <a:pPr eaLnBrk="1" hangingPunct="1"/>
            <a:r>
              <a:rPr lang="fr-FR" altLang="fr-FR" sz="1600"/>
              <a:t>L’instruction commence par </a:t>
            </a:r>
            <a:r>
              <a:rPr lang="fr-FR" altLang="fr-FR" sz="1600" i="1">
                <a:solidFill>
                  <a:schemeClr val="accent2"/>
                </a:solidFill>
              </a:rPr>
              <a:t>SELECT</a:t>
            </a:r>
            <a:r>
              <a:rPr lang="fr-FR" altLang="fr-FR" sz="1600"/>
              <a:t> et se termine par </a:t>
            </a:r>
            <a:r>
              <a:rPr lang="fr-FR" altLang="fr-FR" sz="1600" i="1">
                <a:solidFill>
                  <a:schemeClr val="accent2"/>
                </a:solidFill>
              </a:rPr>
              <a:t>END</a:t>
            </a:r>
            <a:r>
              <a:rPr lang="fr-FR" altLang="fr-FR" sz="1600"/>
              <a:t> ;</a:t>
            </a:r>
          </a:p>
          <a:p>
            <a:pPr eaLnBrk="1" hangingPunct="1"/>
            <a:r>
              <a:rPr lang="fr-FR" altLang="fr-FR" sz="1600"/>
              <a:t>Le mot clé </a:t>
            </a:r>
            <a:r>
              <a:rPr lang="fr-FR" altLang="fr-FR" sz="1600" i="1">
                <a:solidFill>
                  <a:schemeClr val="accent2"/>
                </a:solidFill>
              </a:rPr>
              <a:t>WHEN</a:t>
            </a:r>
            <a:r>
              <a:rPr lang="fr-FR" altLang="fr-FR" sz="1600"/>
              <a:t> introduit les modalités pour lesquelles on souhaite réaliser des</a:t>
            </a:r>
          </a:p>
          <a:p>
            <a:pPr eaLnBrk="1" hangingPunct="1"/>
            <a:r>
              <a:rPr lang="fr-FR" altLang="fr-FR" sz="1600"/>
              <a:t>instructions.</a:t>
            </a:r>
          </a:p>
          <a:p>
            <a:pPr eaLnBrk="1" hangingPunct="1"/>
            <a:r>
              <a:rPr lang="fr-FR" altLang="fr-FR" sz="1600"/>
              <a:t>Lorsqu’une instruction </a:t>
            </a:r>
            <a:r>
              <a:rPr lang="fr-FR" altLang="fr-FR" sz="1600" i="1">
                <a:solidFill>
                  <a:schemeClr val="accent2"/>
                </a:solidFill>
              </a:rPr>
              <a:t>WHEN</a:t>
            </a:r>
            <a:r>
              <a:rPr lang="fr-FR" altLang="fr-FR" sz="1600"/>
              <a:t> est vérifiée, alors celles qui suivent ne le sont pas. </a:t>
            </a:r>
            <a:r>
              <a:rPr lang="fr-FR" altLang="fr-FR" sz="1600" i="1">
                <a:solidFill>
                  <a:schemeClr val="accent2"/>
                </a:solidFill>
              </a:rPr>
              <a:t>OTHERWISE</a:t>
            </a:r>
            <a:r>
              <a:rPr lang="fr-FR" altLang="fr-FR" sz="1600"/>
              <a:t> contient toutes les modalités non énumérées, tous les autres cas possibles. Il est souhaitable dans tous les cas d’utiliser </a:t>
            </a:r>
            <a:r>
              <a:rPr lang="fr-FR" altLang="fr-FR" sz="1600" i="1">
                <a:solidFill>
                  <a:schemeClr val="accent2"/>
                </a:solidFill>
              </a:rPr>
              <a:t>OTHERWISE</a:t>
            </a:r>
            <a:r>
              <a:rPr lang="fr-FR" altLang="fr-FR" sz="1600"/>
              <a:t> ; cela permet de rassembler tous les cas qu’on n’aurait pas vus au moment d’écrire la programmation.</a:t>
            </a:r>
          </a:p>
          <a:p>
            <a:pPr eaLnBrk="1" hangingPunct="1"/>
            <a:endParaRPr lang="fr-FR" altLang="fr-FR" sz="1600"/>
          </a:p>
          <a:p>
            <a:pPr eaLnBrk="1" hangingPunct="1"/>
            <a:r>
              <a:rPr lang="fr-FR" altLang="fr-FR" sz="1600" i="1" u="sng">
                <a:solidFill>
                  <a:schemeClr val="accent2"/>
                </a:solidFill>
              </a:rPr>
              <a:t>Syntaxe :</a:t>
            </a:r>
          </a:p>
          <a:p>
            <a:pPr eaLnBrk="1" hangingPunct="1"/>
            <a:r>
              <a:rPr lang="fr-FR" altLang="fr-FR" sz="1400" i="1">
                <a:solidFill>
                  <a:schemeClr val="accent2"/>
                </a:solidFill>
              </a:rPr>
              <a:t>				data newbase ;</a:t>
            </a:r>
          </a:p>
          <a:p>
            <a:pPr eaLnBrk="1" hangingPunct="1"/>
            <a:r>
              <a:rPr lang="fr-FR" altLang="fr-FR" sz="1400" i="1">
                <a:solidFill>
                  <a:schemeClr val="accent2"/>
                </a:solidFill>
              </a:rPr>
              <a:t>				set oldbase ;</a:t>
            </a:r>
          </a:p>
          <a:p>
            <a:pPr eaLnBrk="1" hangingPunct="1"/>
            <a:r>
              <a:rPr lang="fr-FR" altLang="fr-FR" sz="1400" i="1">
                <a:solidFill>
                  <a:schemeClr val="accent2"/>
                </a:solidFill>
              </a:rPr>
              <a:t>				SELECT (variable) ;</a:t>
            </a:r>
          </a:p>
          <a:p>
            <a:pPr eaLnBrk="1" hangingPunct="1"/>
            <a:r>
              <a:rPr lang="fr-FR" altLang="fr-FR" sz="1400" i="1">
                <a:solidFill>
                  <a:schemeClr val="accent2"/>
                </a:solidFill>
              </a:rPr>
              <a:t>					WHEN (modalité1) instruction1;</a:t>
            </a:r>
          </a:p>
          <a:p>
            <a:pPr eaLnBrk="1" hangingPunct="1"/>
            <a:r>
              <a:rPr lang="fr-FR" altLang="fr-FR" sz="1400" i="1">
                <a:solidFill>
                  <a:schemeClr val="accent2"/>
                </a:solidFill>
              </a:rPr>
              <a:t>					WHEN (modalité2) instruction2;</a:t>
            </a:r>
          </a:p>
          <a:p>
            <a:pPr eaLnBrk="1" hangingPunct="1"/>
            <a:r>
              <a:rPr lang="fr-FR" altLang="fr-FR" sz="1400" i="1">
                <a:solidFill>
                  <a:schemeClr val="accent2"/>
                </a:solidFill>
              </a:rPr>
              <a:t>					OTHERWISE instruction3</a:t>
            </a:r>
          </a:p>
          <a:p>
            <a:pPr eaLnBrk="1" hangingPunct="1"/>
            <a:r>
              <a:rPr lang="fr-FR" altLang="fr-FR" sz="1400" i="1">
                <a:solidFill>
                  <a:schemeClr val="accent2"/>
                </a:solidFill>
              </a:rPr>
              <a:t>				end;</a:t>
            </a:r>
          </a:p>
          <a:p>
            <a:pPr eaLnBrk="1" hangingPunct="1"/>
            <a:r>
              <a:rPr lang="fr-FR" altLang="fr-FR" sz="1400" i="1">
                <a:solidFill>
                  <a:schemeClr val="accent2"/>
                </a:solidFill>
              </a:rPr>
              <a:t>				run;</a:t>
            </a:r>
            <a:endParaRPr lang="fr-FR" altLang="fr-FR" sz="1400" b="1" i="1">
              <a:solidFill>
                <a:schemeClr val="accent2"/>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(7/11)</a:t>
            </a:r>
          </a:p>
        </p:txBody>
      </p:sp>
      <p:sp>
        <p:nvSpPr>
          <p:cNvPr id="8195" name="Rectangle 3"/>
          <p:cNvSpPr>
            <a:spLocks noChangeArrowheads="1"/>
          </p:cNvSpPr>
          <p:nvPr/>
        </p:nvSpPr>
        <p:spPr bwMode="auto">
          <a:xfrm>
            <a:off x="0" y="635000"/>
            <a:ext cx="9144000" cy="587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i="1" u="sng"/>
              <a:t>Exemple</a:t>
            </a:r>
            <a:r>
              <a:rPr lang="fr-FR" altLang="fr-FR" sz="1600"/>
              <a:t> : On souhaite créer une variable "prix" qui donnera le prix du tee-shirt du club. Ce prix est différent selon la taille de l’enfant. S’il mesure 130 ou 135 cm, le tee-shirt coûte 30, s’il mesure 145 le prix est de 40, s’il mesure 150 ou 155, le prix est de 50 et pour les autres tailles le prix est de 60.</a:t>
            </a:r>
          </a:p>
          <a:p>
            <a:pPr eaLnBrk="1" hangingPunct="1"/>
            <a:r>
              <a:rPr lang="fr-FR" altLang="fr-FR" sz="1600"/>
              <a:t>					</a:t>
            </a:r>
            <a:r>
              <a:rPr lang="fr-FR" altLang="fr-FR" sz="1400">
                <a:solidFill>
                  <a:schemeClr val="accent2"/>
                </a:solidFill>
              </a:rPr>
              <a:t>data club2 ;</a:t>
            </a:r>
          </a:p>
          <a:p>
            <a:pPr lvl="4" eaLnBrk="1" hangingPunct="1"/>
            <a:r>
              <a:rPr lang="fr-FR" altLang="fr-FR" sz="1400" i="1">
                <a:solidFill>
                  <a:schemeClr val="accent2"/>
                </a:solidFill>
              </a:rPr>
              <a:t>			set club ;</a:t>
            </a:r>
          </a:p>
          <a:p>
            <a:pPr lvl="4" eaLnBrk="1" hangingPunct="1"/>
            <a:r>
              <a:rPr lang="fr-FR" altLang="fr-FR" sz="1400" i="1">
                <a:solidFill>
                  <a:schemeClr val="accent2"/>
                </a:solidFill>
              </a:rPr>
              <a:t>			select (taille) ;</a:t>
            </a:r>
          </a:p>
          <a:p>
            <a:pPr lvl="4" eaLnBrk="1" hangingPunct="1"/>
            <a:r>
              <a:rPr lang="fr-FR" altLang="fr-FR" sz="1400" i="1">
                <a:solidFill>
                  <a:schemeClr val="accent2"/>
                </a:solidFill>
              </a:rPr>
              <a:t>			when (</a:t>
            </a:r>
            <a:r>
              <a:rPr lang="fr-FR" altLang="fr-FR" sz="1400" b="1" i="1">
                <a:solidFill>
                  <a:schemeClr val="accent2"/>
                </a:solidFill>
              </a:rPr>
              <a:t>130</a:t>
            </a:r>
            <a:r>
              <a:rPr lang="fr-FR" altLang="fr-FR" sz="1400" i="1">
                <a:solidFill>
                  <a:schemeClr val="accent2"/>
                </a:solidFill>
              </a:rPr>
              <a:t>,</a:t>
            </a:r>
            <a:r>
              <a:rPr lang="fr-FR" altLang="fr-FR" sz="1400" b="1" i="1">
                <a:solidFill>
                  <a:schemeClr val="accent2"/>
                </a:solidFill>
              </a:rPr>
              <a:t>135</a:t>
            </a:r>
            <a:r>
              <a:rPr lang="fr-FR" altLang="fr-FR" sz="1400" i="1">
                <a:solidFill>
                  <a:schemeClr val="accent2"/>
                </a:solidFill>
              </a:rPr>
              <a:t>) prix=</a:t>
            </a:r>
            <a:r>
              <a:rPr lang="fr-FR" altLang="fr-FR" sz="1400" b="1" i="1">
                <a:solidFill>
                  <a:schemeClr val="accent2"/>
                </a:solidFill>
              </a:rPr>
              <a:t>30 </a:t>
            </a:r>
            <a:r>
              <a:rPr lang="fr-FR" altLang="fr-FR" sz="1400" i="1">
                <a:solidFill>
                  <a:schemeClr val="accent2"/>
                </a:solidFill>
              </a:rPr>
              <a:t>;</a:t>
            </a:r>
          </a:p>
          <a:p>
            <a:pPr lvl="4" eaLnBrk="1" hangingPunct="1"/>
            <a:r>
              <a:rPr lang="fr-FR" altLang="fr-FR" sz="1400" i="1">
                <a:solidFill>
                  <a:schemeClr val="accent2"/>
                </a:solidFill>
              </a:rPr>
              <a:t>			when (</a:t>
            </a:r>
            <a:r>
              <a:rPr lang="fr-FR" altLang="fr-FR" sz="1400" b="1" i="1">
                <a:solidFill>
                  <a:schemeClr val="accent2"/>
                </a:solidFill>
              </a:rPr>
              <a:t>145</a:t>
            </a:r>
            <a:r>
              <a:rPr lang="fr-FR" altLang="fr-FR" sz="1400" i="1">
                <a:solidFill>
                  <a:schemeClr val="accent2"/>
                </a:solidFill>
              </a:rPr>
              <a:t>) prix=</a:t>
            </a:r>
            <a:r>
              <a:rPr lang="fr-FR" altLang="fr-FR" sz="1400" b="1" i="1">
                <a:solidFill>
                  <a:schemeClr val="accent2"/>
                </a:solidFill>
              </a:rPr>
              <a:t>40 </a:t>
            </a:r>
            <a:r>
              <a:rPr lang="fr-FR" altLang="fr-FR" sz="1400" i="1">
                <a:solidFill>
                  <a:schemeClr val="accent2"/>
                </a:solidFill>
              </a:rPr>
              <a:t>;</a:t>
            </a:r>
          </a:p>
          <a:p>
            <a:pPr lvl="4" eaLnBrk="1" hangingPunct="1"/>
            <a:r>
              <a:rPr lang="fr-FR" altLang="fr-FR" sz="1400" i="1">
                <a:solidFill>
                  <a:schemeClr val="accent2"/>
                </a:solidFill>
              </a:rPr>
              <a:t>			when (</a:t>
            </a:r>
            <a:r>
              <a:rPr lang="fr-FR" altLang="fr-FR" sz="1400" b="1" i="1">
                <a:solidFill>
                  <a:schemeClr val="accent2"/>
                </a:solidFill>
              </a:rPr>
              <a:t>150</a:t>
            </a:r>
            <a:r>
              <a:rPr lang="fr-FR" altLang="fr-FR" sz="1400" i="1">
                <a:solidFill>
                  <a:schemeClr val="accent2"/>
                </a:solidFill>
              </a:rPr>
              <a:t>,</a:t>
            </a:r>
            <a:r>
              <a:rPr lang="fr-FR" altLang="fr-FR" sz="1400" b="1" i="1">
                <a:solidFill>
                  <a:schemeClr val="accent2"/>
                </a:solidFill>
              </a:rPr>
              <a:t>155</a:t>
            </a:r>
            <a:r>
              <a:rPr lang="fr-FR" altLang="fr-FR" sz="1400" i="1">
                <a:solidFill>
                  <a:schemeClr val="accent2"/>
                </a:solidFill>
              </a:rPr>
              <a:t>) prix=</a:t>
            </a:r>
            <a:r>
              <a:rPr lang="fr-FR" altLang="fr-FR" sz="1400" b="1" i="1">
                <a:solidFill>
                  <a:schemeClr val="accent2"/>
                </a:solidFill>
              </a:rPr>
              <a:t>50 </a:t>
            </a:r>
            <a:r>
              <a:rPr lang="fr-FR" altLang="fr-FR" sz="1400" i="1">
                <a:solidFill>
                  <a:schemeClr val="accent2"/>
                </a:solidFill>
              </a:rPr>
              <a:t>;</a:t>
            </a:r>
          </a:p>
          <a:p>
            <a:pPr lvl="4" eaLnBrk="1" hangingPunct="1"/>
            <a:r>
              <a:rPr lang="fr-FR" altLang="fr-FR" sz="1400" i="1">
                <a:solidFill>
                  <a:schemeClr val="accent2"/>
                </a:solidFill>
              </a:rPr>
              <a:t>			otherwise prix=</a:t>
            </a:r>
            <a:r>
              <a:rPr lang="fr-FR" altLang="fr-FR" sz="1400" b="1" i="1">
                <a:solidFill>
                  <a:schemeClr val="accent2"/>
                </a:solidFill>
              </a:rPr>
              <a:t>60 </a:t>
            </a:r>
            <a:r>
              <a:rPr lang="fr-FR" altLang="fr-FR" sz="1400" i="1">
                <a:solidFill>
                  <a:schemeClr val="accent2"/>
                </a:solidFill>
              </a:rPr>
              <a:t>;</a:t>
            </a:r>
          </a:p>
          <a:p>
            <a:pPr lvl="4" eaLnBrk="1" hangingPunct="1"/>
            <a:r>
              <a:rPr lang="fr-FR" altLang="fr-FR" sz="1400" i="1">
                <a:solidFill>
                  <a:schemeClr val="accent2"/>
                </a:solidFill>
              </a:rPr>
              <a:t>			End;</a:t>
            </a:r>
          </a:p>
          <a:p>
            <a:pPr lvl="4" eaLnBrk="1" hangingPunct="1"/>
            <a:r>
              <a:rPr lang="fr-FR" altLang="fr-FR" sz="1400" i="1">
                <a:solidFill>
                  <a:schemeClr val="accent2"/>
                </a:solidFill>
              </a:rPr>
              <a:t>			Run;</a:t>
            </a:r>
          </a:p>
          <a:p>
            <a:pPr lvl="4" eaLnBrk="1" hangingPunct="1"/>
            <a:endParaRPr lang="fr-FR" altLang="fr-FR" sz="1400" i="1">
              <a:solidFill>
                <a:schemeClr val="accent2"/>
              </a:solidFill>
            </a:endParaRPr>
          </a:p>
          <a:p>
            <a:pPr eaLnBrk="1" hangingPunct="1"/>
            <a:r>
              <a:rPr lang="fr-FR" altLang="fr-FR" sz="1600" i="1" u="sng"/>
              <a:t>Exemple</a:t>
            </a:r>
            <a:r>
              <a:rPr lang="fr-FR" altLang="fr-FR" sz="1600"/>
              <a:t> : on souhaite créer une base « nageur » et une base « gymnaste » qui contiendront respectivement les enfants qui pratiquent la nage et ceux qui pratiquent la gym. On crée aussi une base « autres » pour le cas où des enfants ne pratiqueraient aucune de ces deux activités.</a:t>
            </a:r>
          </a:p>
          <a:p>
            <a:pPr eaLnBrk="1" hangingPunct="1"/>
            <a:r>
              <a:rPr lang="fr-FR" altLang="fr-FR" sz="1600"/>
              <a:t>					</a:t>
            </a:r>
            <a:r>
              <a:rPr lang="fr-FR" altLang="fr-FR" sz="1400" i="1">
                <a:solidFill>
                  <a:schemeClr val="accent2"/>
                </a:solidFill>
              </a:rPr>
              <a:t>data nageur gymnaste autres ;</a:t>
            </a:r>
          </a:p>
          <a:p>
            <a:pPr lvl="4" eaLnBrk="1" hangingPunct="1"/>
            <a:r>
              <a:rPr lang="fr-FR" altLang="fr-FR" sz="1400" i="1">
                <a:solidFill>
                  <a:schemeClr val="accent2"/>
                </a:solidFill>
              </a:rPr>
              <a:t>			set club ;</a:t>
            </a:r>
          </a:p>
          <a:p>
            <a:pPr lvl="4" eaLnBrk="1" hangingPunct="1"/>
            <a:r>
              <a:rPr lang="fr-FR" altLang="fr-FR" sz="1400" i="1">
                <a:solidFill>
                  <a:schemeClr val="accent2"/>
                </a:solidFill>
              </a:rPr>
              <a:t>			select (activite) ;</a:t>
            </a:r>
          </a:p>
          <a:p>
            <a:pPr lvl="4" eaLnBrk="1" hangingPunct="1"/>
            <a:r>
              <a:rPr lang="fr-FR" altLang="fr-FR" sz="1400" i="1">
                <a:solidFill>
                  <a:schemeClr val="accent2"/>
                </a:solidFill>
              </a:rPr>
              <a:t>			when (‘natation’) output nageur ;</a:t>
            </a:r>
          </a:p>
          <a:p>
            <a:pPr lvl="4" eaLnBrk="1" hangingPunct="1"/>
            <a:r>
              <a:rPr lang="fr-FR" altLang="fr-FR" sz="1400" i="1">
                <a:solidFill>
                  <a:schemeClr val="accent2"/>
                </a:solidFill>
              </a:rPr>
              <a:t>			when (</a:t>
            </a:r>
            <a:r>
              <a:rPr lang="fr-FR" altLang="fr-FR" sz="1400" b="1" i="1">
                <a:solidFill>
                  <a:schemeClr val="accent2"/>
                </a:solidFill>
              </a:rPr>
              <a:t>‘</a:t>
            </a:r>
            <a:r>
              <a:rPr lang="fr-FR" altLang="fr-FR" sz="1400" i="1">
                <a:solidFill>
                  <a:schemeClr val="accent2"/>
                </a:solidFill>
              </a:rPr>
              <a:t>gym’) output gymnaste ;</a:t>
            </a:r>
          </a:p>
          <a:p>
            <a:pPr lvl="4" eaLnBrk="1" hangingPunct="1"/>
            <a:r>
              <a:rPr lang="fr-FR" altLang="fr-FR" sz="1400" i="1">
                <a:solidFill>
                  <a:schemeClr val="accent2"/>
                </a:solidFill>
              </a:rPr>
              <a:t>			otherwise output autres ;</a:t>
            </a:r>
          </a:p>
          <a:p>
            <a:pPr lvl="4" eaLnBrk="1" hangingPunct="1"/>
            <a:r>
              <a:rPr lang="fr-FR" altLang="fr-FR" sz="1400" i="1">
                <a:solidFill>
                  <a:schemeClr val="accent2"/>
                </a:solidFill>
              </a:rPr>
              <a:t>			end ;</a:t>
            </a:r>
          </a:p>
          <a:p>
            <a:pPr lvl="4" eaLnBrk="1" hangingPunct="1"/>
            <a:r>
              <a:rPr lang="fr-FR" altLang="fr-FR" sz="1400" i="1">
                <a:solidFill>
                  <a:schemeClr val="accent2"/>
                </a:solidFill>
              </a:rPr>
              <a:t>			run;</a:t>
            </a:r>
          </a:p>
          <a:p>
            <a:pPr lvl="4" eaLnBrk="1" hangingPunct="1"/>
            <a:endParaRPr lang="fr-FR" altLang="fr-FR" sz="1400" i="1">
              <a:solidFill>
                <a:schemeClr val="accent2"/>
              </a:solidFill>
            </a:endParaRPr>
          </a:p>
          <a:p>
            <a:pPr eaLnBrk="1" hangingPunct="1"/>
            <a:endParaRPr lang="fr-FR" altLang="fr-FR" sz="1000" i="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(8/11)</a:t>
            </a:r>
          </a:p>
        </p:txBody>
      </p:sp>
      <p:sp>
        <p:nvSpPr>
          <p:cNvPr id="9219" name="Rectangle 3"/>
          <p:cNvSpPr>
            <a:spLocks noChangeArrowheads="1"/>
          </p:cNvSpPr>
          <p:nvPr/>
        </p:nvSpPr>
        <p:spPr bwMode="auto">
          <a:xfrm>
            <a:off x="0" y="577850"/>
            <a:ext cx="9144000" cy="635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Non spécification de variable</a:t>
            </a:r>
          </a:p>
          <a:p>
            <a:pPr eaLnBrk="1" hangingPunct="1"/>
            <a:r>
              <a:rPr lang="fr-FR" altLang="fr-FR" sz="1600"/>
              <a:t>Dans les cas ci-dessus une variable de sélection a été spécifiée, mais il est possible de ne pas spécifier de variable au départ. La syntaxe sera alors :</a:t>
            </a:r>
          </a:p>
          <a:p>
            <a:pPr eaLnBrk="1" hangingPunct="1"/>
            <a:r>
              <a:rPr lang="fr-FR" altLang="fr-FR" sz="1400" i="1">
                <a:solidFill>
                  <a:schemeClr val="accent2"/>
                </a:solidFill>
              </a:rPr>
              <a:t>				Select ;</a:t>
            </a:r>
          </a:p>
          <a:p>
            <a:pPr eaLnBrk="1" hangingPunct="1"/>
            <a:r>
              <a:rPr lang="fr-FR" altLang="fr-FR" sz="1400" i="1">
                <a:solidFill>
                  <a:schemeClr val="accent2"/>
                </a:solidFill>
              </a:rPr>
              <a:t>				when (variable=modalité1) instruction1 ;</a:t>
            </a:r>
          </a:p>
          <a:p>
            <a:pPr eaLnBrk="1" hangingPunct="1"/>
            <a:r>
              <a:rPr lang="fr-FR" altLang="fr-FR" sz="1400" i="1">
                <a:solidFill>
                  <a:schemeClr val="accent2"/>
                </a:solidFill>
              </a:rPr>
              <a:t>				when (variable=modalite2) instruction2 ;</a:t>
            </a:r>
          </a:p>
          <a:p>
            <a:pPr eaLnBrk="1" hangingPunct="1"/>
            <a:r>
              <a:rPr lang="fr-FR" altLang="fr-FR" sz="1400" i="1">
                <a:solidFill>
                  <a:schemeClr val="accent2"/>
                </a:solidFill>
              </a:rPr>
              <a:t>				otherwise instruction3 ;</a:t>
            </a:r>
          </a:p>
          <a:p>
            <a:pPr eaLnBrk="1" hangingPunct="1"/>
            <a:r>
              <a:rPr lang="fr-FR" altLang="fr-FR" sz="1400" i="1">
                <a:solidFill>
                  <a:schemeClr val="accent2"/>
                </a:solidFill>
              </a:rPr>
              <a:t>				End;</a:t>
            </a:r>
          </a:p>
          <a:p>
            <a:pPr eaLnBrk="1" hangingPunct="1"/>
            <a:r>
              <a:rPr lang="fr-FR" altLang="fr-FR" sz="1600"/>
              <a:t>La non spécification est utile lorsque les conditions ne portent pas sur les même variables ou lorsque la condition porte sur plusieurs variables.</a:t>
            </a:r>
          </a:p>
          <a:p>
            <a:pPr eaLnBrk="1" hangingPunct="1"/>
            <a:endParaRPr lang="fr-FR" altLang="fr-FR" sz="800"/>
          </a:p>
          <a:p>
            <a:pPr eaLnBrk="1" hangingPunct="1"/>
            <a:r>
              <a:rPr lang="fr-FR" altLang="fr-FR" sz="1700" b="1"/>
              <a:t>Réalisation de plusieurs instructions pour la même condition : Les blocs </a:t>
            </a:r>
            <a:r>
              <a:rPr lang="fr-FR" altLang="fr-FR" sz="1700" b="1">
                <a:solidFill>
                  <a:schemeClr val="accent2"/>
                </a:solidFill>
              </a:rPr>
              <a:t>DO ; …END ;</a:t>
            </a:r>
          </a:p>
          <a:p>
            <a:pPr eaLnBrk="1" hangingPunct="1"/>
            <a:r>
              <a:rPr lang="fr-FR" altLang="fr-FR" sz="1600"/>
              <a:t>Si, pour une même condition, on souhaite que SAS effectue plusieurs instructions, ces instructions seront inscrites à l’intérieur d’un bloc « </a:t>
            </a:r>
            <a:r>
              <a:rPr lang="fr-FR" altLang="fr-FR" sz="1600">
                <a:solidFill>
                  <a:schemeClr val="accent2"/>
                </a:solidFill>
              </a:rPr>
              <a:t>DO</a:t>
            </a:r>
            <a:r>
              <a:rPr lang="fr-FR" altLang="fr-FR" sz="1600"/>
              <a:t> ». Ce bloc de programmation commence par le mot clé </a:t>
            </a:r>
            <a:r>
              <a:rPr lang="fr-FR" altLang="fr-FR" sz="1600">
                <a:solidFill>
                  <a:schemeClr val="accent2"/>
                </a:solidFill>
              </a:rPr>
              <a:t>DO</a:t>
            </a:r>
            <a:r>
              <a:rPr lang="fr-FR" altLang="fr-FR" sz="1600"/>
              <a:t> </a:t>
            </a:r>
            <a:r>
              <a:rPr lang="fr-FR" altLang="fr-FR" sz="1600">
                <a:solidFill>
                  <a:schemeClr val="accent2"/>
                </a:solidFill>
              </a:rPr>
              <a:t>;</a:t>
            </a:r>
            <a:r>
              <a:rPr lang="fr-FR" altLang="fr-FR" sz="1600"/>
              <a:t> et se termine par </a:t>
            </a:r>
            <a:r>
              <a:rPr lang="fr-FR" altLang="fr-FR" sz="1600">
                <a:solidFill>
                  <a:schemeClr val="accent2"/>
                </a:solidFill>
              </a:rPr>
              <a:t>END</a:t>
            </a:r>
            <a:r>
              <a:rPr lang="fr-FR" altLang="fr-FR" sz="1600"/>
              <a:t> ;</a:t>
            </a:r>
          </a:p>
          <a:p>
            <a:pPr eaLnBrk="1" hangingPunct="1"/>
            <a:r>
              <a:rPr lang="fr-FR" altLang="fr-FR" sz="1600"/>
              <a:t>Les blocs </a:t>
            </a:r>
            <a:r>
              <a:rPr lang="fr-FR" altLang="fr-FR" sz="1600">
                <a:solidFill>
                  <a:schemeClr val="accent2"/>
                </a:solidFill>
              </a:rPr>
              <a:t>DO ; …</a:t>
            </a:r>
            <a:r>
              <a:rPr lang="fr-FR" altLang="fr-FR" sz="1600"/>
              <a:t> </a:t>
            </a:r>
            <a:r>
              <a:rPr lang="fr-FR" altLang="fr-FR" sz="1600">
                <a:solidFill>
                  <a:schemeClr val="accent2"/>
                </a:solidFill>
              </a:rPr>
              <a:t>END</a:t>
            </a:r>
            <a:r>
              <a:rPr lang="fr-FR" altLang="fr-FR" sz="1600"/>
              <a:t> ; sont utilisables aussi bien avec les instructions conditionnelles </a:t>
            </a:r>
            <a:r>
              <a:rPr lang="fr-FR" altLang="fr-FR" sz="1600">
                <a:solidFill>
                  <a:schemeClr val="accent2"/>
                </a:solidFill>
              </a:rPr>
              <a:t>IF… THEN</a:t>
            </a:r>
            <a:r>
              <a:rPr lang="fr-FR" altLang="fr-FR" sz="1600"/>
              <a:t> </a:t>
            </a:r>
            <a:r>
              <a:rPr lang="fr-FR" altLang="fr-FR" sz="1600">
                <a:solidFill>
                  <a:schemeClr val="accent2"/>
                </a:solidFill>
              </a:rPr>
              <a:t>… ; ELSE….</a:t>
            </a:r>
            <a:r>
              <a:rPr lang="fr-FR" altLang="fr-FR" sz="1600"/>
              <a:t>qu’avec les instructions </a:t>
            </a:r>
            <a:r>
              <a:rPr lang="fr-FR" altLang="fr-FR" sz="1600">
                <a:solidFill>
                  <a:schemeClr val="accent2"/>
                </a:solidFill>
              </a:rPr>
              <a:t>SELECT… END ;</a:t>
            </a:r>
          </a:p>
          <a:p>
            <a:pPr eaLnBrk="1" hangingPunct="1"/>
            <a:r>
              <a:rPr lang="fr-FR" altLang="fr-FR" sz="1600" b="1" i="1"/>
              <a:t>Syntaxe avec l’instruction conditionnelle </a:t>
            </a:r>
            <a:r>
              <a:rPr lang="fr-FR" altLang="fr-FR" sz="1600" b="1" i="1">
                <a:solidFill>
                  <a:schemeClr val="accent2"/>
                </a:solidFill>
              </a:rPr>
              <a:t>IF… THEN … ; ELSE….</a:t>
            </a:r>
          </a:p>
          <a:p>
            <a:pPr lvl="4" eaLnBrk="1" hangingPunct="1"/>
            <a:r>
              <a:rPr lang="fr-FR" altLang="fr-FR" sz="1400" i="1">
                <a:solidFill>
                  <a:schemeClr val="accent2"/>
                </a:solidFill>
              </a:rPr>
              <a:t>			DATA newtable ;  set oldtable ;</a:t>
            </a:r>
          </a:p>
          <a:p>
            <a:pPr lvl="4" eaLnBrk="1" hangingPunct="1"/>
            <a:r>
              <a:rPr lang="fr-FR" altLang="fr-FR" sz="1400" i="1">
                <a:solidFill>
                  <a:schemeClr val="accent2"/>
                </a:solidFill>
              </a:rPr>
              <a:t>			IF condition then DO ;</a:t>
            </a:r>
          </a:p>
          <a:p>
            <a:pPr lvl="4" eaLnBrk="1" hangingPunct="1"/>
            <a:r>
              <a:rPr lang="fr-FR" altLang="fr-FR" sz="1400" i="1">
                <a:solidFill>
                  <a:schemeClr val="accent2"/>
                </a:solidFill>
              </a:rPr>
              <a:t>			Instruction1 ;</a:t>
            </a:r>
          </a:p>
          <a:p>
            <a:pPr lvl="4" eaLnBrk="1" hangingPunct="1"/>
            <a:r>
              <a:rPr lang="fr-FR" altLang="fr-FR" sz="1400" i="1">
                <a:solidFill>
                  <a:schemeClr val="accent2"/>
                </a:solidFill>
              </a:rPr>
              <a:t>			Instruction2 ;</a:t>
            </a:r>
          </a:p>
          <a:p>
            <a:pPr lvl="4" eaLnBrk="1" hangingPunct="1"/>
            <a:r>
              <a:rPr lang="fr-FR" altLang="fr-FR" sz="1400" i="1">
                <a:solidFill>
                  <a:schemeClr val="accent2"/>
                </a:solidFill>
              </a:rPr>
              <a:t>			END ;</a:t>
            </a:r>
          </a:p>
          <a:p>
            <a:pPr lvl="4" eaLnBrk="1" hangingPunct="1"/>
            <a:r>
              <a:rPr lang="fr-FR" altLang="fr-FR" sz="1400" i="1">
                <a:solidFill>
                  <a:schemeClr val="accent2"/>
                </a:solidFill>
              </a:rPr>
              <a:t>			ELSE DO ;</a:t>
            </a:r>
          </a:p>
          <a:p>
            <a:pPr lvl="4" eaLnBrk="1" hangingPunct="1"/>
            <a:r>
              <a:rPr lang="fr-FR" altLang="fr-FR" sz="1400" i="1">
                <a:solidFill>
                  <a:schemeClr val="accent2"/>
                </a:solidFill>
              </a:rPr>
              <a:t>			Instruction3 ;</a:t>
            </a:r>
          </a:p>
          <a:p>
            <a:pPr lvl="4" eaLnBrk="1" hangingPunct="1"/>
            <a:r>
              <a:rPr lang="fr-FR" altLang="fr-FR" sz="1400" i="1">
                <a:solidFill>
                  <a:schemeClr val="accent2"/>
                </a:solidFill>
              </a:rPr>
              <a:t>			Instruction4 ;</a:t>
            </a:r>
          </a:p>
          <a:p>
            <a:pPr lvl="4" eaLnBrk="1" hangingPunct="1"/>
            <a:r>
              <a:rPr lang="fr-FR" altLang="fr-FR" sz="1400" i="1">
                <a:solidFill>
                  <a:schemeClr val="accent2"/>
                </a:solidFill>
              </a:rPr>
              <a:t>			END ;</a:t>
            </a:r>
          </a:p>
          <a:p>
            <a:pPr lvl="4" eaLnBrk="1" hangingPunct="1"/>
            <a:r>
              <a:rPr lang="fr-FR" altLang="fr-FR" sz="1400" i="1">
                <a:solidFill>
                  <a:schemeClr val="accent2"/>
                </a:solidFill>
              </a:rPr>
              <a:t>			run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(9/11)</a:t>
            </a:r>
          </a:p>
        </p:txBody>
      </p:sp>
      <p:sp>
        <p:nvSpPr>
          <p:cNvPr id="10243" name="Rectangle 3"/>
          <p:cNvSpPr>
            <a:spLocks noChangeArrowheads="1"/>
          </p:cNvSpPr>
          <p:nvPr/>
        </p:nvSpPr>
        <p:spPr bwMode="auto">
          <a:xfrm>
            <a:off x="0" y="606425"/>
            <a:ext cx="9144000" cy="627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182563" indent="-3175" defTabSz="801688">
              <a:defRPr>
                <a:solidFill>
                  <a:schemeClr val="tx1"/>
                </a:solidFill>
                <a:latin typeface="Arial" panose="020B0604020202020204" pitchFamily="34" charset="0"/>
              </a:defRPr>
            </a:lvl2pPr>
            <a:lvl3pPr marL="1143000" indent="-228600" defTabSz="801688">
              <a:defRPr>
                <a:solidFill>
                  <a:schemeClr val="tx1"/>
                </a:solidFill>
                <a:latin typeface="Arial" panose="020B0604020202020204" pitchFamily="34" charset="0"/>
              </a:defRPr>
            </a:lvl3pPr>
            <a:lvl4pPr marL="1600200" indent="-228600" defTabSz="801688">
              <a:defRPr>
                <a:solidFill>
                  <a:schemeClr val="tx1"/>
                </a:solidFill>
                <a:latin typeface="Arial" panose="020B0604020202020204" pitchFamily="34" charset="0"/>
              </a:defRPr>
            </a:lvl4pPr>
            <a:lvl5pPr marL="900113" indent="-179388" defTabSz="801688">
              <a:defRPr>
                <a:solidFill>
                  <a:schemeClr val="tx1"/>
                </a:solidFill>
                <a:latin typeface="Arial" panose="020B0604020202020204" pitchFamily="34" charset="0"/>
              </a:defRPr>
            </a:lvl5pPr>
            <a:lvl6pPr marL="1357313" indent="-179388" defTabSz="801688" eaLnBrk="0" fontAlgn="base" hangingPunct="0">
              <a:spcBef>
                <a:spcPct val="0"/>
              </a:spcBef>
              <a:spcAft>
                <a:spcPct val="0"/>
              </a:spcAft>
              <a:defRPr>
                <a:solidFill>
                  <a:schemeClr val="tx1"/>
                </a:solidFill>
                <a:latin typeface="Arial" panose="020B0604020202020204" pitchFamily="34" charset="0"/>
              </a:defRPr>
            </a:lvl6pPr>
            <a:lvl7pPr marL="1814513" indent="-179388" defTabSz="801688" eaLnBrk="0" fontAlgn="base" hangingPunct="0">
              <a:spcBef>
                <a:spcPct val="0"/>
              </a:spcBef>
              <a:spcAft>
                <a:spcPct val="0"/>
              </a:spcAft>
              <a:defRPr>
                <a:solidFill>
                  <a:schemeClr val="tx1"/>
                </a:solidFill>
                <a:latin typeface="Arial" panose="020B0604020202020204" pitchFamily="34" charset="0"/>
              </a:defRPr>
            </a:lvl7pPr>
            <a:lvl8pPr marL="2271713" indent="-179388" defTabSz="801688" eaLnBrk="0" fontAlgn="base" hangingPunct="0">
              <a:spcBef>
                <a:spcPct val="0"/>
              </a:spcBef>
              <a:spcAft>
                <a:spcPct val="0"/>
              </a:spcAft>
              <a:defRPr>
                <a:solidFill>
                  <a:schemeClr val="tx1"/>
                </a:solidFill>
                <a:latin typeface="Arial" panose="020B0604020202020204" pitchFamily="34" charset="0"/>
              </a:defRPr>
            </a:lvl8pPr>
            <a:lvl9pPr marL="2728913" indent="-179388"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i="1" u="sng"/>
              <a:t>Exemple</a:t>
            </a:r>
            <a:r>
              <a:rPr lang="fr-FR" altLang="fr-FR" sz="1600"/>
              <a:t> : on souhaite créer deux variables : "cotis" (le montant de la cotisation au club</a:t>
            </a:r>
          </a:p>
          <a:p>
            <a:pPr eaLnBrk="1" hangingPunct="1"/>
            <a:r>
              <a:rPr lang="fr-FR" altLang="fr-FR" sz="1600"/>
              <a:t>sportif) et "points" (le nombre de points de fidélité accordés). La cotisation et le nombre de points sont fonction de l’âge de l’individu. Pour les jeunes de plus de 12 ans, la cotisation est de 100 et on leur accorde 30 points, pour les autres la cotisation est de 80 et on leur accorde dix points.</a:t>
            </a:r>
          </a:p>
          <a:p>
            <a:pPr eaLnBrk="1" hangingPunct="1"/>
            <a:r>
              <a:rPr lang="fr-FR" altLang="fr-FR" sz="1400" i="1">
                <a:solidFill>
                  <a:schemeClr val="accent2"/>
                </a:solidFill>
              </a:rPr>
              <a:t>				Data club2 ; s et club ;</a:t>
            </a:r>
          </a:p>
          <a:p>
            <a:pPr eaLnBrk="1" hangingPunct="1"/>
            <a:r>
              <a:rPr lang="fr-FR" altLang="fr-FR" sz="1400" i="1">
                <a:solidFill>
                  <a:schemeClr val="accent2"/>
                </a:solidFill>
              </a:rPr>
              <a:t>				IF age&gt;12 then DO ;</a:t>
            </a:r>
          </a:p>
          <a:p>
            <a:pPr eaLnBrk="1" hangingPunct="1"/>
            <a:r>
              <a:rPr lang="fr-FR" altLang="fr-FR" sz="1400" i="1">
                <a:solidFill>
                  <a:schemeClr val="accent2"/>
                </a:solidFill>
              </a:rPr>
              <a:t>				Cotis=100;</a:t>
            </a:r>
          </a:p>
          <a:p>
            <a:pPr eaLnBrk="1" hangingPunct="1"/>
            <a:r>
              <a:rPr lang="fr-FR" altLang="fr-FR" sz="1400" i="1">
                <a:solidFill>
                  <a:schemeClr val="accent2"/>
                </a:solidFill>
              </a:rPr>
              <a:t>				Points=30;</a:t>
            </a:r>
          </a:p>
          <a:p>
            <a:pPr eaLnBrk="1" hangingPunct="1"/>
            <a:r>
              <a:rPr lang="fr-FR" altLang="fr-FR" sz="1400" i="1">
                <a:solidFill>
                  <a:schemeClr val="accent2"/>
                </a:solidFill>
              </a:rPr>
              <a:t>				END ;</a:t>
            </a:r>
          </a:p>
          <a:p>
            <a:pPr eaLnBrk="1" hangingPunct="1"/>
            <a:r>
              <a:rPr lang="fr-FR" altLang="fr-FR" sz="1400" i="1">
                <a:solidFill>
                  <a:schemeClr val="accent2"/>
                </a:solidFill>
              </a:rPr>
              <a:t>				ELSE DO ;</a:t>
            </a:r>
          </a:p>
          <a:p>
            <a:pPr eaLnBrk="1" hangingPunct="1"/>
            <a:r>
              <a:rPr lang="fr-FR" altLang="fr-FR" sz="1400" i="1">
                <a:solidFill>
                  <a:schemeClr val="accent2"/>
                </a:solidFill>
              </a:rPr>
              <a:t>				Cotis=80 ;</a:t>
            </a:r>
          </a:p>
          <a:p>
            <a:pPr eaLnBrk="1" hangingPunct="1"/>
            <a:r>
              <a:rPr lang="fr-FR" altLang="fr-FR" sz="1400" i="1">
                <a:solidFill>
                  <a:schemeClr val="accent2"/>
                </a:solidFill>
              </a:rPr>
              <a:t>				Points=10;</a:t>
            </a:r>
          </a:p>
          <a:p>
            <a:pPr eaLnBrk="1" hangingPunct="1"/>
            <a:r>
              <a:rPr lang="fr-FR" altLang="fr-FR" sz="1400" i="1">
                <a:solidFill>
                  <a:schemeClr val="accent2"/>
                </a:solidFill>
              </a:rPr>
              <a:t>				END ;</a:t>
            </a:r>
          </a:p>
          <a:p>
            <a:pPr eaLnBrk="1" hangingPunct="1"/>
            <a:r>
              <a:rPr lang="fr-FR" altLang="fr-FR" sz="1400" i="1">
                <a:solidFill>
                  <a:schemeClr val="accent2"/>
                </a:solidFill>
              </a:rPr>
              <a:t>				run ;</a:t>
            </a:r>
          </a:p>
          <a:p>
            <a:pPr eaLnBrk="1" hangingPunct="1"/>
            <a:r>
              <a:rPr lang="fr-FR" altLang="fr-FR" sz="1600" b="1"/>
              <a:t>Syntaxe avec l’instruction conditionnelle </a:t>
            </a:r>
            <a:r>
              <a:rPr lang="fr-FR" altLang="fr-FR" sz="1600" b="1">
                <a:solidFill>
                  <a:schemeClr val="accent2"/>
                </a:solidFill>
              </a:rPr>
              <a:t>SELECT… END ; </a:t>
            </a:r>
          </a:p>
          <a:p>
            <a:pPr eaLnBrk="1" hangingPunct="1"/>
            <a:r>
              <a:rPr lang="fr-FR" altLang="fr-FR" sz="1600"/>
              <a:t>Ne pas oublier que chaque instruction </a:t>
            </a:r>
            <a:r>
              <a:rPr lang="fr-FR" altLang="fr-FR" sz="1600">
                <a:solidFill>
                  <a:schemeClr val="accent2"/>
                </a:solidFill>
              </a:rPr>
              <a:t>SELECT</a:t>
            </a:r>
            <a:r>
              <a:rPr lang="fr-FR" altLang="fr-FR" sz="1600"/>
              <a:t> se termine par un </a:t>
            </a:r>
            <a:r>
              <a:rPr lang="fr-FR" altLang="fr-FR" sz="1600">
                <a:solidFill>
                  <a:schemeClr val="accent2"/>
                </a:solidFill>
              </a:rPr>
              <a:t>END</a:t>
            </a:r>
            <a:r>
              <a:rPr lang="fr-FR" altLang="fr-FR" sz="1600"/>
              <a:t> ; ET que chaque bloc </a:t>
            </a:r>
            <a:r>
              <a:rPr lang="fr-FR" altLang="fr-FR" sz="1600">
                <a:solidFill>
                  <a:schemeClr val="accent2"/>
                </a:solidFill>
              </a:rPr>
              <a:t>DO</a:t>
            </a:r>
            <a:r>
              <a:rPr lang="fr-FR" altLang="fr-FR" sz="1600"/>
              <a:t> ; se termine également par un </a:t>
            </a:r>
            <a:r>
              <a:rPr lang="fr-FR" altLang="fr-FR" sz="1600">
                <a:solidFill>
                  <a:schemeClr val="accent2"/>
                </a:solidFill>
              </a:rPr>
              <a:t>END ;.</a:t>
            </a:r>
          </a:p>
          <a:p>
            <a:pPr lvl="4" eaLnBrk="1" hangingPunct="1"/>
            <a:r>
              <a:rPr lang="fr-FR" altLang="fr-FR" sz="1400" i="1">
                <a:solidFill>
                  <a:schemeClr val="accent2"/>
                </a:solidFill>
              </a:rPr>
              <a:t>				data newtable ;</a:t>
            </a:r>
          </a:p>
          <a:p>
            <a:pPr lvl="4" eaLnBrk="1" hangingPunct="1"/>
            <a:r>
              <a:rPr lang="fr-FR" altLang="fr-FR" sz="1400" i="1">
                <a:solidFill>
                  <a:schemeClr val="accent2"/>
                </a:solidFill>
              </a:rPr>
              <a:t>				set oldtable ;</a:t>
            </a:r>
          </a:p>
          <a:p>
            <a:pPr lvl="4" eaLnBrk="1" hangingPunct="1"/>
            <a:r>
              <a:rPr lang="fr-FR" altLang="fr-FR" sz="1400" i="1">
                <a:solidFill>
                  <a:schemeClr val="accent2"/>
                </a:solidFill>
              </a:rPr>
              <a:t>				SELECT (variable);</a:t>
            </a:r>
          </a:p>
          <a:p>
            <a:pPr lvl="4" eaLnBrk="1" hangingPunct="1"/>
            <a:r>
              <a:rPr lang="fr-FR" altLang="fr-FR" sz="1400" i="1">
                <a:solidFill>
                  <a:schemeClr val="accent2"/>
                </a:solidFill>
              </a:rPr>
              <a:t>				WHEN (modalité1) DO ;</a:t>
            </a:r>
          </a:p>
          <a:p>
            <a:pPr lvl="4" eaLnBrk="1" hangingPunct="1"/>
            <a:r>
              <a:rPr lang="fr-FR" altLang="fr-FR" sz="1400" i="1">
                <a:solidFill>
                  <a:schemeClr val="accent2"/>
                </a:solidFill>
              </a:rPr>
              <a:t>				instruction1 ;</a:t>
            </a:r>
          </a:p>
          <a:p>
            <a:pPr lvl="4" eaLnBrk="1" hangingPunct="1"/>
            <a:r>
              <a:rPr lang="fr-FR" altLang="fr-FR" sz="1400" i="1">
                <a:solidFill>
                  <a:schemeClr val="accent2"/>
                </a:solidFill>
              </a:rPr>
              <a:t>				instruction2 ;</a:t>
            </a:r>
          </a:p>
          <a:p>
            <a:pPr lvl="4" eaLnBrk="1" hangingPunct="1"/>
            <a:r>
              <a:rPr lang="fr-FR" altLang="fr-FR" sz="1400" i="1">
                <a:solidFill>
                  <a:schemeClr val="accent2"/>
                </a:solidFill>
              </a:rPr>
              <a:t>				END ;</a:t>
            </a:r>
          </a:p>
          <a:p>
            <a:pPr lvl="4" eaLnBrk="1" hangingPunct="1"/>
            <a:r>
              <a:rPr lang="fr-FR" altLang="fr-FR" sz="1400" i="1">
                <a:solidFill>
                  <a:schemeClr val="accent2"/>
                </a:solidFill>
              </a:rPr>
              <a:t>				WHEN (modalité2) instruction3;</a:t>
            </a:r>
          </a:p>
          <a:p>
            <a:pPr lvl="4" eaLnBrk="1" hangingPunct="1"/>
            <a:r>
              <a:rPr lang="fr-FR" altLang="fr-FR" sz="1400" i="1">
                <a:solidFill>
                  <a:schemeClr val="accent2"/>
                </a:solidFill>
              </a:rPr>
              <a:t>				OTHERWISE instruction4 ;</a:t>
            </a:r>
          </a:p>
          <a:p>
            <a:pPr lvl="4" eaLnBrk="1" hangingPunct="1"/>
            <a:r>
              <a:rPr lang="fr-FR" altLang="fr-FR" sz="1400" i="1">
                <a:solidFill>
                  <a:schemeClr val="accent2"/>
                </a:solidFill>
              </a:rPr>
              <a:t>				END ;</a:t>
            </a:r>
          </a:p>
          <a:p>
            <a:pPr lvl="4" eaLnBrk="1" hangingPunct="1"/>
            <a:r>
              <a:rPr lang="fr-FR" altLang="fr-FR" sz="1400" i="1">
                <a:solidFill>
                  <a:schemeClr val="accent2"/>
                </a:solidFill>
              </a:rPr>
              <a:t>				run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(10/11)</a:t>
            </a:r>
          </a:p>
        </p:txBody>
      </p:sp>
      <p:sp>
        <p:nvSpPr>
          <p:cNvPr id="11267" name="Rectangle 3"/>
          <p:cNvSpPr>
            <a:spLocks noChangeArrowheads="1"/>
          </p:cNvSpPr>
          <p:nvPr/>
        </p:nvSpPr>
        <p:spPr bwMode="auto">
          <a:xfrm>
            <a:off x="0" y="620713"/>
            <a:ext cx="9144000" cy="594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L’instruction WHERE:</a:t>
            </a:r>
          </a:p>
          <a:p>
            <a:pPr eaLnBrk="1" hangingPunct="1"/>
            <a:r>
              <a:rPr lang="fr-FR" altLang="fr-FR" sz="1600"/>
              <a:t>Contrairement à l’instruction </a:t>
            </a:r>
            <a:r>
              <a:rPr lang="fr-FR" altLang="fr-FR" sz="1600" i="1">
                <a:solidFill>
                  <a:schemeClr val="accent2"/>
                </a:solidFill>
              </a:rPr>
              <a:t>IF</a:t>
            </a:r>
            <a:r>
              <a:rPr lang="fr-FR" altLang="fr-FR" sz="1600"/>
              <a:t> qui ne peut s’employer que dans une étape DATA, l’instruction WHERE s’utilise aussi bien dans une étape DATA que dans une étape </a:t>
            </a:r>
            <a:r>
              <a:rPr lang="fr-FR" altLang="fr-FR" sz="1600">
                <a:solidFill>
                  <a:schemeClr val="accent2"/>
                </a:solidFill>
              </a:rPr>
              <a:t>PROC</a:t>
            </a:r>
            <a:r>
              <a:rPr lang="fr-FR" altLang="fr-FR" sz="1600"/>
              <a:t>.</a:t>
            </a:r>
          </a:p>
          <a:p>
            <a:pPr eaLnBrk="1" hangingPunct="1"/>
            <a:r>
              <a:rPr lang="fr-FR" altLang="fr-FR" sz="1600"/>
              <a:t>La syntaxe de l’instruction </a:t>
            </a:r>
            <a:r>
              <a:rPr lang="fr-FR" altLang="fr-FR" sz="1600" i="1">
                <a:solidFill>
                  <a:schemeClr val="accent2"/>
                </a:solidFill>
              </a:rPr>
              <a:t>WHERE</a:t>
            </a:r>
            <a:r>
              <a:rPr lang="fr-FR" altLang="fr-FR" sz="1600"/>
              <a:t> est la suivante : </a:t>
            </a:r>
            <a:r>
              <a:rPr lang="fr-FR" altLang="fr-FR" sz="1600">
                <a:solidFill>
                  <a:schemeClr val="accent2"/>
                </a:solidFill>
              </a:rPr>
              <a:t>where condition</a:t>
            </a:r>
            <a:r>
              <a:rPr lang="fr-FR" altLang="fr-FR" sz="1600"/>
              <a:t> ;</a:t>
            </a:r>
          </a:p>
          <a:p>
            <a:pPr eaLnBrk="1" hangingPunct="1"/>
            <a:endParaRPr lang="fr-FR" altLang="fr-FR" sz="1600"/>
          </a:p>
          <a:p>
            <a:pPr eaLnBrk="1" hangingPunct="1"/>
            <a:r>
              <a:rPr lang="fr-FR" altLang="fr-FR" sz="1600"/>
              <a:t>Contrairement à l’instruction IF dans laquelle SAS parcourt chaque ligne de la base pour</a:t>
            </a:r>
          </a:p>
          <a:p>
            <a:pPr eaLnBrk="1" hangingPunct="1"/>
            <a:r>
              <a:rPr lang="fr-FR" altLang="fr-FR" sz="1600"/>
              <a:t>sélectionner les observations demandées, l’instruction where sélectionne dès la lecture de la</a:t>
            </a:r>
          </a:p>
          <a:p>
            <a:pPr eaLnBrk="1" hangingPunct="1"/>
            <a:r>
              <a:rPr lang="fr-FR" altLang="fr-FR" sz="1600"/>
              <a:t>table les observations remplissant les conditions. Lorsqu’on exploite de grosses bases de</a:t>
            </a:r>
          </a:p>
          <a:p>
            <a:pPr eaLnBrk="1" hangingPunct="1"/>
            <a:r>
              <a:rPr lang="fr-FR" altLang="fr-FR" sz="1600"/>
              <a:t>données cela permet un gain de temps lors de la réalisation de l’instruction.</a:t>
            </a:r>
          </a:p>
          <a:p>
            <a:pPr eaLnBrk="1" hangingPunct="1"/>
            <a:r>
              <a:rPr lang="fr-FR" altLang="fr-FR" sz="1600" i="1" u="sng"/>
              <a:t>Exemples</a:t>
            </a:r>
          </a:p>
          <a:p>
            <a:pPr eaLnBrk="1" hangingPunct="1"/>
            <a:r>
              <a:rPr lang="fr-FR" altLang="fr-FR" sz="1400" i="1">
                <a:solidFill>
                  <a:schemeClr val="accent2"/>
                </a:solidFill>
              </a:rPr>
              <a:t>				proc freq data=club ;</a:t>
            </a:r>
          </a:p>
          <a:p>
            <a:pPr eaLnBrk="1" hangingPunct="1"/>
            <a:r>
              <a:rPr lang="fr-FR" altLang="fr-FR" sz="1400" i="1">
                <a:solidFill>
                  <a:schemeClr val="accent2"/>
                </a:solidFill>
              </a:rPr>
              <a:t>				where sexe=‘H’ and activite=‘natation’;</a:t>
            </a:r>
          </a:p>
          <a:p>
            <a:pPr eaLnBrk="1" hangingPunct="1"/>
            <a:r>
              <a:rPr lang="fr-FR" altLang="fr-FR" sz="1400" i="1">
                <a:solidFill>
                  <a:schemeClr val="accent2"/>
                </a:solidFill>
              </a:rPr>
              <a:t>				table age ;</a:t>
            </a:r>
          </a:p>
          <a:p>
            <a:pPr eaLnBrk="1" hangingPunct="1"/>
            <a:r>
              <a:rPr lang="fr-FR" altLang="fr-FR" sz="1400" i="1">
                <a:solidFill>
                  <a:schemeClr val="accent2"/>
                </a:solidFill>
              </a:rPr>
              <a:t>				run ;</a:t>
            </a:r>
          </a:p>
          <a:p>
            <a:pPr eaLnBrk="1" hangingPunct="1"/>
            <a:r>
              <a:rPr lang="fr-FR" altLang="fr-FR" sz="1600"/>
              <a:t>Dans l’exemple précédent, on effectue un dénombrement de la variable "age" mais grâce à</a:t>
            </a:r>
          </a:p>
          <a:p>
            <a:pPr eaLnBrk="1" hangingPunct="1"/>
            <a:r>
              <a:rPr lang="fr-FR" altLang="fr-FR" sz="1600"/>
              <a:t>l’instruction </a:t>
            </a:r>
            <a:r>
              <a:rPr lang="fr-FR" altLang="fr-FR" sz="1600" i="1">
                <a:solidFill>
                  <a:schemeClr val="accent2"/>
                </a:solidFill>
              </a:rPr>
              <a:t>where</a:t>
            </a:r>
            <a:r>
              <a:rPr lang="fr-FR" altLang="fr-FR" sz="1600"/>
              <a:t> on a au préalable filtré la population, en ne conservant que les hommes</a:t>
            </a:r>
          </a:p>
          <a:p>
            <a:pPr eaLnBrk="1" hangingPunct="1"/>
            <a:r>
              <a:rPr lang="fr-FR" altLang="fr-FR" sz="1600"/>
              <a:t>qui pratiquent la natation. L’output donnera donc la distribution de l’âge pour les nageurs</a:t>
            </a:r>
          </a:p>
          <a:p>
            <a:pPr eaLnBrk="1" hangingPunct="1"/>
            <a:r>
              <a:rPr lang="fr-FR" altLang="fr-FR" sz="1600"/>
              <a:t>hommes (et seulement eux).</a:t>
            </a:r>
          </a:p>
          <a:p>
            <a:pPr eaLnBrk="1" hangingPunct="1"/>
            <a:r>
              <a:rPr lang="fr-FR" altLang="fr-FR" sz="1400" i="1">
                <a:solidFill>
                  <a:schemeClr val="accent2"/>
                </a:solidFill>
              </a:rPr>
              <a:t>				Data junior ;</a:t>
            </a:r>
          </a:p>
          <a:p>
            <a:pPr eaLnBrk="1" hangingPunct="1"/>
            <a:r>
              <a:rPr lang="fr-FR" altLang="fr-FR" sz="1400" i="1">
                <a:solidFill>
                  <a:schemeClr val="accent2"/>
                </a:solidFill>
              </a:rPr>
              <a:t>				set club ;</a:t>
            </a:r>
          </a:p>
          <a:p>
            <a:pPr eaLnBrk="1" hangingPunct="1"/>
            <a:r>
              <a:rPr lang="fr-FR" altLang="fr-FR" sz="1400" i="1">
                <a:solidFill>
                  <a:schemeClr val="accent2"/>
                </a:solidFill>
              </a:rPr>
              <a:t>				where age&lt;12 ;</a:t>
            </a:r>
          </a:p>
          <a:p>
            <a:pPr eaLnBrk="1" hangingPunct="1"/>
            <a:r>
              <a:rPr lang="fr-FR" altLang="fr-FR" sz="1400" i="1">
                <a:solidFill>
                  <a:schemeClr val="accent2"/>
                </a:solidFill>
              </a:rPr>
              <a:t>				run;</a:t>
            </a:r>
          </a:p>
          <a:p>
            <a:pPr eaLnBrk="1" hangingPunct="1"/>
            <a:r>
              <a:rPr lang="fr-FR" altLang="fr-FR" sz="1600"/>
              <a:t>Dans cet exemple, on crée une base "junior" qui ne contient que les enfants ayant strictement</a:t>
            </a:r>
          </a:p>
          <a:p>
            <a:pPr eaLnBrk="1" hangingPunct="1"/>
            <a:r>
              <a:rPr lang="fr-FR" altLang="fr-FR" sz="1600"/>
              <a:t>moins de 12 ans.</a:t>
            </a:r>
          </a:p>
          <a:p>
            <a:pPr eaLnBrk="1" hangingPunct="1"/>
            <a:r>
              <a:rPr lang="fr-FR" altLang="fr-FR" sz="1600"/>
              <a:t>Remarque : ici, « </a:t>
            </a:r>
            <a:r>
              <a:rPr lang="fr-FR" altLang="fr-FR" sz="1600" i="1">
                <a:solidFill>
                  <a:schemeClr val="accent2"/>
                </a:solidFill>
              </a:rPr>
              <a:t>where age&lt;12</a:t>
            </a:r>
            <a:r>
              <a:rPr lang="fr-FR" altLang="fr-FR" sz="1600"/>
              <a:t> » est équivalent à « </a:t>
            </a:r>
            <a:r>
              <a:rPr lang="fr-FR" altLang="fr-FR" sz="1600" i="1">
                <a:solidFill>
                  <a:schemeClr val="accent2"/>
                </a:solidFill>
              </a:rPr>
              <a:t>if age&lt;12</a:t>
            </a:r>
            <a:r>
              <a:rPr lang="fr-FR" altLang="fr-FR" sz="1600"/>
              <a:t> »</a:t>
            </a:r>
            <a:endParaRPr lang="fr-FR" altLang="fr-FR" sz="1600" b="1"/>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Les fonctions conditionnelles et logiques (11/11)</a:t>
            </a:r>
          </a:p>
        </p:txBody>
      </p:sp>
      <p:sp>
        <p:nvSpPr>
          <p:cNvPr id="12291" name="Rectangle 3"/>
          <p:cNvSpPr>
            <a:spLocks noChangeArrowheads="1"/>
          </p:cNvSpPr>
          <p:nvPr/>
        </p:nvSpPr>
        <p:spPr bwMode="auto">
          <a:xfrm>
            <a:off x="0" y="620713"/>
            <a:ext cx="9144000" cy="473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801688">
              <a:defRPr>
                <a:solidFill>
                  <a:schemeClr val="tx1"/>
                </a:solidFill>
                <a:latin typeface="Arial" panose="020B0604020202020204" pitchFamily="34" charset="0"/>
              </a:defRPr>
            </a:lvl1pPr>
            <a:lvl2pPr marL="633413" indent="-182563" defTabSz="801688">
              <a:defRPr>
                <a:solidFill>
                  <a:schemeClr val="tx1"/>
                </a:solidFill>
                <a:latin typeface="Arial" panose="020B0604020202020204" pitchFamily="34" charset="0"/>
              </a:defRPr>
            </a:lvl2pPr>
            <a:lvl3pPr marL="1422400" indent="-342900" defTabSz="801688">
              <a:defRPr>
                <a:solidFill>
                  <a:schemeClr val="tx1"/>
                </a:solidFill>
                <a:latin typeface="Arial" panose="020B0604020202020204" pitchFamily="34" charset="0"/>
              </a:defRPr>
            </a:lvl3pPr>
            <a:lvl4pPr marL="1944688" indent="-342900" defTabSz="801688">
              <a:defRPr>
                <a:solidFill>
                  <a:schemeClr val="tx1"/>
                </a:solidFill>
                <a:latin typeface="Arial" panose="020B0604020202020204" pitchFamily="34" charset="0"/>
              </a:defRPr>
            </a:lvl4pPr>
            <a:lvl5pPr marL="2466975" indent="-342900" defTabSz="801688">
              <a:defRPr>
                <a:solidFill>
                  <a:schemeClr val="tx1"/>
                </a:solidFill>
                <a:latin typeface="Arial" panose="020B0604020202020204" pitchFamily="34" charset="0"/>
              </a:defRPr>
            </a:lvl5pPr>
            <a:lvl6pPr marL="2924175" indent="-342900" defTabSz="801688" eaLnBrk="0" fontAlgn="base" hangingPunct="0">
              <a:spcBef>
                <a:spcPct val="0"/>
              </a:spcBef>
              <a:spcAft>
                <a:spcPct val="0"/>
              </a:spcAft>
              <a:defRPr>
                <a:solidFill>
                  <a:schemeClr val="tx1"/>
                </a:solidFill>
                <a:latin typeface="Arial" panose="020B0604020202020204" pitchFamily="34" charset="0"/>
              </a:defRPr>
            </a:lvl6pPr>
            <a:lvl7pPr marL="3381375" indent="-342900" defTabSz="801688" eaLnBrk="0" fontAlgn="base" hangingPunct="0">
              <a:spcBef>
                <a:spcPct val="0"/>
              </a:spcBef>
              <a:spcAft>
                <a:spcPct val="0"/>
              </a:spcAft>
              <a:defRPr>
                <a:solidFill>
                  <a:schemeClr val="tx1"/>
                </a:solidFill>
                <a:latin typeface="Arial" panose="020B0604020202020204" pitchFamily="34" charset="0"/>
              </a:defRPr>
            </a:lvl7pPr>
            <a:lvl8pPr marL="3838575" indent="-342900" defTabSz="801688" eaLnBrk="0" fontAlgn="base" hangingPunct="0">
              <a:spcBef>
                <a:spcPct val="0"/>
              </a:spcBef>
              <a:spcAft>
                <a:spcPct val="0"/>
              </a:spcAft>
              <a:defRPr>
                <a:solidFill>
                  <a:schemeClr val="tx1"/>
                </a:solidFill>
                <a:latin typeface="Arial" panose="020B0604020202020204" pitchFamily="34" charset="0"/>
              </a:defRPr>
            </a:lvl8pPr>
            <a:lvl9pPr marL="4295775" indent="-342900" defTabSz="801688"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i="1"/>
              <a:t>Remarques</a:t>
            </a:r>
          </a:p>
          <a:p>
            <a:pPr lvl="1" eaLnBrk="1" hangingPunct="1">
              <a:buFontTx/>
              <a:buChar char="•"/>
            </a:pPr>
            <a:r>
              <a:rPr lang="fr-FR" altLang="fr-FR" sz="1600"/>
              <a:t> Tous les opérateurs vus avec l’instruction </a:t>
            </a:r>
            <a:r>
              <a:rPr lang="fr-FR" altLang="fr-FR" sz="1600">
                <a:solidFill>
                  <a:schemeClr val="accent2"/>
                </a:solidFill>
              </a:rPr>
              <a:t>IF</a:t>
            </a:r>
            <a:r>
              <a:rPr lang="fr-FR" altLang="fr-FR" sz="1600"/>
              <a:t> restent valables.</a:t>
            </a:r>
          </a:p>
          <a:p>
            <a:pPr lvl="1" eaLnBrk="1" hangingPunct="1">
              <a:buFontTx/>
              <a:buChar char="•"/>
            </a:pPr>
            <a:r>
              <a:rPr lang="fr-FR" altLang="fr-FR" sz="1600"/>
              <a:t> L’instruction </a:t>
            </a:r>
            <a:r>
              <a:rPr lang="fr-FR" altLang="fr-FR" sz="1600">
                <a:solidFill>
                  <a:schemeClr val="accent2"/>
                </a:solidFill>
              </a:rPr>
              <a:t>WHERE</a:t>
            </a:r>
            <a:r>
              <a:rPr lang="fr-FR" altLang="fr-FR" sz="1600"/>
              <a:t> ne peut pas porter sur une variable calculée</a:t>
            </a:r>
          </a:p>
          <a:p>
            <a:pPr lvl="1" eaLnBrk="1" hangingPunct="1">
              <a:buFontTx/>
              <a:buChar char="•"/>
            </a:pPr>
            <a:r>
              <a:rPr lang="fr-FR" altLang="fr-FR" sz="1600"/>
              <a:t> Il ne peut y avoir qu’un seul « </a:t>
            </a:r>
            <a:r>
              <a:rPr lang="fr-FR" altLang="fr-FR" sz="1600">
                <a:solidFill>
                  <a:schemeClr val="accent2"/>
                </a:solidFill>
              </a:rPr>
              <a:t>WHERE</a:t>
            </a:r>
            <a:r>
              <a:rPr lang="fr-FR" altLang="fr-FR" sz="1600"/>
              <a:t> » par étape DATA</a:t>
            </a:r>
          </a:p>
          <a:p>
            <a:pPr lvl="1" eaLnBrk="1" hangingPunct="1">
              <a:buFontTx/>
              <a:buChar char="•"/>
            </a:pPr>
            <a:r>
              <a:rPr lang="fr-FR" altLang="fr-FR" sz="1600"/>
              <a:t> </a:t>
            </a:r>
            <a:r>
              <a:rPr lang="fr-FR" altLang="fr-FR" sz="1600">
                <a:solidFill>
                  <a:schemeClr val="accent2"/>
                </a:solidFill>
              </a:rPr>
              <a:t>Where</a:t>
            </a:r>
            <a:r>
              <a:rPr lang="fr-FR" altLang="fr-FR" sz="1600"/>
              <a:t> n’est suivi d’aucune instruction (where… then… N'EXISTE PAS)</a:t>
            </a:r>
          </a:p>
          <a:p>
            <a:pPr eaLnBrk="1" hangingPunct="1"/>
            <a:endParaRPr lang="fr-FR" altLang="fr-FR" sz="1600"/>
          </a:p>
          <a:p>
            <a:pPr eaLnBrk="1" hangingPunct="1"/>
            <a:r>
              <a:rPr lang="fr-FR" altLang="fr-FR" sz="1600" b="1" i="1"/>
              <a:t>Particularité : "where" mis en option</a:t>
            </a:r>
          </a:p>
          <a:p>
            <a:pPr eaLnBrk="1" hangingPunct="1"/>
            <a:r>
              <a:rPr lang="fr-FR" altLang="fr-FR" sz="1600"/>
              <a:t>L’instruction « where » peut être utilisée comme une option de la table. Cela permet un gain de temps lors de l’exploitation de bases de données importantes.</a:t>
            </a:r>
          </a:p>
          <a:p>
            <a:pPr eaLnBrk="1" hangingPunct="1"/>
            <a:endParaRPr lang="fr-FR" altLang="fr-FR" sz="800"/>
          </a:p>
          <a:p>
            <a:pPr eaLnBrk="1" hangingPunct="1"/>
            <a:r>
              <a:rPr lang="fr-FR" altLang="fr-FR" sz="1600"/>
              <a:t>La syntaxe générale sera la suivante : </a:t>
            </a:r>
            <a:r>
              <a:rPr lang="fr-FR" altLang="fr-FR" sz="1600">
                <a:solidFill>
                  <a:schemeClr val="accent2"/>
                </a:solidFill>
              </a:rPr>
              <a:t>(where = (condition)) ;</a:t>
            </a:r>
          </a:p>
          <a:p>
            <a:pPr eaLnBrk="1" hangingPunct="1"/>
            <a:r>
              <a:rPr lang="fr-FR" altLang="fr-FR" sz="1600"/>
              <a:t>Cette instruction peut s’utiliser au moment de l’écriture de la nouvelle table, c’est-à-dire sur la</a:t>
            </a:r>
          </a:p>
          <a:p>
            <a:pPr eaLnBrk="1" hangingPunct="1"/>
            <a:r>
              <a:rPr lang="fr-FR" altLang="fr-FR" sz="1600"/>
              <a:t>ligne commençant par le mot clé DATA ou au moment de la lecture de la table initiale, c’est-à-dire sur la ligne débutant par </a:t>
            </a:r>
            <a:r>
              <a:rPr lang="fr-FR" altLang="fr-FR" sz="1600">
                <a:solidFill>
                  <a:schemeClr val="accent2"/>
                </a:solidFill>
              </a:rPr>
              <a:t>SET</a:t>
            </a:r>
            <a:r>
              <a:rPr lang="fr-FR" altLang="fr-FR" sz="1600"/>
              <a:t>.</a:t>
            </a:r>
          </a:p>
          <a:p>
            <a:pPr eaLnBrk="1" hangingPunct="1"/>
            <a:endParaRPr lang="fr-FR" altLang="fr-FR" sz="1600"/>
          </a:p>
          <a:p>
            <a:pPr eaLnBrk="1" hangingPunct="1"/>
            <a:r>
              <a:rPr lang="fr-FR" altLang="fr-FR" sz="1600" i="1" u="sng"/>
              <a:t>Exemples :</a:t>
            </a:r>
          </a:p>
          <a:p>
            <a:pPr eaLnBrk="1" hangingPunct="1"/>
            <a:r>
              <a:rPr lang="fr-FR" altLang="fr-FR" sz="1400" i="1">
                <a:solidFill>
                  <a:schemeClr val="accent2"/>
                </a:solidFill>
              </a:rPr>
              <a:t>				data hommes ;</a:t>
            </a:r>
          </a:p>
          <a:p>
            <a:pPr eaLnBrk="1" hangingPunct="1"/>
            <a:r>
              <a:rPr lang="fr-FR" altLang="fr-FR" sz="1400" i="1">
                <a:solidFill>
                  <a:schemeClr val="accent2"/>
                </a:solidFill>
              </a:rPr>
              <a:t>				set club (where=(sexe='H')) ;</a:t>
            </a:r>
          </a:p>
          <a:p>
            <a:pPr eaLnBrk="1" hangingPunct="1"/>
            <a:r>
              <a:rPr lang="fr-FR" altLang="fr-FR" sz="1400" i="1">
                <a:solidFill>
                  <a:schemeClr val="accent2"/>
                </a:solidFill>
              </a:rPr>
              <a:t>				run;</a:t>
            </a:r>
          </a:p>
          <a:p>
            <a:pPr eaLnBrk="1" hangingPunct="1"/>
            <a:endParaRPr lang="fr-FR" altLang="fr-FR" sz="1400" i="1">
              <a:solidFill>
                <a:schemeClr val="accent2"/>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2439</Words>
  <Application>Microsoft Office PowerPoint</Application>
  <PresentationFormat>Affichage à l'écran (4:3)</PresentationFormat>
  <Paragraphs>231</Paragraphs>
  <Slides>11</Slides>
  <Notes>0</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11</vt:i4>
      </vt:variant>
    </vt:vector>
  </HeadingPairs>
  <TitlesOfParts>
    <vt:vector size="13" baseType="lpstr">
      <vt:lpstr>Arial</vt:lpstr>
      <vt:lpstr>Modèle par défaut</vt:lpstr>
      <vt:lpstr>Les fonctions conditionnelles et logiques (1/11)</vt:lpstr>
      <vt:lpstr>Les fonctions conditionnelles et logiques (2/11)</vt:lpstr>
      <vt:lpstr>Les fonctions conditionnelles et logiques (3/11)</vt:lpstr>
      <vt:lpstr>Les fonctions conditionnelles et logiques (4/11)</vt:lpstr>
      <vt:lpstr>Les fonctions conditionnelles et logiques (5/11)</vt:lpstr>
      <vt:lpstr>Les fonctions conditionnelles et logiques (6/11)</vt:lpstr>
      <vt:lpstr>Les fonctions conditionnelles et logiques (7/11)</vt:lpstr>
      <vt:lpstr>Les fonctions conditionnelles et logiques (8/11)</vt:lpstr>
      <vt:lpstr>Les fonctions conditionnelles et logiques (9/11)</vt:lpstr>
      <vt:lpstr>Les fonctions conditionnelles et logiques (10/11)</vt:lpstr>
      <vt:lpstr>Les fonctions conditionnelles et logiques (11/11)</vt:lpstr>
    </vt:vector>
  </TitlesOfParts>
  <Company>perso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fonctions conditionnelles et logiques (1/11)</dc:title>
  <dc:creator>Nicolas CABAJ</dc:creator>
  <cp:lastModifiedBy>Nicolas CABAJ</cp:lastModifiedBy>
  <cp:revision>19</cp:revision>
  <dcterms:created xsi:type="dcterms:W3CDTF">2008-09-06T14:53:47Z</dcterms:created>
  <dcterms:modified xsi:type="dcterms:W3CDTF">2025-01-07T10:51:14Z</dcterms:modified>
</cp:coreProperties>
</file>